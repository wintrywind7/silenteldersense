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9"/>
  </p:notesMasterIdLst>
  <p:sldIdLst>
    <p:sldId id="256" r:id="rId3"/>
    <p:sldId id="257" r:id="rId4"/>
    <p:sldId id="258" r:id="rId5"/>
    <p:sldId id="259" r:id="rId6"/>
    <p:sldId id="260" r:id="rId7"/>
    <p:sldId id="261" r:id="rId8"/>
    <p:sldId id="262" r:id="rId9"/>
    <p:sldId id="263" r:id="rId10"/>
    <p:sldId id="270" r:id="rId11"/>
    <p:sldId id="266" r:id="rId12"/>
    <p:sldId id="271" r:id="rId13"/>
    <p:sldId id="272" r:id="rId14"/>
    <p:sldId id="264" r:id="rId15"/>
    <p:sldId id="265" r:id="rId16"/>
    <p:sldId id="268" r:id="rId17"/>
    <p:sldId id="269"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84" y="2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31.03.2026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介绍我们的项目——面向独居老人的隐私保护型异常行为识别与应急响应系统。这是一个基于深度学习与规则引擎融合的智能监护解决方案，旨在为独居老人提供更安全、更有尊严的生活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八个部分，首先我们将探讨项目的背景与当前面临的痛点，接着介绍系统的整体情况，然后深入解析技术架构和核心功能，重点阐述我们的隐私保护机制，再总结系统的功能与创新优势，并展示实际的演示效果，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一下项目的背景。随着老龄化社会的到来，独居老人的安全问题日益突出。据统计，我国60岁以上老年人口已达2.8亿，其中独居老人超过1.2亿。这是一个非常庞大的群体，他们面临着跌倒、突发疾病等严峻风险。</a:t>
            </a:r>
          </a:p>
          <a:p>
            <a:pPr indent="0" algn="l">
              <a:lnSpc>
                <a:spcPct val="100000"/>
              </a:lnSpc>
            </a:pPr>
            <a:r>
              <a:rPr lang="en-US" sz="1400" b="0" i="0" u="none" strike="noStrike">
                <a:solidFill>
                  <a:srgbClr val="000000"/>
                </a:solidFill>
              </a:rPr>
              <a:t>然而，现有的监护方案存在诸多痛点：</a:t>
            </a:r>
          </a:p>
          <a:p>
            <a:pPr indent="0" algn="l">
              <a:lnSpc>
                <a:spcPct val="100000"/>
              </a:lnSpc>
            </a:pPr>
            <a:r>
              <a:rPr lang="en-US" sz="1400" b="0" i="0" u="none" strike="noStrike">
                <a:solidFill>
                  <a:srgbClr val="000000"/>
                </a:solidFill>
              </a:rPr>
              <a:t>1. 传统的人工监护依赖护工巡查，无法做到24小时不间断，且成本高昂。</a:t>
            </a:r>
          </a:p>
          <a:p>
            <a:pPr indent="0" algn="l">
              <a:lnSpc>
                <a:spcPct val="100000"/>
              </a:lnSpc>
            </a:pPr>
            <a:r>
              <a:rPr lang="en-US" sz="1400" b="0" i="0" u="none" strike="noStrike">
                <a:solidFill>
                  <a:srgbClr val="000000"/>
                </a:solidFill>
              </a:rPr>
              <a:t>2. 普通视频监控虽然能看，但全天候录像严重侵犯了老人的隐私权，导致老人心理抵触。</a:t>
            </a:r>
          </a:p>
          <a:p>
            <a:pPr indent="0" algn="l">
              <a:lnSpc>
                <a:spcPct val="100000"/>
              </a:lnSpc>
            </a:pPr>
            <a:r>
              <a:rPr lang="en-US" sz="1400" b="0" i="0" u="none" strike="noStrike">
                <a:solidFill>
                  <a:srgbClr val="000000"/>
                </a:solidFill>
              </a:rPr>
              <a:t>3. 智能穿戴设备需要老人主动配合，依从性差，且续航和设备管理也是难题。</a:t>
            </a:r>
          </a:p>
          <a:p>
            <a:pPr indent="0" algn="l">
              <a:lnSpc>
                <a:spcPct val="100000"/>
              </a:lnSpc>
            </a:pPr>
            <a:r>
              <a:rPr lang="en-US" sz="1400" b="0" i="0" u="none" strike="noStrike">
                <a:solidFill>
                  <a:srgbClr val="000000"/>
                </a:solidFill>
              </a:rPr>
              <a:t>4. 现有的一些AI监测系统，往往存在误报率高、功能单一的问题。</a:t>
            </a:r>
          </a:p>
          <a:p>
            <a:pPr indent="0" algn="l">
              <a:lnSpc>
                <a:spcPct val="100000"/>
              </a:lnSpc>
            </a:pPr>
            <a:r>
              <a:rPr lang="en-US" sz="1400" b="0" i="0" u="none" strike="noStrike">
                <a:solidFill>
                  <a:srgbClr val="000000"/>
                </a:solidFill>
              </a:rPr>
              <a:t>因此，我们迫切需要一个能够兼顾安全与隐私的智能监护平台，这正是我们项目的核心目标。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针对独居老人监护的痛点，我们设计了这套智能监护系统。它定位为一个隐私保护型的异常行为识别与应急响应平台。</a:t>
            </a:r>
          </a:p>
          <a:p>
            <a:pPr indent="0" algn="l">
              <a:lnSpc>
                <a:spcPct val="100000"/>
              </a:lnSpc>
            </a:pPr>
            <a:r>
              <a:rPr lang="en-US" sz="1400" b="0" i="0" u="none" strike="noStrike">
                <a:solidFill>
                  <a:srgbClr val="000000"/>
                </a:solidFill>
              </a:rPr>
              <a:t>系统具备三大核心功能：精准的异常行为识别（如跌倒、静止检测）、四级风险分级管理以及完善的隐私保护机制。</a:t>
            </a:r>
          </a:p>
          <a:p>
            <a:pPr indent="0" algn="l">
              <a:lnSpc>
                <a:spcPct val="100000"/>
              </a:lnSpc>
            </a:pPr>
            <a:r>
              <a:rPr lang="en-US" sz="1400" b="0" i="0" u="none" strike="noStrike">
                <a:solidFill>
                  <a:srgbClr val="000000"/>
                </a:solidFill>
              </a:rPr>
              <a:t>同时，系统包含实时监控、事件看板等六大功能模块，具备非接触式、隐私优先、实时响应等特点，形成了一个完整的智能监护闭环。</a:t>
            </a:r>
          </a:p>
          <a:p>
            <a:pPr indent="0" algn="l">
              <a:lnSpc>
                <a:spcPct val="100000"/>
              </a:lnSpc>
            </a:pPr>
            <a:r>
              <a:rPr lang="en-US" sz="1400" b="0" i="0" u="none" strike="noStrike">
                <a:solidFill>
                  <a:srgbClr val="000000"/>
                </a:solidFill>
              </a:rPr>
              <a:t>右侧展示的是我们系统的异常事件监控看板界面，可以看到系统能清晰记录事件类型、风险等级和持续时间，便于管理人员快速处理。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技术架构上，我们采用了前后端分离的设计。后端基于Python的Quart异步框架，保证了高性能；前端使用Vue3构建了现代化的用户界面。AI模型方面，我们集成了YOLO11、MediaPipe等业界领先的算法，共同构建了高效的智能检测引擎。这张架构图清晰地展示了系统各模块之间的协作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详细看一下核心功能之一的跌倒检测。我们采用了轻量级的YOLO11模型进行实时检测，并设计了独特的判定逻辑：通过连续5帧确认来避免误报，同时根据持续时间来区分风险等级，确保既能及时发现危险，又不会频繁打扰用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另一个核心功能是长时间静止检测。我们通过分析目标在30秒窗口内的位移变化来判断是否处于异常静止状态。这项功能能够有效区分老人正常的休息和可能的突发疾病或跌倒情况，在保障安全的同时，最大程度地减少了误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考虑到夜间是意外高发时段，我们特别设计了夜间异常检测功能。系统会在夜间时段（22点到次日7点），对老人在非卧室区域的长时间静止行为进行重点关注，这背后的设计理念是识别“不合理的时间出现在不合理的地方”，从而为独居老人提供更全面的安全守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了解我们的系统之前，我们先简单回顾一下目标检测的基础概念。目标检测是计算机视觉领域的一项核心技术，它的任务不仅仅是识别出图片里有什么物体，更重要的是要精确地找到它们的位置。这个技术广泛应用在我们生活的方方面面，从安防监控到自动驾驶，都离不开它的支持。我们的跌倒检测功能，正是基于这项技术实现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详细解析跌倒检测系统的核心技术架构，它主要由三大模块构成。首先是检测模块，我们采用YOLO11模型实时识别人体姿态；其次是推理优化模块，通过ONNX轻量化部署，确保在普通设备上也能流畅运行；最后是误报抑制模块，通过多帧确认机制，有效过滤误检，提升系统的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在模型检测出目标后，我们还需要一个关键的后处理步骤，叫做非极大值抑制，也就是NMS。</a:t>
            </a:r>
          </a:p>
          <a:p>
            <a:pPr indent="0" algn="l">
              <a:lnSpc>
                <a:spcPct val="100000"/>
              </a:lnSpc>
            </a:pPr>
            <a:r>
              <a:rPr lang="en-US" sz="1400" b="0" i="0" u="none" strike="noStrike">
                <a:solidFill>
                  <a:srgbClr val="000000"/>
                </a:solidFill>
              </a:rPr>
              <a:t>简单来说，模型可能会对同一个目标预测出多个重叠的框，NMS的作用就是从中选出最准确的那一个，去掉其他冗余的框。</a:t>
            </a:r>
          </a:p>
          <a:p>
            <a:pPr indent="0" algn="l">
              <a:lnSpc>
                <a:spcPct val="100000"/>
              </a:lnSpc>
            </a:pPr>
            <a:r>
              <a:rPr lang="en-US" sz="1400" b="0" i="0" u="none" strike="noStrike">
                <a:solidFill>
                  <a:srgbClr val="000000"/>
                </a:solidFill>
              </a:rPr>
              <a:t>它的核心原理是：首先按置信度排序，保留最高分的框；然后计算其他框与这个框的重叠度（IoU），如果重叠度太高就抑制掉；最后重复这个过程。</a:t>
            </a:r>
          </a:p>
          <a:p>
            <a:pPr indent="0" algn="l">
              <a:lnSpc>
                <a:spcPct val="100000"/>
              </a:lnSpc>
            </a:pPr>
            <a:r>
              <a:rPr lang="en-US" sz="1400" b="0" i="0" u="none" strike="noStrike">
                <a:solidFill>
                  <a:srgbClr val="000000"/>
                </a:solidFill>
              </a:rPr>
              <a:t>这个步骤确保了我们最终看到的结果是清晰、准确的，避免了重复和混乱，是目前主流目标检测算法（如YOLO）不可或缺的一部分。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这些技术在我们的项目中是如何应用的呢？我们将YOLOv11模型作为跌倒检测的核心，它会输出人体的位置和姿态信息。为了适应居家环境的实时性要求，我们将模型转换为ONNX轻量化格式，确保在普通电脑上也能流畅运行。同时，我们还结合了连续帧确认的机制，只有连续多帧都检测到跌倒，系统才会判定为异常，这大大降低了误报率，让我们的系统更加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隐私保护是我们系统的重中之重。我们通过三大核心策略来解决隐私问题：首先，对视频中的人脸进行实时模糊处理；其次，遵循数据最小化原则，只保留必要的事件信息；最后，所有视频数据都在本地处理，不上传云端。这些措施确保了系统既安全又尊重用户隐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我们的系统具备六大核心功能，形成了完整的产品闭环。在技术上，我们有三大创新点，特别是隐私优先的设计和规则与机器学习的融合。这些共同构成了我们系统的五大技术优势，确保了系统的高效、准确和易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最后，对我们的项目进行总结。我们成功构建了一个功能完整、隐私安全的智能监护系统，在技术和应用层面都具有重要价值</a:t>
            </a:r>
            <a:r>
              <a:rPr lang="en-US" sz="1400" b="0" i="0" u="none" strike="noStrike" dirty="0">
                <a:solidFill>
                  <a:srgbClr val="000000"/>
                </a:solidFill>
              </a:rPr>
              <a:t>。</a:t>
            </a:r>
          </a:p>
          <a:p>
            <a:pPr indent="0" algn="l">
              <a:lnSpc>
                <a:spcPct val="100000"/>
              </a:lnSpc>
            </a:pPr>
            <a:r>
              <a:rPr lang="en-US" sz="1400" b="0" i="0" u="none" strike="noStrike" dirty="0" err="1">
                <a:solidFill>
                  <a:srgbClr val="000000"/>
                </a:solidFill>
              </a:rPr>
              <a:t>展望未来，我们计划在短期内完善功能，中期扩展更多异常行为识别，长期致力于构建一个智慧养老的生态系统，为更多老年人带来福祉</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我的汇报到此结束，感谢各位的聆听。接下来是问答环节，欢迎大家提问。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sv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3.jpe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 Id="rId9" Type="http://schemas.openxmlformats.org/officeDocument/2006/relationships/image" Target="../media/image17.sv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jpeg"/><Relationship Id="rId7" Type="http://schemas.openxmlformats.org/officeDocument/2006/relationships/image" Target="../media/image18.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17.svg"/><Relationship Id="rId10" Type="http://schemas.openxmlformats.org/officeDocument/2006/relationships/image" Target="../media/image21.svg"/><Relationship Id="rId4" Type="http://schemas.openxmlformats.org/officeDocument/2006/relationships/image" Target="../media/image5.svg"/><Relationship Id="rId9" Type="http://schemas.openxmlformats.org/officeDocument/2006/relationships/image" Target="../media/image20.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3.jpe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5.svg"/><Relationship Id="rId4"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30.svg"/><Relationship Id="rId4" Type="http://schemas.openxmlformats.org/officeDocument/2006/relationships/image" Target="../media/image29.sv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31.svg"/><Relationship Id="rId4" Type="http://schemas.openxmlformats.org/officeDocument/2006/relationships/image" Target="../media/image29.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4.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33.svg"/><Relationship Id="rId4" Type="http://schemas.openxmlformats.org/officeDocument/2006/relationships/image" Target="../media/image32.sv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26.svg"/><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3.svg"/><Relationship Id="rId5" Type="http://schemas.openxmlformats.org/officeDocument/2006/relationships/image" Target="../media/image35.svg"/><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26.svg"/><Relationship Id="rId4" Type="http://schemas.openxmlformats.org/officeDocument/2006/relationships/image" Target="../media/image36.svg"/></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jpeg"/><Relationship Id="rId7" Type="http://schemas.openxmlformats.org/officeDocument/2006/relationships/image" Target="../media/image39.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38.svg"/><Relationship Id="rId5" Type="http://schemas.openxmlformats.org/officeDocument/2006/relationships/image" Target="../media/image17.svg"/><Relationship Id="rId4" Type="http://schemas.openxmlformats.org/officeDocument/2006/relationships/image" Target="../media/image37.sv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40.svg"/><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3.jpeg"/><Relationship Id="rId7" Type="http://schemas.openxmlformats.org/officeDocument/2006/relationships/image" Target="../media/image44.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508000" y="1651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333333"/>
                </a:solidFill>
                <a:latin typeface="Noto Sans SC"/>
                <a:ea typeface="Noto Sans SC"/>
                <a:cs typeface="Noto Sans SC"/>
                <a:sym typeface="Noto Sans SC"/>
              </a:rPr>
              <a:t>面向独居老人的隐私保护型异常行为识别与应急响应系统</a:t>
            </a:r>
            <a:endParaRPr lang="en-US" sz="1100"/>
          </a:p>
        </p:txBody>
      </p:sp>
      <p:sp>
        <p:nvSpPr>
          <p:cNvPr id="4" name="AutoShape 4"/>
          <p:cNvSpPr/>
          <p:nvPr/>
        </p:nvSpPr>
        <p:spPr>
          <a:xfrm>
            <a:off x="508000" y="2413000"/>
            <a:ext cx="11176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555555"/>
                </a:solidFill>
                <a:latin typeface="Noto Sans SC"/>
                <a:ea typeface="Noto Sans SC"/>
                <a:cs typeface="Noto Sans SC"/>
                <a:sym typeface="Noto Sans SC"/>
              </a:rPr>
              <a:t>基于YOLO11深度学习与规则引擎融合的智能监护解决方案</a:t>
            </a:r>
            <a:endParaRPr lang="en-US" sz="1100"/>
          </a:p>
        </p:txBody>
      </p:sp>
      <p:sp>
        <p:nvSpPr>
          <p:cNvPr id="5" name="AutoShape 5"/>
          <p:cNvSpPr/>
          <p:nvPr/>
        </p:nvSpPr>
        <p:spPr>
          <a:xfrm>
            <a:off x="5715000" y="3111500"/>
            <a:ext cx="762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3556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计算机设计大赛人工智能实践赛参赛作品</a:t>
            </a:r>
            <a:endParaRPr lang="en-US" sz="1100"/>
          </a:p>
        </p:txBody>
      </p:sp>
      <p:sp>
        <p:nvSpPr>
          <p:cNvPr id="7" name="AutoShape 7"/>
          <p:cNvSpPr/>
          <p:nvPr/>
        </p:nvSpPr>
        <p:spPr>
          <a:xfrm>
            <a:off x="1016000" y="4064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dirty="0">
                <a:solidFill>
                  <a:srgbClr val="666666"/>
                </a:solidFill>
                <a:latin typeface="Noto Sans SC"/>
                <a:ea typeface="Noto Sans SC"/>
                <a:cs typeface="Noto Sans SC"/>
                <a:sym typeface="Noto Sans SC"/>
              </a:rPr>
              <a:t> </a:t>
            </a:r>
            <a:r>
              <a:rPr lang="zh-CN" altLang="en-US" sz="1600" b="0" i="0" u="none" strike="noStrike" dirty="0">
                <a:solidFill>
                  <a:srgbClr val="666666"/>
                </a:solidFill>
                <a:latin typeface="Noto Sans SC"/>
                <a:ea typeface="Noto Sans SC"/>
                <a:cs typeface="Noto Sans SC"/>
                <a:sym typeface="Noto Sans SC"/>
              </a:rPr>
              <a:t>汇报人：周卫兵</a:t>
            </a:r>
            <a:r>
              <a:rPr lang="en-US" altLang="zh-CN" sz="1600" dirty="0">
                <a:solidFill>
                  <a:srgbClr val="666666"/>
                </a:solidFill>
                <a:latin typeface="Noto Sans SC"/>
                <a:ea typeface="Noto Sans SC"/>
                <a:cs typeface="Noto Sans SC"/>
                <a:sym typeface="Noto Sans SC"/>
              </a:rPr>
              <a:t>	</a:t>
            </a:r>
            <a:r>
              <a:rPr lang="zh-CN" altLang="en-US" sz="1600" dirty="0">
                <a:solidFill>
                  <a:srgbClr val="666666"/>
                </a:solidFill>
                <a:latin typeface="Noto Sans SC"/>
                <a:ea typeface="Noto Sans SC"/>
                <a:cs typeface="Noto Sans SC"/>
                <a:sym typeface="Noto Sans SC"/>
              </a:rPr>
              <a:t>指</a:t>
            </a:r>
            <a:r>
              <a:rPr lang="en-US" sz="1600" b="0" i="0" u="none" strike="noStrike" dirty="0">
                <a:solidFill>
                  <a:srgbClr val="666666"/>
                </a:solidFill>
                <a:latin typeface="Noto Sans SC"/>
                <a:ea typeface="Noto Sans SC"/>
                <a:cs typeface="Noto Sans SC"/>
                <a:sym typeface="Noto Sans SC"/>
              </a:rPr>
              <a:t>导</a:t>
            </a:r>
            <a:r>
              <a:rPr lang="zh-CN" altLang="en-US" sz="1600" b="0" i="0" u="none" strike="noStrike" dirty="0">
                <a:solidFill>
                  <a:srgbClr val="666666"/>
                </a:solidFill>
                <a:latin typeface="Noto Sans SC"/>
                <a:ea typeface="Noto Sans SC"/>
                <a:cs typeface="Noto Sans SC"/>
                <a:sym typeface="Noto Sans SC"/>
              </a:rPr>
              <a:t>教</a:t>
            </a:r>
            <a:r>
              <a:rPr lang="en-US" sz="1600" b="0" i="0" u="none" strike="noStrike" dirty="0">
                <a:solidFill>
                  <a:srgbClr val="666666"/>
                </a:solidFill>
                <a:latin typeface="Noto Sans SC"/>
                <a:ea typeface="Noto Sans SC"/>
                <a:cs typeface="Noto Sans SC"/>
                <a:sym typeface="Noto Sans SC"/>
              </a:rPr>
              <a:t>师：</a:t>
            </a:r>
            <a:r>
              <a:rPr lang="zh-CN" altLang="en-US" sz="1600" dirty="0">
                <a:solidFill>
                  <a:srgbClr val="666666"/>
                </a:solidFill>
                <a:latin typeface="Noto Sans SC"/>
                <a:ea typeface="Noto Sans SC"/>
                <a:cs typeface="Noto Sans SC"/>
                <a:sym typeface="Noto Sans SC"/>
              </a:rPr>
              <a:t>公绪辉</a:t>
            </a:r>
            <a:endParaRPr lang="en-US" sz="1600" dirty="0">
              <a:solidFill>
                <a:srgbClr val="666666"/>
              </a:solidFill>
              <a:latin typeface="Noto Sans SC"/>
              <a:ea typeface="Noto Sans SC"/>
              <a:cs typeface="Noto Sans SC"/>
              <a:sym typeface="Noto Sans SC"/>
            </a:endParaRPr>
          </a:p>
          <a:p>
            <a:pPr indent="0" algn="ctr">
              <a:lnSpc>
                <a:spcPct val="125000"/>
              </a:lnSpc>
              <a:defRPr/>
            </a:pPr>
            <a:r>
              <a:rPr lang="zh-CN" altLang="en-US" sz="1600" dirty="0">
                <a:solidFill>
                  <a:srgbClr val="666666"/>
                </a:solidFill>
                <a:latin typeface="Noto Sans SC"/>
                <a:ea typeface="Noto Sans SC"/>
                <a:sym typeface="Noto Sans SC"/>
              </a:rPr>
              <a:t>队员：吴昊阳、</a:t>
            </a:r>
            <a:r>
              <a:rPr lang="zh-CN" altLang="en-US" sz="1600" dirty="0">
                <a:solidFill>
                  <a:srgbClr val="666666"/>
                </a:solidFill>
                <a:latin typeface="Noto Sans SC"/>
                <a:ea typeface="Noto Sans SC"/>
              </a:rPr>
              <a:t>杨鹏坤、任艺、张子怡、张楚晗</a:t>
            </a:r>
            <a:endParaRPr lang="en-US" sz="1600" dirty="0">
              <a:solidFill>
                <a:srgbClr val="666666"/>
              </a:solidFill>
              <a:latin typeface="Noto Sans SC"/>
              <a:ea typeface="Noto Sans SC"/>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2800" y="4826000"/>
            <a:ext cx="406400" cy="40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16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333333"/>
                </a:solidFill>
                <a:latin typeface="Noto Sans SC"/>
                <a:ea typeface="Noto Sans SC"/>
                <a:cs typeface="Noto Sans SC"/>
                <a:sym typeface="Noto Sans SC"/>
              </a:rPr>
              <a:t>目录</a:t>
            </a:r>
            <a:endParaRPr lang="en-US" sz="1100"/>
          </a:p>
        </p:txBody>
      </p:sp>
      <p:sp>
        <p:nvSpPr>
          <p:cNvPr id="4" name="AutoShape 4"/>
          <p:cNvSpPr/>
          <p:nvPr/>
        </p:nvSpPr>
        <p:spPr>
          <a:xfrm>
            <a:off x="762000" y="1143000"/>
            <a:ext cx="508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52600"/>
            <a:ext cx="304800" cy="304800"/>
          </a:xfrm>
          <a:prstGeom prst="rect">
            <a:avLst/>
          </a:prstGeom>
        </p:spPr>
      </p:pic>
      <p:sp>
        <p:nvSpPr>
          <p:cNvPr id="7" name="AutoShape 7"/>
          <p:cNvSpPr/>
          <p:nvPr/>
        </p:nvSpPr>
        <p:spPr>
          <a:xfrm>
            <a:off x="1460500" y="17145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01</a:t>
            </a:r>
            <a:endParaRPr lang="en-US" sz="1100"/>
          </a:p>
        </p:txBody>
      </p:sp>
      <p:sp>
        <p:nvSpPr>
          <p:cNvPr id="8" name="AutoShape 8"/>
          <p:cNvSpPr/>
          <p:nvPr/>
        </p:nvSpPr>
        <p:spPr>
          <a:xfrm>
            <a:off x="1905000" y="1714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err="1">
                <a:solidFill>
                  <a:srgbClr val="333333"/>
                </a:solidFill>
                <a:latin typeface="Noto Sans SC"/>
                <a:ea typeface="Noto Sans SC"/>
                <a:cs typeface="Noto Sans SC"/>
                <a:sym typeface="Noto Sans SC"/>
              </a:rPr>
              <a:t>项目背景</a:t>
            </a:r>
            <a:endParaRPr lang="en-US" sz="1100" dirty="0"/>
          </a:p>
        </p:txBody>
      </p:sp>
      <p:sp>
        <p:nvSpPr>
          <p:cNvPr id="9" name="AutoShape 9"/>
          <p:cNvSpPr/>
          <p:nvPr/>
        </p:nvSpPr>
        <p:spPr>
          <a:xfrm>
            <a:off x="762000" y="24765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705100"/>
            <a:ext cx="304800" cy="304800"/>
          </a:xfrm>
          <a:prstGeom prst="rect">
            <a:avLst/>
          </a:prstGeom>
        </p:spPr>
      </p:pic>
      <p:sp>
        <p:nvSpPr>
          <p:cNvPr id="11" name="AutoShape 11"/>
          <p:cNvSpPr/>
          <p:nvPr/>
        </p:nvSpPr>
        <p:spPr>
          <a:xfrm>
            <a:off x="1460500" y="26670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02</a:t>
            </a:r>
            <a:endParaRPr lang="en-US" sz="1100"/>
          </a:p>
        </p:txBody>
      </p:sp>
      <p:sp>
        <p:nvSpPr>
          <p:cNvPr id="12" name="AutoShape 12"/>
          <p:cNvSpPr/>
          <p:nvPr/>
        </p:nvSpPr>
        <p:spPr>
          <a:xfrm>
            <a:off x="1905000" y="2667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333333"/>
                </a:solidFill>
                <a:latin typeface="Noto Sans SC"/>
                <a:ea typeface="Noto Sans SC"/>
                <a:cs typeface="Noto Sans SC"/>
                <a:sym typeface="Noto Sans SC"/>
              </a:rPr>
              <a:t>系统概述</a:t>
            </a:r>
            <a:endParaRPr lang="en-US" sz="1100"/>
          </a:p>
        </p:txBody>
      </p:sp>
      <p:sp>
        <p:nvSpPr>
          <p:cNvPr id="13" name="AutoShape 13"/>
          <p:cNvSpPr/>
          <p:nvPr/>
        </p:nvSpPr>
        <p:spPr>
          <a:xfrm>
            <a:off x="762000" y="34290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657600"/>
            <a:ext cx="304800" cy="304800"/>
          </a:xfrm>
          <a:prstGeom prst="rect">
            <a:avLst/>
          </a:prstGeom>
        </p:spPr>
      </p:pic>
      <p:sp>
        <p:nvSpPr>
          <p:cNvPr id="15" name="AutoShape 15"/>
          <p:cNvSpPr/>
          <p:nvPr/>
        </p:nvSpPr>
        <p:spPr>
          <a:xfrm>
            <a:off x="1460500" y="36195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03</a:t>
            </a:r>
            <a:endParaRPr lang="en-US" sz="1100"/>
          </a:p>
        </p:txBody>
      </p:sp>
      <p:sp>
        <p:nvSpPr>
          <p:cNvPr id="16" name="AutoShape 16"/>
          <p:cNvSpPr/>
          <p:nvPr/>
        </p:nvSpPr>
        <p:spPr>
          <a:xfrm>
            <a:off x="1905000" y="3619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333333"/>
                </a:solidFill>
                <a:latin typeface="Noto Sans SC"/>
                <a:ea typeface="Noto Sans SC"/>
                <a:cs typeface="Noto Sans SC"/>
                <a:sym typeface="Noto Sans SC"/>
              </a:rPr>
              <a:t>技术架构</a:t>
            </a:r>
            <a:endParaRPr lang="en-US" sz="1100"/>
          </a:p>
        </p:txBody>
      </p:sp>
      <p:sp>
        <p:nvSpPr>
          <p:cNvPr id="17" name="AutoShape 17"/>
          <p:cNvSpPr/>
          <p:nvPr/>
        </p:nvSpPr>
        <p:spPr>
          <a:xfrm>
            <a:off x="762000" y="43815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610100"/>
            <a:ext cx="304800" cy="304800"/>
          </a:xfrm>
          <a:prstGeom prst="rect">
            <a:avLst/>
          </a:prstGeom>
        </p:spPr>
      </p:pic>
      <p:sp>
        <p:nvSpPr>
          <p:cNvPr id="19" name="AutoShape 19"/>
          <p:cNvSpPr/>
          <p:nvPr/>
        </p:nvSpPr>
        <p:spPr>
          <a:xfrm>
            <a:off x="1460500" y="45720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04</a:t>
            </a:r>
            <a:endParaRPr lang="en-US" sz="1100"/>
          </a:p>
        </p:txBody>
      </p:sp>
      <p:sp>
        <p:nvSpPr>
          <p:cNvPr id="20" name="AutoShape 20"/>
          <p:cNvSpPr/>
          <p:nvPr/>
        </p:nvSpPr>
        <p:spPr>
          <a:xfrm>
            <a:off x="1905000" y="4572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dirty="0" err="1">
                <a:solidFill>
                  <a:srgbClr val="333333"/>
                </a:solidFill>
                <a:latin typeface="Noto Sans SC"/>
                <a:ea typeface="Noto Sans SC"/>
                <a:cs typeface="Noto Sans SC"/>
                <a:sym typeface="Noto Sans SC"/>
              </a:rPr>
              <a:t>核心功能</a:t>
            </a:r>
            <a:endParaRPr lang="en-US" sz="1100" dirty="0"/>
          </a:p>
        </p:txBody>
      </p:sp>
      <p:sp>
        <p:nvSpPr>
          <p:cNvPr id="21" name="AutoShape 21"/>
          <p:cNvSpPr/>
          <p:nvPr/>
        </p:nvSpPr>
        <p:spPr>
          <a:xfrm>
            <a:off x="6350000" y="15240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1752600"/>
            <a:ext cx="304800" cy="304800"/>
          </a:xfrm>
          <a:prstGeom prst="rect">
            <a:avLst/>
          </a:prstGeom>
        </p:spPr>
      </p:pic>
      <p:sp>
        <p:nvSpPr>
          <p:cNvPr id="23" name="AutoShape 23"/>
          <p:cNvSpPr/>
          <p:nvPr/>
        </p:nvSpPr>
        <p:spPr>
          <a:xfrm>
            <a:off x="7048500" y="17145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05</a:t>
            </a:r>
            <a:endParaRPr lang="en-US" sz="1100"/>
          </a:p>
        </p:txBody>
      </p:sp>
      <p:sp>
        <p:nvSpPr>
          <p:cNvPr id="24" name="AutoShape 24"/>
          <p:cNvSpPr/>
          <p:nvPr/>
        </p:nvSpPr>
        <p:spPr>
          <a:xfrm>
            <a:off x="7493000" y="1714500"/>
            <a:ext cx="3556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800" dirty="0" err="1">
                <a:solidFill>
                  <a:srgbClr val="333333"/>
                </a:solidFill>
                <a:latin typeface="Noto Sans SC"/>
                <a:ea typeface="Noto Sans SC"/>
              </a:rPr>
              <a:t>核心技术解析</a:t>
            </a:r>
            <a:endParaRPr lang="en-US" sz="1800" dirty="0">
              <a:solidFill>
                <a:srgbClr val="333333"/>
              </a:solidFill>
              <a:latin typeface="Noto Sans SC"/>
              <a:ea typeface="Noto Sans SC"/>
            </a:endParaRPr>
          </a:p>
        </p:txBody>
      </p:sp>
      <p:sp>
        <p:nvSpPr>
          <p:cNvPr id="25" name="AutoShape 25"/>
          <p:cNvSpPr/>
          <p:nvPr/>
        </p:nvSpPr>
        <p:spPr>
          <a:xfrm>
            <a:off x="6350000" y="24765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2705100"/>
            <a:ext cx="304800" cy="304800"/>
          </a:xfrm>
          <a:prstGeom prst="rect">
            <a:avLst/>
          </a:prstGeom>
        </p:spPr>
      </p:pic>
      <p:sp>
        <p:nvSpPr>
          <p:cNvPr id="27" name="AutoShape 27"/>
          <p:cNvSpPr/>
          <p:nvPr/>
        </p:nvSpPr>
        <p:spPr>
          <a:xfrm>
            <a:off x="7048500" y="26670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06</a:t>
            </a:r>
            <a:endParaRPr lang="en-US" sz="1100"/>
          </a:p>
        </p:txBody>
      </p:sp>
      <p:sp>
        <p:nvSpPr>
          <p:cNvPr id="28" name="AutoShape 28"/>
          <p:cNvSpPr/>
          <p:nvPr/>
        </p:nvSpPr>
        <p:spPr>
          <a:xfrm>
            <a:off x="7493000" y="2759279"/>
            <a:ext cx="3556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800" dirty="0" err="1">
                <a:solidFill>
                  <a:srgbClr val="333333"/>
                </a:solidFill>
                <a:latin typeface="Noto Sans SC"/>
                <a:ea typeface="Noto Sans SC"/>
                <a:sym typeface="Noto Sans SC"/>
              </a:rPr>
              <a:t>隐私保护机制</a:t>
            </a:r>
            <a:endParaRPr lang="en-US" altLang="zh-CN" sz="1800" dirty="0">
              <a:solidFill>
                <a:srgbClr val="333333"/>
              </a:solidFill>
              <a:latin typeface="Noto Sans SC"/>
              <a:ea typeface="Noto Sans SC"/>
            </a:endParaRPr>
          </a:p>
          <a:p>
            <a:pPr indent="0" algn="l">
              <a:lnSpc>
                <a:spcPct val="125000"/>
              </a:lnSpc>
              <a:defRPr/>
            </a:pPr>
            <a:endParaRPr lang="en-US" sz="1100" dirty="0"/>
          </a:p>
        </p:txBody>
      </p:sp>
      <p:sp>
        <p:nvSpPr>
          <p:cNvPr id="29" name="AutoShape 29"/>
          <p:cNvSpPr/>
          <p:nvPr/>
        </p:nvSpPr>
        <p:spPr>
          <a:xfrm>
            <a:off x="6350000" y="34290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3657600"/>
            <a:ext cx="304800" cy="304800"/>
          </a:xfrm>
          <a:prstGeom prst="rect">
            <a:avLst/>
          </a:prstGeom>
        </p:spPr>
      </p:pic>
      <p:sp>
        <p:nvSpPr>
          <p:cNvPr id="31" name="AutoShape 31"/>
          <p:cNvSpPr/>
          <p:nvPr/>
        </p:nvSpPr>
        <p:spPr>
          <a:xfrm>
            <a:off x="7048500" y="36195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07</a:t>
            </a:r>
            <a:endParaRPr lang="en-US" sz="1100"/>
          </a:p>
        </p:txBody>
      </p:sp>
      <p:sp>
        <p:nvSpPr>
          <p:cNvPr id="32" name="AutoShape 32"/>
          <p:cNvSpPr/>
          <p:nvPr/>
        </p:nvSpPr>
        <p:spPr>
          <a:xfrm>
            <a:off x="7493000" y="3735373"/>
            <a:ext cx="3556000" cy="381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1800" dirty="0" err="1">
                <a:solidFill>
                  <a:srgbClr val="333333"/>
                </a:solidFill>
                <a:latin typeface="Noto Sans SC"/>
                <a:ea typeface="Noto Sans SC"/>
                <a:sym typeface="Noto Sans SC"/>
              </a:rPr>
              <a:t>系统功能与创新优势</a:t>
            </a:r>
            <a:endParaRPr lang="en-US" altLang="zh-CN" sz="1800" dirty="0">
              <a:solidFill>
                <a:srgbClr val="333333"/>
              </a:solidFill>
              <a:latin typeface="Noto Sans SC"/>
              <a:ea typeface="Noto Sans SC"/>
            </a:endParaRPr>
          </a:p>
          <a:p>
            <a:pPr indent="0" algn="l">
              <a:lnSpc>
                <a:spcPct val="125000"/>
              </a:lnSpc>
              <a:defRPr/>
            </a:pPr>
            <a:endParaRPr lang="en-US" sz="1100" dirty="0"/>
          </a:p>
        </p:txBody>
      </p:sp>
      <p:sp>
        <p:nvSpPr>
          <p:cNvPr id="33" name="AutoShape 33"/>
          <p:cNvSpPr/>
          <p:nvPr/>
        </p:nvSpPr>
        <p:spPr>
          <a:xfrm>
            <a:off x="6350000" y="438150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4610100"/>
            <a:ext cx="304800" cy="304800"/>
          </a:xfrm>
          <a:prstGeom prst="rect">
            <a:avLst/>
          </a:prstGeom>
        </p:spPr>
      </p:pic>
      <p:sp>
        <p:nvSpPr>
          <p:cNvPr id="35" name="AutoShape 35"/>
          <p:cNvSpPr/>
          <p:nvPr/>
        </p:nvSpPr>
        <p:spPr>
          <a:xfrm>
            <a:off x="7048500" y="4572000"/>
            <a:ext cx="38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4CAF50"/>
                </a:solidFill>
                <a:latin typeface="Noto Sans SC"/>
                <a:ea typeface="Noto Sans SC"/>
                <a:cs typeface="Noto Sans SC"/>
                <a:sym typeface="Noto Sans SC"/>
              </a:rPr>
              <a:t>08</a:t>
            </a:r>
            <a:endParaRPr lang="en-US" sz="1100"/>
          </a:p>
        </p:txBody>
      </p:sp>
      <p:sp>
        <p:nvSpPr>
          <p:cNvPr id="36" name="AutoShape 36"/>
          <p:cNvSpPr/>
          <p:nvPr/>
        </p:nvSpPr>
        <p:spPr>
          <a:xfrm>
            <a:off x="7493000" y="45720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333333"/>
                </a:solidFill>
                <a:latin typeface="Noto Sans SC"/>
                <a:ea typeface="Noto Sans SC"/>
                <a:cs typeface="Noto Sans SC"/>
                <a:sym typeface="Noto Sans SC"/>
              </a:rPr>
              <a:t>总结与展望</a:t>
            </a:r>
            <a:endParaRPr lang="en-US" sz="1100"/>
          </a:p>
        </p:txBody>
      </p:sp>
      <p:sp>
        <p:nvSpPr>
          <p:cNvPr id="37" name="AutoShape 37"/>
          <p:cNvSpPr/>
          <p:nvPr/>
        </p:nvSpPr>
        <p:spPr>
          <a:xfrm>
            <a:off x="0" y="6705600"/>
            <a:ext cx="12192000" cy="152400"/>
          </a:xfrm>
          <a:prstGeom prst="roundRect">
            <a:avLst>
              <a:gd name="adj" fmla="val 0"/>
            </a:avLst>
          </a:prstGeom>
          <a:solidFill>
            <a:srgbClr val="4CAF50">
              <a:alpha val="1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4025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1)</a:t>
            </a:r>
            <a:r>
              <a:rPr lang="en-US" sz="3600" b="1" i="0" u="none" strike="noStrike" dirty="0" err="1">
                <a:solidFill>
                  <a:srgbClr val="333333"/>
                </a:solidFill>
                <a:latin typeface="Noto Sans SC"/>
                <a:ea typeface="Noto Sans SC"/>
                <a:cs typeface="Noto Sans SC"/>
                <a:sym typeface="Noto Sans SC"/>
              </a:rPr>
              <a:t>项目背景</a:t>
            </a:r>
            <a:endParaRPr lang="en-US" sz="1100" dirty="0"/>
          </a:p>
        </p:txBody>
      </p:sp>
      <p:sp>
        <p:nvSpPr>
          <p:cNvPr id="4" name="AutoShape 4"/>
          <p:cNvSpPr/>
          <p:nvPr/>
        </p:nvSpPr>
        <p:spPr>
          <a:xfrm>
            <a:off x="762000" y="1397000"/>
            <a:ext cx="3302000" cy="3302000"/>
          </a:xfrm>
          <a:prstGeom prst="roundRect">
            <a:avLst>
              <a:gd name="adj" fmla="val 3846"/>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651000"/>
            <a:ext cx="406400" cy="406400"/>
          </a:xfrm>
          <a:prstGeom prst="rect">
            <a:avLst/>
          </a:prstGeom>
        </p:spPr>
      </p:pic>
      <p:sp>
        <p:nvSpPr>
          <p:cNvPr id="6" name="AutoShape 6"/>
          <p:cNvSpPr/>
          <p:nvPr/>
        </p:nvSpPr>
        <p:spPr>
          <a:xfrm>
            <a:off x="1524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老龄化现状</a:t>
            </a:r>
            <a:endParaRPr lang="en-US" sz="1100"/>
          </a:p>
        </p:txBody>
      </p:sp>
      <p:sp>
        <p:nvSpPr>
          <p:cNvPr id="7" name="AutoShape 7"/>
          <p:cNvSpPr/>
          <p:nvPr/>
        </p:nvSpPr>
        <p:spPr>
          <a:xfrm>
            <a:off x="1016000" y="2159000"/>
            <a:ext cx="2794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666666"/>
                </a:solidFill>
                <a:latin typeface="Noto Sans SC"/>
                <a:ea typeface="Noto Sans SC"/>
                <a:cs typeface="Noto Sans SC"/>
                <a:sym typeface="Noto Sans SC"/>
              </a:rPr>
              <a:t>我国60岁以上人口达</a:t>
            </a:r>
            <a:r>
              <a:rPr lang="en-US" sz="1800" b="1" i="0" u="none" strike="noStrike">
                <a:solidFill>
                  <a:srgbClr val="4CAF50"/>
                </a:solidFill>
                <a:latin typeface="Noto Sans SC"/>
                <a:ea typeface="Noto Sans SC"/>
                <a:cs typeface="Noto Sans SC"/>
                <a:sym typeface="Noto Sans SC"/>
              </a:rPr>
              <a:t>2.8亿</a:t>
            </a:r>
            <a:endParaRPr lang="en-US" sz="1100"/>
          </a:p>
          <a:p>
            <a:pPr indent="0" algn="l">
              <a:lnSpc>
                <a:spcPct val="108333"/>
              </a:lnSpc>
            </a:pPr>
            <a:r>
              <a:rPr lang="en-US" sz="1400" b="0" i="0" u="none" strike="noStrike">
                <a:solidFill>
                  <a:srgbClr val="666666"/>
                </a:solidFill>
                <a:latin typeface="Noto Sans SC"/>
                <a:ea typeface="Noto Sans SC"/>
                <a:cs typeface="Noto Sans SC"/>
                <a:sym typeface="Noto Sans SC"/>
              </a:rPr>
              <a:t>其中独居老人超</a:t>
            </a:r>
            <a:r>
              <a:rPr lang="en-US" sz="1800" b="1" i="0" u="none" strike="noStrike">
                <a:solidFill>
                  <a:srgbClr val="4CAF50"/>
                </a:solidFill>
                <a:latin typeface="Noto Sans SC"/>
                <a:ea typeface="Noto Sans SC"/>
                <a:cs typeface="Noto Sans SC"/>
                <a:sym typeface="Noto Sans SC"/>
              </a:rPr>
              <a:t>1.2亿</a:t>
            </a:r>
          </a:p>
          <a:p>
            <a:pPr indent="0" algn="l">
              <a:lnSpc>
                <a:spcPct val="108333"/>
              </a:lnSpc>
              <a:spcBef>
                <a:spcPts val="1000"/>
              </a:spcBef>
            </a:pPr>
            <a:r>
              <a:rPr lang="en-US" sz="1400" b="0" i="0" u="none" strike="noStrike">
                <a:solidFill>
                  <a:srgbClr val="666666"/>
                </a:solidFill>
                <a:latin typeface="Noto Sans SC"/>
                <a:ea typeface="Noto Sans SC"/>
                <a:cs typeface="Noto Sans SC"/>
                <a:sym typeface="Noto Sans SC"/>
              </a:rPr>
              <a:t>独居老人面临跌倒、突发疾病等风险，传统监护手段存在明显不足。</a:t>
            </a:r>
          </a:p>
        </p:txBody>
      </p:sp>
      <p:sp>
        <p:nvSpPr>
          <p:cNvPr id="8" name="AutoShape 8"/>
          <p:cNvSpPr/>
          <p:nvPr/>
        </p:nvSpPr>
        <p:spPr>
          <a:xfrm>
            <a:off x="4318000" y="1397000"/>
            <a:ext cx="3429000"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08500" y="1587500"/>
            <a:ext cx="355600" cy="355600"/>
          </a:xfrm>
          <a:prstGeom prst="rect">
            <a:avLst/>
          </a:prstGeom>
        </p:spPr>
      </p:pic>
      <p:sp>
        <p:nvSpPr>
          <p:cNvPr id="10" name="AutoShape 10"/>
          <p:cNvSpPr/>
          <p:nvPr/>
        </p:nvSpPr>
        <p:spPr>
          <a:xfrm>
            <a:off x="4953000" y="15875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传统人工监护</a:t>
            </a:r>
            <a:endParaRPr lang="en-US" sz="1100"/>
          </a:p>
        </p:txBody>
      </p:sp>
      <p:sp>
        <p:nvSpPr>
          <p:cNvPr id="11" name="AutoShape 11"/>
          <p:cNvSpPr/>
          <p:nvPr/>
        </p:nvSpPr>
        <p:spPr>
          <a:xfrm>
            <a:off x="4508500" y="2032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依赖护工定期巡查，无法24小时不间断监护，人力成本高，突发异常难以及时发现。</a:t>
            </a:r>
            <a:endParaRPr lang="en-US" sz="1100"/>
          </a:p>
        </p:txBody>
      </p:sp>
      <p:sp>
        <p:nvSpPr>
          <p:cNvPr id="12" name="AutoShape 12"/>
          <p:cNvSpPr/>
          <p:nvPr/>
        </p:nvSpPr>
        <p:spPr>
          <a:xfrm>
            <a:off x="8001000" y="1397000"/>
            <a:ext cx="3429000"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1587500"/>
            <a:ext cx="355600" cy="355600"/>
          </a:xfrm>
          <a:prstGeom prst="rect">
            <a:avLst/>
          </a:prstGeom>
        </p:spPr>
      </p:pic>
      <p:sp>
        <p:nvSpPr>
          <p:cNvPr id="14" name="AutoShape 14"/>
          <p:cNvSpPr/>
          <p:nvPr/>
        </p:nvSpPr>
        <p:spPr>
          <a:xfrm>
            <a:off x="8636000" y="15875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普通视频监控</a:t>
            </a:r>
            <a:endParaRPr lang="en-US" sz="1100"/>
          </a:p>
        </p:txBody>
      </p:sp>
      <p:sp>
        <p:nvSpPr>
          <p:cNvPr id="15" name="AutoShape 15"/>
          <p:cNvSpPr/>
          <p:nvPr/>
        </p:nvSpPr>
        <p:spPr>
          <a:xfrm>
            <a:off x="8191500" y="2032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全天候录像严重侵犯隐私权，数据管理有隐患，老人心理抵触，接受度低。</a:t>
            </a:r>
            <a:endParaRPr lang="en-US" sz="1100"/>
          </a:p>
        </p:txBody>
      </p:sp>
      <p:sp>
        <p:nvSpPr>
          <p:cNvPr id="16" name="AutoShape 16"/>
          <p:cNvSpPr/>
          <p:nvPr/>
        </p:nvSpPr>
        <p:spPr>
          <a:xfrm>
            <a:off x="4318000" y="3175000"/>
            <a:ext cx="3429000"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08500" y="3365500"/>
            <a:ext cx="355600" cy="355600"/>
          </a:xfrm>
          <a:prstGeom prst="rect">
            <a:avLst/>
          </a:prstGeom>
        </p:spPr>
      </p:pic>
      <p:sp>
        <p:nvSpPr>
          <p:cNvPr id="18" name="AutoShape 18"/>
          <p:cNvSpPr/>
          <p:nvPr/>
        </p:nvSpPr>
        <p:spPr>
          <a:xfrm>
            <a:off x="4953000" y="33655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智能穿戴设备</a:t>
            </a:r>
            <a:endParaRPr lang="en-US" sz="1100"/>
          </a:p>
        </p:txBody>
      </p:sp>
      <p:sp>
        <p:nvSpPr>
          <p:cNvPr id="19" name="AutoShape 19"/>
          <p:cNvSpPr/>
          <p:nvPr/>
        </p:nvSpPr>
        <p:spPr>
          <a:xfrm>
            <a:off x="4508500" y="3810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需要老人主动佩戴，依从性差；存在电池续航焦虑，设备易丢失或损坏。</a:t>
            </a:r>
            <a:endParaRPr lang="en-US" sz="1100"/>
          </a:p>
        </p:txBody>
      </p:sp>
      <p:sp>
        <p:nvSpPr>
          <p:cNvPr id="20" name="AutoShape 20"/>
          <p:cNvSpPr/>
          <p:nvPr/>
        </p:nvSpPr>
        <p:spPr>
          <a:xfrm>
            <a:off x="8001000" y="3175000"/>
            <a:ext cx="3429000"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91500" y="3365500"/>
            <a:ext cx="355600" cy="355600"/>
          </a:xfrm>
          <a:prstGeom prst="rect">
            <a:avLst/>
          </a:prstGeom>
        </p:spPr>
      </p:pic>
      <p:sp>
        <p:nvSpPr>
          <p:cNvPr id="22" name="AutoShape 22"/>
          <p:cNvSpPr/>
          <p:nvPr/>
        </p:nvSpPr>
        <p:spPr>
          <a:xfrm>
            <a:off x="8636000" y="33655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现有AI监测系统</a:t>
            </a:r>
            <a:endParaRPr lang="en-US" sz="1100"/>
          </a:p>
        </p:txBody>
      </p:sp>
      <p:sp>
        <p:nvSpPr>
          <p:cNvPr id="23" name="AutoShape 23"/>
          <p:cNvSpPr/>
          <p:nvPr/>
        </p:nvSpPr>
        <p:spPr>
          <a:xfrm>
            <a:off x="8191500" y="3810000"/>
            <a:ext cx="304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误报率高影响体验，缺乏完善的隐私保护机制，功能单一，不成体系。</a:t>
            </a:r>
            <a:endParaRPr lang="en-US" sz="1100"/>
          </a:p>
        </p:txBody>
      </p:sp>
      <p:sp>
        <p:nvSpPr>
          <p:cNvPr id="24" name="AutoShape 24"/>
          <p:cNvSpPr/>
          <p:nvPr/>
        </p:nvSpPr>
        <p:spPr>
          <a:xfrm>
            <a:off x="762000" y="5080000"/>
            <a:ext cx="10668000" cy="1016000"/>
          </a:xfrm>
          <a:prstGeom prst="roundRect">
            <a:avLst>
              <a:gd name="adj" fmla="val 12500"/>
            </a:avLst>
          </a:prstGeom>
          <a:solidFill>
            <a:srgbClr val="4CAF50">
              <a:alpha val="1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359400"/>
            <a:ext cx="457200" cy="457200"/>
          </a:xfrm>
          <a:prstGeom prst="rect">
            <a:avLst/>
          </a:prstGeom>
        </p:spPr>
      </p:pic>
      <p:sp>
        <p:nvSpPr>
          <p:cNvPr id="26" name="AutoShape 26"/>
          <p:cNvSpPr/>
          <p:nvPr/>
        </p:nvSpPr>
        <p:spPr>
          <a:xfrm>
            <a:off x="1651000" y="5270500"/>
            <a:ext cx="889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核心需求：</a:t>
            </a:r>
            <a:r>
              <a:rPr lang="en-US" sz="1800" b="0" i="0" u="none" strike="noStrike">
                <a:solidFill>
                  <a:srgbClr val="505050"/>
                </a:solidFill>
                <a:latin typeface="Noto Sans SC"/>
                <a:ea typeface="Noto Sans SC"/>
                <a:cs typeface="Noto Sans SC"/>
                <a:sym typeface="Noto Sans SC"/>
              </a:rPr>
              <a:t>开发一款能够</a:t>
            </a:r>
            <a:r>
              <a:rPr lang="en-US" sz="1800" b="1" i="0" u="none" strike="noStrike">
                <a:solidFill>
                  <a:srgbClr val="4CAF50"/>
                </a:solidFill>
                <a:latin typeface="Noto Sans SC"/>
                <a:ea typeface="Noto Sans SC"/>
                <a:cs typeface="Noto Sans SC"/>
                <a:sym typeface="Noto Sans SC"/>
              </a:rPr>
              <a:t>24小时不间断监测</a:t>
            </a:r>
            <a:r>
              <a:rPr lang="en-US" sz="1800" b="0" i="0" u="none" strike="noStrike">
                <a:solidFill>
                  <a:srgbClr val="505050"/>
                </a:solidFill>
                <a:latin typeface="Noto Sans SC"/>
                <a:ea typeface="Noto Sans SC"/>
                <a:cs typeface="Noto Sans SC"/>
                <a:sym typeface="Noto Sans SC"/>
              </a:rPr>
              <a:t>独居老人异常行为，同时通过隐私保护技术解决隐私泄露问题，具备完整系统化功能的智能监护平台。</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006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2)</a:t>
            </a:r>
            <a:r>
              <a:rPr lang="en-US" sz="3600" b="1" i="0" u="none" strike="noStrike" dirty="0" err="1">
                <a:solidFill>
                  <a:srgbClr val="333333"/>
                </a:solidFill>
                <a:latin typeface="Noto Sans SC"/>
                <a:ea typeface="Noto Sans SC"/>
                <a:cs typeface="Noto Sans SC"/>
                <a:sym typeface="Noto Sans SC"/>
              </a:rPr>
              <a:t>系统概述</a:t>
            </a:r>
            <a:endParaRPr lang="en-US" sz="1100" dirty="0"/>
          </a:p>
        </p:txBody>
      </p:sp>
      <p:sp>
        <p:nvSpPr>
          <p:cNvPr id="5" name="AutoShape 5"/>
          <p:cNvSpPr/>
          <p:nvPr/>
        </p:nvSpPr>
        <p:spPr>
          <a:xfrm>
            <a:off x="762000" y="1206500"/>
            <a:ext cx="762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524000"/>
            <a:ext cx="5842000" cy="1079500"/>
          </a:xfrm>
          <a:prstGeom prst="roundRect">
            <a:avLst>
              <a:gd name="adj" fmla="val 11764"/>
            </a:avLst>
          </a:prstGeom>
          <a:solidFill>
            <a:srgbClr val="F5F5F5">
              <a:alpha val="6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714500"/>
            <a:ext cx="304800" cy="304800"/>
          </a:xfrm>
          <a:prstGeom prst="rect">
            <a:avLst/>
          </a:prstGeom>
        </p:spPr>
      </p:pic>
      <p:sp>
        <p:nvSpPr>
          <p:cNvPr id="8" name="AutoShape 8"/>
          <p:cNvSpPr/>
          <p:nvPr/>
        </p:nvSpPr>
        <p:spPr>
          <a:xfrm>
            <a:off x="1333500" y="1676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系统定位</a:t>
            </a:r>
            <a:endParaRPr lang="en-US" sz="1100"/>
          </a:p>
        </p:txBody>
      </p:sp>
      <p:sp>
        <p:nvSpPr>
          <p:cNvPr id="9" name="AutoShape 9"/>
          <p:cNvSpPr/>
          <p:nvPr/>
        </p:nvSpPr>
        <p:spPr>
          <a:xfrm>
            <a:off x="952500" y="2032000"/>
            <a:ext cx="520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555555"/>
                </a:solidFill>
                <a:latin typeface="Noto Sans SC"/>
                <a:ea typeface="Noto Sans SC"/>
                <a:cs typeface="Noto Sans SC"/>
                <a:sym typeface="Noto Sans SC"/>
              </a:rPr>
              <a:t>面向独居老人的隐私保护型异常行为识别与应急响应平台，融合深度学习与规则引擎，实现全天候智能监护。</a:t>
            </a:r>
            <a:endParaRPr lang="en-US" sz="1100"/>
          </a:p>
        </p:txBody>
      </p:sp>
      <p:sp>
        <p:nvSpPr>
          <p:cNvPr id="10" name="AutoShape 10"/>
          <p:cNvSpPr/>
          <p:nvPr/>
        </p:nvSpPr>
        <p:spPr>
          <a:xfrm>
            <a:off x="762000" y="2730500"/>
            <a:ext cx="5842000" cy="1397000"/>
          </a:xfrm>
          <a:prstGeom prst="roundRect">
            <a:avLst>
              <a:gd name="adj" fmla="val 9090"/>
            </a:avLst>
          </a:prstGeom>
          <a:solidFill>
            <a:srgbClr val="F5F5F5">
              <a:alpha val="6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921000"/>
            <a:ext cx="304800" cy="304800"/>
          </a:xfrm>
          <a:prstGeom prst="rect">
            <a:avLst/>
          </a:prstGeom>
        </p:spPr>
      </p:pic>
      <p:sp>
        <p:nvSpPr>
          <p:cNvPr id="12" name="AutoShape 12"/>
          <p:cNvSpPr/>
          <p:nvPr/>
        </p:nvSpPr>
        <p:spPr>
          <a:xfrm>
            <a:off x="1333500" y="28829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核心功能</a:t>
            </a:r>
            <a:endParaRPr lang="en-US" sz="1100"/>
          </a:p>
        </p:txBody>
      </p:sp>
      <p:sp>
        <p:nvSpPr>
          <p:cNvPr id="13" name="AutoShape 13"/>
          <p:cNvSpPr/>
          <p:nvPr/>
        </p:nvSpPr>
        <p:spPr>
          <a:xfrm>
            <a:off x="952500" y="3238500"/>
            <a:ext cx="5207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1" i="0" u="none" strike="noStrike">
                <a:solidFill>
                  <a:srgbClr val="555555"/>
                </a:solidFill>
                <a:latin typeface="Noto Sans SC"/>
                <a:ea typeface="Noto Sans SC"/>
                <a:cs typeface="Noto Sans SC"/>
                <a:sym typeface="Noto Sans SC"/>
              </a:rPr>
              <a:t>● 异常识别：</a:t>
            </a:r>
            <a:r>
              <a:rPr lang="en-US" sz="1400" b="0" i="0" u="none" strike="noStrike">
                <a:solidFill>
                  <a:srgbClr val="555555"/>
                </a:solidFill>
                <a:latin typeface="Noto Sans SC"/>
                <a:ea typeface="Noto Sans SC"/>
                <a:cs typeface="Noto Sans SC"/>
                <a:sym typeface="Noto Sans SC"/>
              </a:rPr>
              <a:t>跌倒、长时间静止、夜间异常检测</a:t>
            </a:r>
            <a:endParaRPr lang="en-US" sz="1100"/>
          </a:p>
          <a:p>
            <a:pPr indent="0" algn="l">
              <a:lnSpc>
                <a:spcPct val="108333"/>
              </a:lnSpc>
            </a:pPr>
            <a:r>
              <a:rPr lang="en-US" sz="1400" b="1" i="0" u="none" strike="noStrike">
                <a:solidFill>
                  <a:srgbClr val="555555"/>
                </a:solidFill>
                <a:latin typeface="Noto Sans SC"/>
                <a:ea typeface="Noto Sans SC"/>
                <a:cs typeface="Noto Sans SC"/>
                <a:sym typeface="Noto Sans SC"/>
              </a:rPr>
              <a:t>● 风险分级：</a:t>
            </a:r>
            <a:r>
              <a:rPr lang="en-US" sz="1400" b="0" i="0" u="none" strike="noStrike">
                <a:solidFill>
                  <a:srgbClr val="555555"/>
                </a:solidFill>
                <a:latin typeface="Noto Sans SC"/>
                <a:ea typeface="Noto Sans SC"/>
                <a:cs typeface="Noto Sans SC"/>
                <a:sym typeface="Noto Sans SC"/>
              </a:rPr>
              <a:t>Normal / Low / Medium / High 四级预警</a:t>
            </a:r>
          </a:p>
          <a:p>
            <a:pPr indent="0" algn="l">
              <a:lnSpc>
                <a:spcPct val="108333"/>
              </a:lnSpc>
            </a:pPr>
            <a:r>
              <a:rPr lang="en-US" sz="1400" b="1" i="0" u="none" strike="noStrike">
                <a:solidFill>
                  <a:srgbClr val="555555"/>
                </a:solidFill>
                <a:latin typeface="Noto Sans SC"/>
                <a:ea typeface="Noto Sans SC"/>
                <a:cs typeface="Noto Sans SC"/>
                <a:sym typeface="Noto Sans SC"/>
              </a:rPr>
              <a:t>● 隐私保护：</a:t>
            </a:r>
            <a:r>
              <a:rPr lang="en-US" sz="1400" b="0" i="0" u="none" strike="noStrike">
                <a:solidFill>
                  <a:srgbClr val="555555"/>
                </a:solidFill>
                <a:latin typeface="Noto Sans SC"/>
                <a:ea typeface="Noto Sans SC"/>
                <a:cs typeface="Noto Sans SC"/>
                <a:sym typeface="Noto Sans SC"/>
              </a:rPr>
              <a:t>人脸模糊、数据最小化、本地化处理</a:t>
            </a:r>
          </a:p>
        </p:txBody>
      </p:sp>
      <p:sp>
        <p:nvSpPr>
          <p:cNvPr id="14" name="AutoShape 14"/>
          <p:cNvSpPr/>
          <p:nvPr/>
        </p:nvSpPr>
        <p:spPr>
          <a:xfrm>
            <a:off x="762000" y="4254500"/>
            <a:ext cx="5842000" cy="1079500"/>
          </a:xfrm>
          <a:prstGeom prst="roundRect">
            <a:avLst>
              <a:gd name="adj" fmla="val 11764"/>
            </a:avLst>
          </a:prstGeom>
          <a:solidFill>
            <a:srgbClr val="F5F5F5">
              <a:alpha val="6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445000"/>
            <a:ext cx="304800" cy="304800"/>
          </a:xfrm>
          <a:prstGeom prst="rect">
            <a:avLst/>
          </a:prstGeom>
        </p:spPr>
      </p:pic>
      <p:sp>
        <p:nvSpPr>
          <p:cNvPr id="16" name="AutoShape 16"/>
          <p:cNvSpPr/>
          <p:nvPr/>
        </p:nvSpPr>
        <p:spPr>
          <a:xfrm>
            <a:off x="1333500" y="44069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功能模块</a:t>
            </a:r>
            <a:endParaRPr lang="en-US" sz="1100"/>
          </a:p>
        </p:txBody>
      </p:sp>
      <p:sp>
        <p:nvSpPr>
          <p:cNvPr id="17" name="AutoShape 17"/>
          <p:cNvSpPr/>
          <p:nvPr/>
        </p:nvSpPr>
        <p:spPr>
          <a:xfrm>
            <a:off x="952500" y="4762500"/>
            <a:ext cx="520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555555"/>
                </a:solidFill>
                <a:latin typeface="Noto Sans SC"/>
                <a:ea typeface="Noto Sans SC"/>
                <a:cs typeface="Noto Sans SC"/>
                <a:sym typeface="Noto Sans SC"/>
              </a:rPr>
              <a:t>包含实时监控、视频检测、事件看板、统计分析、可视化大屏及系统设置六大模块，构建完整闭环。</a:t>
            </a:r>
            <a:endParaRPr lang="en-US" sz="1100"/>
          </a:p>
        </p:txBody>
      </p:sp>
      <p:sp>
        <p:nvSpPr>
          <p:cNvPr id="18" name="AutoShape 18"/>
          <p:cNvSpPr/>
          <p:nvPr/>
        </p:nvSpPr>
        <p:spPr>
          <a:xfrm>
            <a:off x="762000" y="5461000"/>
            <a:ext cx="5842000" cy="1079500"/>
          </a:xfrm>
          <a:prstGeom prst="roundRect">
            <a:avLst>
              <a:gd name="adj" fmla="val 11764"/>
            </a:avLst>
          </a:prstGeom>
          <a:solidFill>
            <a:srgbClr val="F5F5F5">
              <a:alpha val="6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651500"/>
            <a:ext cx="304800" cy="304800"/>
          </a:xfrm>
          <a:prstGeom prst="rect">
            <a:avLst/>
          </a:prstGeom>
        </p:spPr>
      </p:pic>
      <p:sp>
        <p:nvSpPr>
          <p:cNvPr id="20" name="AutoShape 20"/>
          <p:cNvSpPr/>
          <p:nvPr/>
        </p:nvSpPr>
        <p:spPr>
          <a:xfrm>
            <a:off x="1333500" y="56134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系统特点</a:t>
            </a:r>
            <a:endParaRPr lang="en-US" sz="1100"/>
          </a:p>
        </p:txBody>
      </p:sp>
      <p:sp>
        <p:nvSpPr>
          <p:cNvPr id="21" name="AutoShape 21"/>
          <p:cNvSpPr/>
          <p:nvPr/>
        </p:nvSpPr>
        <p:spPr>
          <a:xfrm>
            <a:off x="952500" y="5969000"/>
            <a:ext cx="5207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555555"/>
                </a:solidFill>
                <a:latin typeface="Noto Sans SC"/>
                <a:ea typeface="Noto Sans SC"/>
                <a:cs typeface="Noto Sans SC"/>
                <a:sym typeface="Noto Sans SC"/>
              </a:rPr>
              <a:t>非接触式监测，无感守护；隐私保护，安全可靠；智能识别，精准告警。</a:t>
            </a:r>
            <a:endParaRPr lang="en-US" sz="1100"/>
          </a:p>
        </p:txBody>
      </p:sp>
      <p:sp>
        <p:nvSpPr>
          <p:cNvPr id="22" name="AutoShape 22"/>
          <p:cNvSpPr/>
          <p:nvPr/>
        </p:nvSpPr>
        <p:spPr>
          <a:xfrm>
            <a:off x="7112000" y="1524000"/>
            <a:ext cx="3810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8"/>
          <a:srcRect l="3350" r="3350"/>
          <a:stretch>
            <a:fillRect/>
          </a:stretch>
        </p:blipFill>
        <p:spPr>
          <a:xfrm>
            <a:off x="7239000" y="1663700"/>
            <a:ext cx="3556000" cy="2260600"/>
          </a:xfrm>
          <a:prstGeom prst="roundRect">
            <a:avLst>
              <a:gd name="adj" fmla="val 5617"/>
            </a:avLst>
          </a:prstGeom>
          <a:noFill/>
          <a:ln w="25400" cap="flat" cmpd="sng">
            <a:noFill/>
            <a:prstDash val="solid"/>
            <a:round/>
          </a:ln>
        </p:spPr>
      </p:pic>
      <p:sp>
        <p:nvSpPr>
          <p:cNvPr id="24" name="AutoShape 24"/>
          <p:cNvSpPr/>
          <p:nvPr/>
        </p:nvSpPr>
        <p:spPr>
          <a:xfrm>
            <a:off x="7112000" y="4127500"/>
            <a:ext cx="3810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757575"/>
                </a:solidFill>
                <a:latin typeface="Noto Sans SC"/>
                <a:ea typeface="Noto Sans SC"/>
                <a:cs typeface="Noto Sans SC"/>
                <a:sym typeface="Noto Sans SC"/>
              </a:rPr>
              <a:t>系统异常事件监控看板界面</a:t>
            </a:r>
            <a:endParaRPr lang="en-US" sz="1100"/>
          </a:p>
        </p:txBody>
      </p:sp>
      <p:sp>
        <p:nvSpPr>
          <p:cNvPr id="25" name="AutoShape 25"/>
          <p:cNvSpPr/>
          <p:nvPr/>
        </p:nvSpPr>
        <p:spPr>
          <a:xfrm>
            <a:off x="7112000" y="4572000"/>
            <a:ext cx="3810000" cy="762000"/>
          </a:xfrm>
          <a:prstGeom prst="roundRect">
            <a:avLst>
              <a:gd name="adj" fmla="val 16666"/>
            </a:avLst>
          </a:prstGeom>
          <a:solidFill>
            <a:srgbClr val="4CAF50">
              <a:alpha val="10000"/>
            </a:srgbClr>
          </a:solidFill>
          <a:ln w="12700" cap="flat" cmpd="sng">
            <a:solidFill>
              <a:srgbClr val="4CAF50">
                <a:alpha val="10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02500" y="4775200"/>
            <a:ext cx="355600" cy="355600"/>
          </a:xfrm>
          <a:prstGeom prst="rect">
            <a:avLst/>
          </a:prstGeom>
        </p:spPr>
      </p:pic>
      <p:sp>
        <p:nvSpPr>
          <p:cNvPr id="27" name="AutoShape 27"/>
          <p:cNvSpPr/>
          <p:nvPr/>
        </p:nvSpPr>
        <p:spPr>
          <a:xfrm>
            <a:off x="7747000" y="4699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实时响应</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毫秒级异常检测与预警推送</a:t>
            </a:r>
          </a:p>
        </p:txBody>
      </p:sp>
      <p:sp>
        <p:nvSpPr>
          <p:cNvPr id="28" name="AutoShape 28"/>
          <p:cNvSpPr/>
          <p:nvPr/>
        </p:nvSpPr>
        <p:spPr>
          <a:xfrm>
            <a:off x="7112000" y="5461000"/>
            <a:ext cx="3810000" cy="762000"/>
          </a:xfrm>
          <a:prstGeom prst="roundRect">
            <a:avLst>
              <a:gd name="adj" fmla="val 16666"/>
            </a:avLst>
          </a:prstGeom>
          <a:solidFill>
            <a:srgbClr val="4CAF50">
              <a:alpha val="10000"/>
            </a:srgbClr>
          </a:solidFill>
          <a:ln w="12700" cap="flat" cmpd="sng">
            <a:solidFill>
              <a:srgbClr val="4CAF50">
                <a:alpha val="100000"/>
              </a:srgbClr>
            </a:solidFill>
            <a:prstDash val="solid"/>
            <a:round/>
          </a:ln>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302500" y="5664200"/>
            <a:ext cx="355600" cy="355600"/>
          </a:xfrm>
          <a:prstGeom prst="rect">
            <a:avLst/>
          </a:prstGeom>
        </p:spPr>
      </p:pic>
      <p:sp>
        <p:nvSpPr>
          <p:cNvPr id="30" name="AutoShape 30"/>
          <p:cNvSpPr/>
          <p:nvPr/>
        </p:nvSpPr>
        <p:spPr>
          <a:xfrm>
            <a:off x="7747000" y="5588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隐私安全</a:t>
            </a:r>
            <a:endParaRPr lang="en-US" sz="1100"/>
          </a:p>
          <a:p>
            <a:pPr indent="0" algn="l">
              <a:lnSpc>
                <a:spcPct val="125000"/>
              </a:lnSpc>
            </a:pPr>
            <a:r>
              <a:rPr lang="en-US" sz="1200" b="0" i="0" u="none" strike="noStrike">
                <a:solidFill>
                  <a:srgbClr val="666666"/>
                </a:solidFill>
                <a:latin typeface="Noto Sans SC"/>
                <a:ea typeface="Noto Sans SC"/>
                <a:cs typeface="Noto Sans SC"/>
                <a:sym typeface="Noto Sans SC"/>
              </a:rPr>
              <a:t>本地数据处理，拒绝云端泄露</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201168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3)</a:t>
            </a:r>
            <a:r>
              <a:rPr lang="en-US" sz="3600" b="1" i="0" u="none" strike="noStrike" dirty="0" err="1">
                <a:solidFill>
                  <a:srgbClr val="333333"/>
                </a:solidFill>
                <a:latin typeface="Noto Sans SC"/>
                <a:ea typeface="Noto Sans SC"/>
                <a:cs typeface="Noto Sans SC"/>
                <a:sym typeface="Noto Sans SC"/>
              </a:rPr>
              <a:t>技术架构</a:t>
            </a:r>
            <a:endParaRPr lang="en-US" sz="1100" dirty="0"/>
          </a:p>
        </p:txBody>
      </p:sp>
      <p:sp>
        <p:nvSpPr>
          <p:cNvPr id="4" name="AutoShape 4"/>
          <p:cNvSpPr/>
          <p:nvPr/>
        </p:nvSpPr>
        <p:spPr>
          <a:xfrm>
            <a:off x="762000" y="1397000"/>
            <a:ext cx="5334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587500"/>
            <a:ext cx="406400" cy="406400"/>
          </a:xfrm>
          <a:prstGeom prst="rect">
            <a:avLst/>
          </a:prstGeom>
        </p:spPr>
      </p:pic>
      <p:sp>
        <p:nvSpPr>
          <p:cNvPr id="6" name="AutoShape 6"/>
          <p:cNvSpPr/>
          <p:nvPr/>
        </p:nvSpPr>
        <p:spPr>
          <a:xfrm>
            <a:off x="1524000" y="1549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后端技术栈</a:t>
            </a:r>
            <a:endParaRPr lang="en-US" sz="1100"/>
          </a:p>
        </p:txBody>
      </p:sp>
      <p:sp>
        <p:nvSpPr>
          <p:cNvPr id="7" name="AutoShape 7"/>
          <p:cNvSpPr/>
          <p:nvPr/>
        </p:nvSpPr>
        <p:spPr>
          <a:xfrm>
            <a:off x="1524000" y="19304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555555"/>
                </a:solidFill>
                <a:latin typeface="Noto Sans SC"/>
                <a:ea typeface="Noto Sans SC"/>
                <a:cs typeface="Noto Sans SC"/>
                <a:sym typeface="Noto Sans SC"/>
              </a:rPr>
              <a:t>Python 3.13, Quart (异步框架), SQLAlchemy (ORM), SQLite, ONNX Runtime</a:t>
            </a:r>
            <a:endParaRPr lang="en-US" sz="1100"/>
          </a:p>
        </p:txBody>
      </p:sp>
      <p:sp>
        <p:nvSpPr>
          <p:cNvPr id="8" name="AutoShape 8"/>
          <p:cNvSpPr/>
          <p:nvPr/>
        </p:nvSpPr>
        <p:spPr>
          <a:xfrm>
            <a:off x="762000" y="2857500"/>
            <a:ext cx="5334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048000"/>
            <a:ext cx="406400" cy="406400"/>
          </a:xfrm>
          <a:prstGeom prst="rect">
            <a:avLst/>
          </a:prstGeom>
        </p:spPr>
      </p:pic>
      <p:sp>
        <p:nvSpPr>
          <p:cNvPr id="10" name="AutoShape 10"/>
          <p:cNvSpPr/>
          <p:nvPr/>
        </p:nvSpPr>
        <p:spPr>
          <a:xfrm>
            <a:off x="1524000" y="30099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前端技术栈</a:t>
            </a:r>
            <a:endParaRPr lang="en-US" sz="1100"/>
          </a:p>
        </p:txBody>
      </p:sp>
      <p:sp>
        <p:nvSpPr>
          <p:cNvPr id="11" name="AutoShape 11"/>
          <p:cNvSpPr/>
          <p:nvPr/>
        </p:nvSpPr>
        <p:spPr>
          <a:xfrm>
            <a:off x="1524000" y="33909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555555"/>
                </a:solidFill>
                <a:latin typeface="Noto Sans SC"/>
                <a:ea typeface="Noto Sans SC"/>
                <a:cs typeface="Noto Sans SC"/>
                <a:sym typeface="Noto Sans SC"/>
              </a:rPr>
              <a:t>Vue 3, Vite, Element Plus (UI), ECharts (可视化), Pinia (状态管理)</a:t>
            </a:r>
            <a:endParaRPr lang="en-US" sz="1100"/>
          </a:p>
        </p:txBody>
      </p:sp>
      <p:sp>
        <p:nvSpPr>
          <p:cNvPr id="12" name="AutoShape 12"/>
          <p:cNvSpPr/>
          <p:nvPr/>
        </p:nvSpPr>
        <p:spPr>
          <a:xfrm>
            <a:off x="762000" y="4318000"/>
            <a:ext cx="5334000" cy="1270000"/>
          </a:xfrm>
          <a:prstGeom prst="roundRect">
            <a:avLst>
              <a:gd name="adj" fmla="val 10000"/>
            </a:avLst>
          </a:prstGeom>
          <a:solidFill>
            <a:srgbClr val="FFFFFF">
              <a:alpha val="9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08500"/>
            <a:ext cx="406400" cy="406400"/>
          </a:xfrm>
          <a:prstGeom prst="rect">
            <a:avLst/>
          </a:prstGeom>
        </p:spPr>
      </p:pic>
      <p:sp>
        <p:nvSpPr>
          <p:cNvPr id="14" name="AutoShape 14"/>
          <p:cNvSpPr/>
          <p:nvPr/>
        </p:nvSpPr>
        <p:spPr>
          <a:xfrm>
            <a:off x="1524000" y="4470400"/>
            <a:ext cx="381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AI 核心模型</a:t>
            </a:r>
            <a:endParaRPr lang="en-US" sz="1100"/>
          </a:p>
        </p:txBody>
      </p:sp>
      <p:sp>
        <p:nvSpPr>
          <p:cNvPr id="15" name="AutoShape 15"/>
          <p:cNvSpPr/>
          <p:nvPr/>
        </p:nvSpPr>
        <p:spPr>
          <a:xfrm>
            <a:off x="1524000" y="48514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555555"/>
                </a:solidFill>
                <a:latin typeface="Noto Sans SC"/>
                <a:ea typeface="Noto Sans SC"/>
                <a:cs typeface="Noto Sans SC"/>
                <a:sym typeface="Noto Sans SC"/>
              </a:rPr>
              <a:t>YOLO11 (目标检测), MediaPipe (人脸), ByteTrack (追踪), OpenCV</a:t>
            </a:r>
            <a:endParaRPr lang="en-US" sz="1100"/>
          </a:p>
        </p:txBody>
      </p:sp>
      <p:pic>
        <p:nvPicPr>
          <p:cNvPr id="16" name="Picture 16"/>
          <p:cNvPicPr>
            <a:picLocks noChangeAspect="1"/>
          </p:cNvPicPr>
          <p:nvPr/>
        </p:nvPicPr>
        <p:blipFill>
          <a:blip r:embed="rId7"/>
          <a:srcRect/>
          <a:stretch>
            <a:fillRect/>
          </a:stretch>
        </p:blipFill>
        <p:spPr>
          <a:xfrm>
            <a:off x="6604000" y="1685758"/>
            <a:ext cx="4826000" cy="2616200"/>
          </a:xfrm>
          <a:prstGeom prst="roundRect">
            <a:avLst>
              <a:gd name="adj" fmla="val 4854"/>
            </a:avLst>
          </a:prstGeom>
          <a:noFill/>
          <a:ln w="25400" cap="flat" cmpd="sng">
            <a:noFill/>
            <a:prstDash val="solid"/>
            <a:round/>
          </a:ln>
          <a:effectLst>
            <a:outerShdw blurRad="127000" dist="50800" dir="5400000" algn="tl" rotWithShape="0">
              <a:srgbClr val="000000">
                <a:alpha val="10000"/>
              </a:srgbClr>
            </a:outerShdw>
          </a:effectLst>
        </p:spPr>
      </p:pic>
      <p:sp>
        <p:nvSpPr>
          <p:cNvPr id="17" name="AutoShape 17"/>
          <p:cNvSpPr/>
          <p:nvPr/>
        </p:nvSpPr>
        <p:spPr>
          <a:xfrm>
            <a:off x="6604000" y="4556758"/>
            <a:ext cx="4826000" cy="762000"/>
          </a:xfrm>
          <a:prstGeom prst="roundRect">
            <a:avLst>
              <a:gd name="adj" fmla="val 16666"/>
            </a:avLst>
          </a:prstGeom>
          <a:solidFill>
            <a:srgbClr val="F5F7FA">
              <a:alpha val="80000"/>
            </a:srgbClr>
          </a:solidFill>
          <a:ln w="12700" cap="flat" cmpd="sng">
            <a:solidFill>
              <a:srgbClr val="4CAF50">
                <a:alpha val="100000"/>
              </a:srgbClr>
            </a:solidFill>
            <a:prstDash val="dash"/>
            <a:round/>
          </a:ln>
        </p:spPr>
        <p:txBody>
          <a:bodyPr vert="horz" wrap="square" lIns="63500" tIns="63500" rIns="63500" bIns="63500" rtlCol="0" anchor="ctr"/>
          <a:lstStyle/>
          <a:p>
            <a:pPr algn="ctr">
              <a:defRPr/>
            </a:pPr>
            <a:endParaRPr/>
          </a:p>
        </p:txBody>
      </p:sp>
      <p:sp>
        <p:nvSpPr>
          <p:cNvPr id="18" name="AutoShape 18"/>
          <p:cNvSpPr/>
          <p:nvPr/>
        </p:nvSpPr>
        <p:spPr>
          <a:xfrm>
            <a:off x="6731000" y="4683758"/>
            <a:ext cx="4572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1" i="0" u="none" strike="noStrike">
                <a:solidFill>
                  <a:srgbClr val="333333"/>
                </a:solidFill>
                <a:latin typeface="Noto Sans SC"/>
                <a:ea typeface="Noto Sans SC"/>
                <a:cs typeface="Noto Sans SC"/>
                <a:sym typeface="Noto Sans SC"/>
              </a:rPr>
              <a:t>系统分层架构与数据流向</a:t>
            </a:r>
            <a:br>
              <a:rPr lang="en-US" sz="1600" b="0" i="0" u="none" strike="noStrike">
                <a:solidFill>
                  <a:srgbClr val="1F2329"/>
                </a:solidFill>
                <a:latin typeface="Noto Sans SC"/>
                <a:ea typeface="Noto Sans SC"/>
                <a:cs typeface="Noto Sans SC"/>
                <a:sym typeface="Noto Sans SC"/>
              </a:rPr>
            </a:br>
            <a:r>
              <a:rPr lang="en-US" sz="1200" b="0" i="0" u="none" strike="noStrike">
                <a:solidFill>
                  <a:srgbClr val="666666"/>
                </a:solidFill>
                <a:latin typeface="Noto Sans SC"/>
                <a:ea typeface="Noto Sans SC"/>
                <a:cs typeface="Noto Sans SC"/>
                <a:sym typeface="Noto Sans SC"/>
              </a:rPr>
              <a:t>从采集层到应用服务层的全链路数据流转</a:t>
            </a:r>
            <a:endParaRPr lang="en-US" sz="1100"/>
          </a:p>
        </p:txBody>
      </p:sp>
      <p:sp>
        <p:nvSpPr>
          <p:cNvPr id="19" name="AutoShape 19"/>
          <p:cNvSpPr/>
          <p:nvPr/>
        </p:nvSpPr>
        <p:spPr>
          <a:xfrm>
            <a:off x="762000" y="5969000"/>
            <a:ext cx="10668000" cy="25400"/>
          </a:xfrm>
          <a:prstGeom prst="roundRect">
            <a:avLst>
              <a:gd name="adj" fmla="val 0"/>
            </a:avLst>
          </a:prstGeom>
          <a:solidFill>
            <a:srgbClr val="4CAF5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762000" y="6096000"/>
            <a:ext cx="10668000" cy="304800"/>
          </a:xfrm>
          <a:prstGeom prst="rect">
            <a:avLst/>
          </a:prstGeom>
          <a:noFill/>
          <a:ln w="12700" cap="flat" cmpd="sng">
            <a:noFill/>
            <a:prstDash val="solid"/>
            <a:round/>
          </a:ln>
        </p:spPr>
        <p:txBody>
          <a:bodyPr vert="horz" wrap="square" lIns="0" tIns="0" rIns="0" bIns="0" rtlCol="0" anchor="ctr" anchorCtr="0"/>
          <a:lstStyle/>
          <a:p>
            <a:pPr indent="0" algn="r">
              <a:lnSpc>
                <a:spcPct val="125000"/>
              </a:lnSpc>
              <a:defRPr/>
            </a:pPr>
            <a:r>
              <a:rPr lang="en-US" sz="1200" b="0" i="0" u="none" strike="noStrike">
                <a:solidFill>
                  <a:srgbClr val="969696"/>
                </a:solidFill>
                <a:latin typeface="Noto Sans SC"/>
                <a:ea typeface="Noto Sans SC"/>
                <a:cs typeface="Noto Sans SC"/>
                <a:sym typeface="Noto Sans SC"/>
              </a:rPr>
              <a:t>Tech Stack &amp; Architecture Overview</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4064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4)</a:t>
            </a:r>
            <a:r>
              <a:rPr lang="en-US" sz="3600" b="1" i="0" u="none" strike="noStrike" dirty="0" err="1">
                <a:solidFill>
                  <a:srgbClr val="333333"/>
                </a:solidFill>
                <a:latin typeface="Noto Sans SC"/>
                <a:ea typeface="Noto Sans SC"/>
                <a:cs typeface="Noto Sans SC"/>
                <a:sym typeface="Noto Sans SC"/>
              </a:rPr>
              <a:t>核心功能-跌倒检测</a:t>
            </a:r>
            <a:endParaRPr lang="en-US" sz="1100" dirty="0"/>
          </a:p>
        </p:txBody>
      </p:sp>
      <p:sp>
        <p:nvSpPr>
          <p:cNvPr id="5" name="AutoShape 5"/>
          <p:cNvSpPr/>
          <p:nvPr/>
        </p:nvSpPr>
        <p:spPr>
          <a:xfrm>
            <a:off x="762000" y="1397000"/>
            <a:ext cx="5080000" cy="1397000"/>
          </a:xfrm>
          <a:prstGeom prst="roundRect">
            <a:avLst>
              <a:gd name="adj" fmla="val 9090"/>
            </a:avLst>
          </a:prstGeom>
          <a:solidFill>
            <a:srgbClr val="FFFFFF">
              <a:alpha val="8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587500"/>
            <a:ext cx="406400" cy="406400"/>
          </a:xfrm>
          <a:prstGeom prst="rect">
            <a:avLst/>
          </a:prstGeom>
        </p:spPr>
      </p:pic>
      <p:sp>
        <p:nvSpPr>
          <p:cNvPr id="7" name="AutoShape 7"/>
          <p:cNvSpPr/>
          <p:nvPr/>
        </p:nvSpPr>
        <p:spPr>
          <a:xfrm>
            <a:off x="1524000" y="1549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AF50"/>
                </a:solidFill>
                <a:latin typeface="Noto Sans SC"/>
                <a:ea typeface="Noto Sans SC"/>
                <a:cs typeface="Noto Sans SC"/>
                <a:sym typeface="Noto Sans SC"/>
              </a:rPr>
              <a:t>技术方案</a:t>
            </a:r>
            <a:endParaRPr lang="en-US" sz="1100"/>
          </a:p>
        </p:txBody>
      </p:sp>
      <p:sp>
        <p:nvSpPr>
          <p:cNvPr id="8" name="AutoShape 8"/>
          <p:cNvSpPr/>
          <p:nvPr/>
        </p:nvSpPr>
        <p:spPr>
          <a:xfrm>
            <a:off x="1016000" y="19685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333333"/>
                </a:solidFill>
                <a:latin typeface="Noto Sans SC"/>
                <a:ea typeface="Noto Sans SC"/>
                <a:cs typeface="Noto Sans SC"/>
                <a:sym typeface="Noto Sans SC"/>
              </a:rPr>
              <a:t>采用YOLO11 ONNX轻量级模型，输出6维特征，支持GPU/CPU双模式推理，兼顾速度与精度。</a:t>
            </a:r>
            <a:endParaRPr lang="en-US" sz="1100"/>
          </a:p>
        </p:txBody>
      </p:sp>
      <p:sp>
        <p:nvSpPr>
          <p:cNvPr id="9" name="AutoShape 9"/>
          <p:cNvSpPr/>
          <p:nvPr/>
        </p:nvSpPr>
        <p:spPr>
          <a:xfrm>
            <a:off x="762000" y="2984500"/>
            <a:ext cx="5080000" cy="1397000"/>
          </a:xfrm>
          <a:prstGeom prst="roundRect">
            <a:avLst>
              <a:gd name="adj" fmla="val 9090"/>
            </a:avLst>
          </a:prstGeom>
          <a:solidFill>
            <a:srgbClr val="FFFFFF">
              <a:alpha val="8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75000"/>
            <a:ext cx="406400" cy="406400"/>
          </a:xfrm>
          <a:prstGeom prst="rect">
            <a:avLst/>
          </a:prstGeom>
        </p:spPr>
      </p:pic>
      <p:sp>
        <p:nvSpPr>
          <p:cNvPr id="11" name="AutoShape 11"/>
          <p:cNvSpPr/>
          <p:nvPr/>
        </p:nvSpPr>
        <p:spPr>
          <a:xfrm>
            <a:off x="1524000" y="31369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AF50"/>
                </a:solidFill>
                <a:latin typeface="Noto Sans SC"/>
                <a:ea typeface="Noto Sans SC"/>
                <a:cs typeface="Noto Sans SC"/>
                <a:sym typeface="Noto Sans SC"/>
              </a:rPr>
              <a:t>技术特点</a:t>
            </a:r>
            <a:endParaRPr lang="en-US" sz="1100"/>
          </a:p>
        </p:txBody>
      </p:sp>
      <p:sp>
        <p:nvSpPr>
          <p:cNvPr id="12" name="AutoShape 12"/>
          <p:cNvSpPr/>
          <p:nvPr/>
        </p:nvSpPr>
        <p:spPr>
          <a:xfrm>
            <a:off x="1016000" y="3556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a:solidFill>
                  <a:srgbClr val="333333"/>
                </a:solidFill>
                <a:latin typeface="Noto Sans SC"/>
                <a:ea typeface="Noto Sans SC"/>
                <a:cs typeface="Noto Sans SC"/>
                <a:sym typeface="Noto Sans SC"/>
              </a:rPr>
              <a:t>连续帧确认机制大幅降低误报；支持多人同时检测，通过ByteTrack算法保持目标身份一致性。</a:t>
            </a:r>
            <a:endParaRPr lang="en-US" sz="1100"/>
          </a:p>
        </p:txBody>
      </p:sp>
      <p:sp>
        <p:nvSpPr>
          <p:cNvPr id="13" name="AutoShape 13"/>
          <p:cNvSpPr/>
          <p:nvPr/>
        </p:nvSpPr>
        <p:spPr>
          <a:xfrm>
            <a:off x="762000" y="4572000"/>
            <a:ext cx="5080000" cy="1397000"/>
          </a:xfrm>
          <a:prstGeom prst="roundRect">
            <a:avLst>
              <a:gd name="adj" fmla="val 9090"/>
            </a:avLst>
          </a:prstGeom>
          <a:solidFill>
            <a:srgbClr val="FFFFFF">
              <a:alpha val="8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762500"/>
            <a:ext cx="406400" cy="406400"/>
          </a:xfrm>
          <a:prstGeom prst="rect">
            <a:avLst/>
          </a:prstGeom>
        </p:spPr>
      </p:pic>
      <p:sp>
        <p:nvSpPr>
          <p:cNvPr id="15" name="AutoShape 15"/>
          <p:cNvSpPr/>
          <p:nvPr/>
        </p:nvSpPr>
        <p:spPr>
          <a:xfrm>
            <a:off x="1524000" y="47244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AF50"/>
                </a:solidFill>
                <a:latin typeface="Noto Sans SC"/>
                <a:ea typeface="Noto Sans SC"/>
                <a:cs typeface="Noto Sans SC"/>
                <a:sym typeface="Noto Sans SC"/>
              </a:rPr>
              <a:t>风险等级定义</a:t>
            </a:r>
            <a:endParaRPr lang="en-US" sz="1100"/>
          </a:p>
        </p:txBody>
      </p:sp>
      <p:sp>
        <p:nvSpPr>
          <p:cNvPr id="16" name="AutoShape 16"/>
          <p:cNvSpPr/>
          <p:nvPr/>
        </p:nvSpPr>
        <p:spPr>
          <a:xfrm>
            <a:off x="1016000" y="51435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33333"/>
                </a:solidFill>
                <a:latin typeface="Noto Sans SC"/>
                <a:ea typeface="Noto Sans SC"/>
                <a:cs typeface="Noto Sans SC"/>
                <a:sym typeface="Noto Sans SC"/>
              </a:rPr>
              <a:t>MEDIUM：</a:t>
            </a:r>
            <a:r>
              <a:rPr lang="en-US" sz="1600" b="0" i="0" u="none" strike="noStrike">
                <a:solidFill>
                  <a:srgbClr val="555555"/>
                </a:solidFill>
                <a:latin typeface="Noto Sans SC"/>
                <a:ea typeface="Noto Sans SC"/>
                <a:cs typeface="Noto Sans SC"/>
                <a:sym typeface="Noto Sans SC"/>
              </a:rPr>
              <a:t>已确认跌倒，但未持续满1秒。</a:t>
            </a:r>
            <a:endParaRPr lang="en-US" sz="1100"/>
          </a:p>
          <a:p>
            <a:pPr indent="0" algn="l">
              <a:lnSpc>
                <a:spcPct val="100000"/>
              </a:lnSpc>
            </a:pPr>
            <a:r>
              <a:rPr lang="en-US" sz="1600" b="1" i="0" u="none" strike="noStrike">
                <a:solidFill>
                  <a:srgbClr val="333333"/>
                </a:solidFill>
                <a:latin typeface="Noto Sans SC"/>
                <a:ea typeface="Noto Sans SC"/>
                <a:cs typeface="Noto Sans SC"/>
                <a:sym typeface="Noto Sans SC"/>
              </a:rPr>
              <a:t>HIGH：</a:t>
            </a:r>
            <a:r>
              <a:rPr lang="en-US" sz="1600" b="0" i="0" u="none" strike="noStrike">
                <a:solidFill>
                  <a:srgbClr val="555555"/>
                </a:solidFill>
                <a:latin typeface="Noto Sans SC"/>
                <a:ea typeface="Noto Sans SC"/>
                <a:cs typeface="Noto Sans SC"/>
                <a:sym typeface="Noto Sans SC"/>
              </a:rPr>
              <a:t>跌倒状态持续≥1秒，需立即响应。</a:t>
            </a:r>
          </a:p>
        </p:txBody>
      </p:sp>
      <p:sp>
        <p:nvSpPr>
          <p:cNvPr id="17" name="AutoShape 17"/>
          <p:cNvSpPr/>
          <p:nvPr/>
        </p:nvSpPr>
        <p:spPr>
          <a:xfrm>
            <a:off x="6350000" y="1397000"/>
            <a:ext cx="5080000" cy="2667000"/>
          </a:xfrm>
          <a:prstGeom prst="roundRect">
            <a:avLst>
              <a:gd name="adj" fmla="val 4761"/>
            </a:avLst>
          </a:prstGeom>
          <a:solidFill>
            <a:srgbClr val="FFFFFF">
              <a:alpha val="100000"/>
            </a:srgbClr>
          </a:solidFill>
          <a:ln w="12700" cap="flat" cmpd="sng">
            <a:solidFill>
              <a:srgbClr val="C8C8C8">
                <a:alpha val="5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sp>
        <p:nvSpPr>
          <p:cNvPr id="18" name="AutoShape 18"/>
          <p:cNvSpPr/>
          <p:nvPr/>
        </p:nvSpPr>
        <p:spPr>
          <a:xfrm>
            <a:off x="6477000" y="1524000"/>
            <a:ext cx="482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判定逻辑流程</a:t>
            </a:r>
            <a:endParaRPr lang="en-US" sz="1100"/>
          </a:p>
        </p:txBody>
      </p:sp>
      <p:pic>
        <p:nvPicPr>
          <p:cNvPr id="19" name="Picture 19"/>
          <p:cNvPicPr>
            <a:picLocks noChangeAspect="1"/>
          </p:cNvPicPr>
          <p:nvPr/>
        </p:nvPicPr>
        <p:blipFill>
          <a:blip r:embed="rId7"/>
          <a:srcRect l="229" r="229"/>
          <a:stretch>
            <a:fillRect/>
          </a:stretch>
        </p:blipFill>
        <p:spPr>
          <a:xfrm>
            <a:off x="6604000" y="1968500"/>
            <a:ext cx="4572000" cy="1765300"/>
          </a:xfrm>
          <a:prstGeom prst="rect">
            <a:avLst/>
          </a:prstGeom>
          <a:noFill/>
          <a:ln w="25400" cap="flat" cmpd="sng">
            <a:noFill/>
            <a:prstDash val="solid"/>
            <a:round/>
          </a:ln>
        </p:spPr>
      </p:pic>
      <p:sp>
        <p:nvSpPr>
          <p:cNvPr id="20" name="AutoShape 20"/>
          <p:cNvSpPr/>
          <p:nvPr/>
        </p:nvSpPr>
        <p:spPr>
          <a:xfrm>
            <a:off x="6350000" y="4572000"/>
            <a:ext cx="5080000" cy="1397000"/>
          </a:xfrm>
          <a:prstGeom prst="roundRect">
            <a:avLst>
              <a:gd name="adj" fmla="val 9090"/>
            </a:avLst>
          </a:prstGeom>
          <a:solidFill>
            <a:srgbClr val="4CAF50">
              <a:alpha val="10000"/>
            </a:srgbClr>
          </a:solidFill>
          <a:ln w="12700" cap="flat" cmpd="sng">
            <a:solidFill>
              <a:srgbClr val="4CAF50">
                <a:alpha val="2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762500"/>
            <a:ext cx="304800" cy="304800"/>
          </a:xfrm>
          <a:prstGeom prst="rect">
            <a:avLst/>
          </a:prstGeom>
        </p:spPr>
      </p:pic>
      <p:sp>
        <p:nvSpPr>
          <p:cNvPr id="22" name="AutoShape 22"/>
          <p:cNvSpPr/>
          <p:nvPr/>
        </p:nvSpPr>
        <p:spPr>
          <a:xfrm>
            <a:off x="6921500" y="4699000"/>
            <a:ext cx="4318000"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600" b="1" i="0" u="none" strike="noStrike">
                <a:solidFill>
                  <a:srgbClr val="333333"/>
                </a:solidFill>
                <a:latin typeface="Noto Sans SC"/>
                <a:ea typeface="Noto Sans SC"/>
                <a:cs typeface="Noto Sans SC"/>
                <a:sym typeface="Noto Sans SC"/>
              </a:rPr>
              <a:t>核心逻辑：</a:t>
            </a:r>
            <a:endParaRPr lang="en-US" sz="1100"/>
          </a:p>
          <a:p>
            <a:pPr indent="0" algn="l">
              <a:lnSpc>
                <a:spcPct val="108333"/>
              </a:lnSpc>
            </a:pPr>
            <a:r>
              <a:rPr lang="en-US" sz="1600" b="0" i="0" u="none" strike="noStrike">
                <a:solidFill>
                  <a:srgbClr val="555555"/>
                </a:solidFill>
                <a:latin typeface="Noto Sans SC"/>
                <a:ea typeface="Noto Sans SC"/>
                <a:cs typeface="Noto Sans SC"/>
                <a:sym typeface="Noto Sans SC"/>
              </a:rPr>
              <a:t>通过连续5帧确认跌倒状态，避免因物体遮挡或短暂姿态异常导致的误报；时间阈值确保只有真实危险才会触发高级别告警。</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60960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333333"/>
                </a:solidFill>
                <a:latin typeface="Noto Sans SC"/>
                <a:ea typeface="Noto Sans SC"/>
                <a:cs typeface="Noto Sans SC"/>
                <a:sym typeface="Noto Sans SC"/>
              </a:rPr>
              <a:t>核心功能-长时间静止检测</a:t>
            </a:r>
            <a:endParaRPr lang="en-US" sz="1100"/>
          </a:p>
        </p:txBody>
      </p:sp>
      <p:sp>
        <p:nvSpPr>
          <p:cNvPr id="4" name="AutoShape 4"/>
          <p:cNvSpPr/>
          <p:nvPr/>
        </p:nvSpPr>
        <p:spPr>
          <a:xfrm>
            <a:off x="762000" y="1524000"/>
            <a:ext cx="3302000" cy="3556000"/>
          </a:xfrm>
          <a:prstGeom prst="roundRect">
            <a:avLst>
              <a:gd name="adj" fmla="val 3846"/>
            </a:avLst>
          </a:prstGeom>
          <a:solidFill>
            <a:srgbClr val="FFFFFF">
              <a:alpha val="90000"/>
            </a:srgbClr>
          </a:solidFill>
          <a:ln w="12700" cap="flat" cmpd="sng">
            <a:solidFill>
              <a:srgbClr val="DCDCDC">
                <a:alpha val="100000"/>
              </a:srgbClr>
            </a:solid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78000"/>
            <a:ext cx="406400" cy="406400"/>
          </a:xfrm>
          <a:prstGeom prst="rect">
            <a:avLst/>
          </a:prstGeom>
        </p:spPr>
      </p:pic>
      <p:sp>
        <p:nvSpPr>
          <p:cNvPr id="6" name="AutoShape 6"/>
          <p:cNvSpPr/>
          <p:nvPr/>
        </p:nvSpPr>
        <p:spPr>
          <a:xfrm>
            <a:off x="1524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AF50"/>
                </a:solidFill>
                <a:latin typeface="Noto Sans SC"/>
                <a:ea typeface="Noto Sans SC"/>
                <a:cs typeface="Noto Sans SC"/>
                <a:sym typeface="Noto Sans SC"/>
              </a:rPr>
              <a:t>技术方案</a:t>
            </a:r>
            <a:endParaRPr lang="en-US" sz="1100"/>
          </a:p>
        </p:txBody>
      </p:sp>
      <p:cxnSp>
        <p:nvCxnSpPr>
          <p:cNvPr id="7" name="Connector 7"/>
          <p:cNvCxnSpPr/>
          <p:nvPr/>
        </p:nvCxnSpPr>
        <p:spPr>
          <a:xfrm rot="-15626">
            <a:off x="1016014" y="2279650"/>
            <a:ext cx="2794000" cy="12700"/>
          </a:xfrm>
          <a:prstGeom prst="line">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8" name="AutoShape 8"/>
          <p:cNvSpPr/>
          <p:nvPr/>
        </p:nvSpPr>
        <p:spPr>
          <a:xfrm>
            <a:off x="1016000" y="2413000"/>
            <a:ext cx="2794000" cy="2286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800" b="0" i="0" u="none" strike="noStrike">
                <a:solidFill>
                  <a:srgbClr val="333333"/>
                </a:solidFill>
                <a:latin typeface="Noto Sans SC"/>
                <a:ea typeface="Noto Sans SC"/>
                <a:cs typeface="Noto Sans SC"/>
                <a:sym typeface="Noto Sans SC"/>
              </a:rPr>
              <a:t>采用</a:t>
            </a:r>
            <a:r>
              <a:rPr lang="en-US" sz="1800" b="1" i="0" u="none" strike="noStrike">
                <a:solidFill>
                  <a:srgbClr val="4CAF50"/>
                </a:solidFill>
                <a:latin typeface="Noto Sans SC"/>
                <a:ea typeface="Noto Sans SC"/>
                <a:cs typeface="Noto Sans SC"/>
                <a:sym typeface="Noto Sans SC"/>
              </a:rPr>
              <a:t>滑动窗口（30秒）</a:t>
            </a:r>
            <a:r>
              <a:rPr lang="en-US" sz="1800" b="0" i="0" u="none" strike="noStrike">
                <a:solidFill>
                  <a:srgbClr val="333333"/>
                </a:solidFill>
                <a:latin typeface="Noto Sans SC"/>
                <a:ea typeface="Noto Sans SC"/>
                <a:cs typeface="Noto Sans SC"/>
                <a:sym typeface="Noto Sans SC"/>
              </a:rPr>
              <a:t>结合</a:t>
            </a:r>
            <a:r>
              <a:rPr lang="en-US" sz="1800" b="1" i="0" u="none" strike="noStrike">
                <a:solidFill>
                  <a:srgbClr val="4CAF50"/>
                </a:solidFill>
                <a:latin typeface="Noto Sans SC"/>
                <a:ea typeface="Noto Sans SC"/>
                <a:cs typeface="Noto Sans SC"/>
                <a:sym typeface="Noto Sans SC"/>
              </a:rPr>
              <a:t>位移阈值（5像素）</a:t>
            </a:r>
            <a:r>
              <a:rPr lang="en-US" sz="1800" b="0" i="0" u="none" strike="noStrike">
                <a:solidFill>
                  <a:srgbClr val="333333"/>
                </a:solidFill>
                <a:latin typeface="Noto Sans SC"/>
                <a:ea typeface="Noto Sans SC"/>
                <a:cs typeface="Noto Sans SC"/>
                <a:sym typeface="Noto Sans SC"/>
              </a:rPr>
              <a:t>的智能判定算法，精准识别微小位移变化。</a:t>
            </a:r>
            <a:endParaRPr lang="en-US" sz="1100"/>
          </a:p>
        </p:txBody>
      </p:sp>
      <p:sp>
        <p:nvSpPr>
          <p:cNvPr id="9" name="AutoShape 9"/>
          <p:cNvSpPr/>
          <p:nvPr/>
        </p:nvSpPr>
        <p:spPr>
          <a:xfrm>
            <a:off x="4445000" y="1524000"/>
            <a:ext cx="3302000" cy="3556000"/>
          </a:xfrm>
          <a:prstGeom prst="roundRect">
            <a:avLst>
              <a:gd name="adj" fmla="val 3846"/>
            </a:avLst>
          </a:prstGeom>
          <a:solidFill>
            <a:srgbClr val="FFFFFF">
              <a:alpha val="90000"/>
            </a:srgbClr>
          </a:solidFill>
          <a:ln w="12700" cap="flat" cmpd="sng">
            <a:solidFill>
              <a:srgbClr val="DCDCDC">
                <a:alpha val="100000"/>
              </a:srgbClr>
            </a:solid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1778000"/>
            <a:ext cx="406400" cy="406400"/>
          </a:xfrm>
          <a:prstGeom prst="rect">
            <a:avLst/>
          </a:prstGeom>
        </p:spPr>
      </p:pic>
      <p:sp>
        <p:nvSpPr>
          <p:cNvPr id="11" name="AutoShape 11"/>
          <p:cNvSpPr/>
          <p:nvPr/>
        </p:nvSpPr>
        <p:spPr>
          <a:xfrm>
            <a:off x="5207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AF50"/>
                </a:solidFill>
                <a:latin typeface="Noto Sans SC"/>
                <a:ea typeface="Noto Sans SC"/>
                <a:cs typeface="Noto Sans SC"/>
                <a:sym typeface="Noto Sans SC"/>
              </a:rPr>
              <a:t>判定流程</a:t>
            </a:r>
            <a:endParaRPr lang="en-US" sz="1100"/>
          </a:p>
        </p:txBody>
      </p:sp>
      <p:cxnSp>
        <p:nvCxnSpPr>
          <p:cNvPr id="12" name="Connector 12"/>
          <p:cNvCxnSpPr/>
          <p:nvPr/>
        </p:nvCxnSpPr>
        <p:spPr>
          <a:xfrm rot="-15626">
            <a:off x="4699014" y="2279650"/>
            <a:ext cx="2794000" cy="12700"/>
          </a:xfrm>
          <a:prstGeom prst="line">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3" name="AutoShape 13"/>
          <p:cNvSpPr/>
          <p:nvPr/>
        </p:nvSpPr>
        <p:spPr>
          <a:xfrm>
            <a:off x="4699000" y="2413000"/>
            <a:ext cx="2794000" cy="228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a:solidFill>
                  <a:srgbClr val="333333"/>
                </a:solidFill>
                <a:latin typeface="Noto Sans SC"/>
                <a:ea typeface="Noto Sans SC"/>
                <a:cs typeface="Noto Sans SC"/>
                <a:sym typeface="Noto Sans SC"/>
              </a:rPr>
              <a:t>1. 实时采集视频帧</a:t>
            </a:r>
            <a:endParaRPr lang="en-US" sz="1100"/>
          </a:p>
          <a:p>
            <a:pPr indent="0" algn="l">
              <a:lnSpc>
                <a:spcPct val="125000"/>
              </a:lnSpc>
            </a:pPr>
            <a:r>
              <a:rPr lang="en-US" sz="1800" b="0" i="0" u="none" strike="noStrike">
                <a:solidFill>
                  <a:srgbClr val="333333"/>
                </a:solidFill>
                <a:latin typeface="Noto Sans SC"/>
                <a:ea typeface="Noto Sans SC"/>
                <a:cs typeface="Noto Sans SC"/>
                <a:sym typeface="Noto Sans SC"/>
              </a:rPr>
              <a:t>2. 计算目标位移矢量</a:t>
            </a:r>
          </a:p>
          <a:p>
            <a:pPr indent="0" algn="l">
              <a:lnSpc>
                <a:spcPct val="125000"/>
              </a:lnSpc>
            </a:pPr>
            <a:r>
              <a:rPr lang="en-US" sz="1800" b="0" i="0" u="none" strike="noStrike">
                <a:solidFill>
                  <a:srgbClr val="333333"/>
                </a:solidFill>
                <a:latin typeface="Noto Sans SC"/>
                <a:ea typeface="Noto Sans SC"/>
                <a:cs typeface="Noto Sans SC"/>
                <a:sym typeface="Noto Sans SC"/>
              </a:rPr>
              <a:t>3. 数据加入滑动窗口</a:t>
            </a:r>
          </a:p>
          <a:p>
            <a:pPr indent="0" algn="l">
              <a:lnSpc>
                <a:spcPct val="125000"/>
              </a:lnSpc>
            </a:pPr>
            <a:r>
              <a:rPr lang="en-US" sz="1800" b="0" i="0" u="none" strike="noStrike">
                <a:solidFill>
                  <a:srgbClr val="333333"/>
                </a:solidFill>
                <a:latin typeface="Noto Sans SC"/>
                <a:ea typeface="Noto Sans SC"/>
                <a:cs typeface="Noto Sans SC"/>
                <a:sym typeface="Noto Sans SC"/>
              </a:rPr>
              <a:t>4. 窗口内综合判定</a:t>
            </a:r>
          </a:p>
        </p:txBody>
      </p:sp>
      <p:sp>
        <p:nvSpPr>
          <p:cNvPr id="14" name="AutoShape 14"/>
          <p:cNvSpPr/>
          <p:nvPr/>
        </p:nvSpPr>
        <p:spPr>
          <a:xfrm>
            <a:off x="8128000" y="1524000"/>
            <a:ext cx="3302000" cy="3556000"/>
          </a:xfrm>
          <a:prstGeom prst="roundRect">
            <a:avLst>
              <a:gd name="adj" fmla="val 3846"/>
            </a:avLst>
          </a:prstGeom>
          <a:solidFill>
            <a:srgbClr val="FFFFFF">
              <a:alpha val="90000"/>
            </a:srgbClr>
          </a:solidFill>
          <a:ln w="12700" cap="flat" cmpd="sng">
            <a:solidFill>
              <a:srgbClr val="DCDCDC">
                <a:alpha val="100000"/>
              </a:srgbClr>
            </a:solid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6" name="AutoShape 16"/>
          <p:cNvSpPr/>
          <p:nvPr/>
        </p:nvSpPr>
        <p:spPr>
          <a:xfrm>
            <a:off x="8890000" y="1778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4CAF50"/>
                </a:solidFill>
                <a:latin typeface="Noto Sans SC"/>
                <a:ea typeface="Noto Sans SC"/>
                <a:cs typeface="Noto Sans SC"/>
                <a:sym typeface="Noto Sans SC"/>
              </a:rPr>
              <a:t>应用场景</a:t>
            </a:r>
            <a:endParaRPr lang="en-US" sz="1100"/>
          </a:p>
        </p:txBody>
      </p:sp>
      <p:cxnSp>
        <p:nvCxnSpPr>
          <p:cNvPr id="17" name="Connector 17"/>
          <p:cNvCxnSpPr/>
          <p:nvPr/>
        </p:nvCxnSpPr>
        <p:spPr>
          <a:xfrm rot="-15626">
            <a:off x="8382014" y="2279650"/>
            <a:ext cx="2794000" cy="12700"/>
          </a:xfrm>
          <a:prstGeom prst="line">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8" name="AutoShape 18"/>
          <p:cNvSpPr/>
          <p:nvPr/>
        </p:nvSpPr>
        <p:spPr>
          <a:xfrm>
            <a:off x="8382000" y="2413000"/>
            <a:ext cx="2794000" cy="2286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800" b="1" i="0" u="none" strike="noStrike">
                <a:solidFill>
                  <a:srgbClr val="4CAF50"/>
                </a:solidFill>
                <a:latin typeface="Noto Sans SC"/>
                <a:ea typeface="Noto Sans SC"/>
                <a:cs typeface="Noto Sans SC"/>
                <a:sym typeface="Noto Sans SC"/>
              </a:rPr>
              <a:t>● 正常静止</a:t>
            </a:r>
            <a:endParaRPr lang="en-US" sz="1100"/>
          </a:p>
          <a:p>
            <a:pPr indent="0" algn="l">
              <a:lnSpc>
                <a:spcPct val="108333"/>
              </a:lnSpc>
            </a:pPr>
            <a:r>
              <a:rPr lang="en-US" sz="1600" b="0" i="0" u="none" strike="noStrike">
                <a:solidFill>
                  <a:srgbClr val="646464"/>
                </a:solidFill>
                <a:latin typeface="Noto Sans SC"/>
                <a:ea typeface="Noto Sans SC"/>
                <a:cs typeface="Noto Sans SC"/>
                <a:sym typeface="Noto Sans SC"/>
              </a:rPr>
              <a:t>休息/阅读，低风险，仅记录日志。</a:t>
            </a:r>
          </a:p>
          <a:p>
            <a:pPr indent="0" algn="l">
              <a:lnSpc>
                <a:spcPct val="108333"/>
              </a:lnSpc>
            </a:pPr>
            <a:endParaRPr lang="en-US" sz="1600" b="0" i="0" u="none" strike="noStrike">
              <a:solidFill>
                <a:srgbClr val="646464"/>
              </a:solidFill>
              <a:latin typeface="Noto Sans SC"/>
              <a:ea typeface="Noto Sans SC"/>
              <a:cs typeface="Noto Sans SC"/>
              <a:sym typeface="Noto Sans SC"/>
            </a:endParaRPr>
          </a:p>
          <a:p>
            <a:pPr indent="0" algn="l">
              <a:lnSpc>
                <a:spcPct val="108333"/>
              </a:lnSpc>
            </a:pPr>
            <a:r>
              <a:rPr lang="en-US" sz="1800" b="1" i="0" u="none" strike="noStrike">
                <a:solidFill>
                  <a:srgbClr val="F57C00"/>
                </a:solidFill>
                <a:latin typeface="Noto Sans SC"/>
                <a:ea typeface="Noto Sans SC"/>
                <a:cs typeface="Noto Sans SC"/>
                <a:sym typeface="Noto Sans SC"/>
              </a:rPr>
              <a:t>● 异常静止</a:t>
            </a:r>
          </a:p>
          <a:p>
            <a:pPr indent="0" algn="l">
              <a:lnSpc>
                <a:spcPct val="108333"/>
              </a:lnSpc>
            </a:pPr>
            <a:r>
              <a:rPr lang="en-US" sz="1600" b="0" i="0" u="none" strike="noStrike">
                <a:solidFill>
                  <a:srgbClr val="646464"/>
                </a:solidFill>
                <a:latin typeface="Noto Sans SC"/>
                <a:ea typeface="Noto Sans SC"/>
                <a:cs typeface="Noto Sans SC"/>
                <a:sym typeface="Noto Sans SC"/>
              </a:rPr>
              <a:t>跌倒/突发疾病，中风险，立即触发告警。</a:t>
            </a:r>
          </a:p>
        </p:txBody>
      </p:sp>
      <p:sp>
        <p:nvSpPr>
          <p:cNvPr id="19" name="AutoShape 19"/>
          <p:cNvSpPr/>
          <p:nvPr/>
        </p:nvSpPr>
        <p:spPr>
          <a:xfrm>
            <a:off x="0" y="6807200"/>
            <a:ext cx="12192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6045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333333"/>
                </a:solidFill>
                <a:latin typeface="Noto Sans SC"/>
                <a:ea typeface="Noto Sans SC"/>
                <a:cs typeface="Noto Sans SC"/>
                <a:sym typeface="Noto Sans SC"/>
              </a:rPr>
              <a:t>核心功能-夜间异常检测</a:t>
            </a:r>
            <a:endParaRPr lang="en-US" sz="1100"/>
          </a:p>
        </p:txBody>
      </p:sp>
      <p:sp>
        <p:nvSpPr>
          <p:cNvPr id="4" name="AutoShape 4"/>
          <p:cNvSpPr/>
          <p:nvPr/>
        </p:nvSpPr>
        <p:spPr>
          <a:xfrm>
            <a:off x="762000" y="1397000"/>
            <a:ext cx="10668000" cy="1143000"/>
          </a:xfrm>
          <a:prstGeom prst="roundRect">
            <a:avLst>
              <a:gd name="adj" fmla="val 11111"/>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65300"/>
            <a:ext cx="406400" cy="406400"/>
          </a:xfrm>
          <a:prstGeom prst="rect">
            <a:avLst/>
          </a:prstGeom>
        </p:spPr>
      </p:pic>
      <p:sp>
        <p:nvSpPr>
          <p:cNvPr id="6" name="AutoShape 6"/>
          <p:cNvSpPr/>
          <p:nvPr/>
        </p:nvSpPr>
        <p:spPr>
          <a:xfrm>
            <a:off x="1524000" y="15875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技术方案</a:t>
            </a:r>
            <a:endParaRPr lang="en-US" sz="1100"/>
          </a:p>
        </p:txBody>
      </p:sp>
      <p:sp>
        <p:nvSpPr>
          <p:cNvPr id="7" name="AutoShape 7"/>
          <p:cNvSpPr/>
          <p:nvPr/>
        </p:nvSpPr>
        <p:spPr>
          <a:xfrm>
            <a:off x="1524000" y="1968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555555"/>
                </a:solidFill>
                <a:latin typeface="Noto Sans SC"/>
                <a:ea typeface="Noto Sans SC"/>
                <a:cs typeface="Noto Sans SC"/>
                <a:sym typeface="Noto Sans SC"/>
              </a:rPr>
              <a:t>组合判定逻辑：夜间时段（22:00-07:00） + 长时间静止 = 夜间异常</a:t>
            </a:r>
            <a:endParaRPr lang="en-US" sz="1100"/>
          </a:p>
        </p:txBody>
      </p:sp>
      <p:sp>
        <p:nvSpPr>
          <p:cNvPr id="8" name="AutoShape 8"/>
          <p:cNvSpPr/>
          <p:nvPr/>
        </p:nvSpPr>
        <p:spPr>
          <a:xfrm>
            <a:off x="762000" y="2730499"/>
            <a:ext cx="10668000" cy="1975725"/>
          </a:xfrm>
          <a:prstGeom prst="roundRect">
            <a:avLst>
              <a:gd name="adj" fmla="val 7692"/>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352800"/>
            <a:ext cx="406400" cy="406400"/>
          </a:xfrm>
          <a:prstGeom prst="rect">
            <a:avLst/>
          </a:prstGeom>
        </p:spPr>
      </p:pic>
      <p:sp>
        <p:nvSpPr>
          <p:cNvPr id="10" name="AutoShape 10"/>
          <p:cNvSpPr/>
          <p:nvPr/>
        </p:nvSpPr>
        <p:spPr>
          <a:xfrm>
            <a:off x="1524000" y="2921000"/>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应用场景</a:t>
            </a:r>
            <a:endParaRPr lang="en-US" sz="1100"/>
          </a:p>
        </p:txBody>
      </p:sp>
      <p:sp>
        <p:nvSpPr>
          <p:cNvPr id="11" name="AutoShape 11"/>
          <p:cNvSpPr/>
          <p:nvPr/>
        </p:nvSpPr>
        <p:spPr>
          <a:xfrm>
            <a:off x="1524000" y="3436224"/>
            <a:ext cx="8890000" cy="1016000"/>
          </a:xfrm>
          <a:prstGeom prst="rect">
            <a:avLst/>
          </a:prstGeom>
          <a:noFill/>
          <a:ln w="12700" cap="flat" cmpd="sng">
            <a:noFill/>
            <a:prstDash val="solid"/>
            <a:round/>
          </a:ln>
        </p:spPr>
        <p:txBody>
          <a:bodyPr vert="horz" wrap="square" lIns="0" tIns="0" rIns="0" bIns="0" rtlCol="0" anchor="ctr" anchorCtr="0"/>
          <a:lstStyle/>
          <a:p>
            <a:pPr algn="l">
              <a:lnSpc>
                <a:spcPct val="125000"/>
              </a:lnSpc>
              <a:buClr>
                <a:srgbClr val="555555"/>
              </a:buClr>
              <a:defRPr/>
            </a:pPr>
            <a:r>
              <a:rPr lang="en-US" sz="1800" b="1" i="0" u="none" strike="noStrike" dirty="0" err="1">
                <a:solidFill>
                  <a:srgbClr val="555555"/>
                </a:solidFill>
                <a:latin typeface="Noto Sans SC"/>
                <a:ea typeface="Noto Sans SC"/>
                <a:cs typeface="Noto Sans SC"/>
                <a:sym typeface="Noto Sans SC"/>
              </a:rPr>
              <a:t>夜间起床：</a:t>
            </a:r>
            <a:r>
              <a:rPr lang="en-US" sz="1800" b="0" i="0" u="none" strike="noStrike" dirty="0" err="1">
                <a:solidFill>
                  <a:srgbClr val="555555"/>
                </a:solidFill>
                <a:latin typeface="Noto Sans SC"/>
                <a:ea typeface="Noto Sans SC"/>
                <a:cs typeface="Noto Sans SC"/>
                <a:sym typeface="Noto Sans SC"/>
              </a:rPr>
              <a:t>正常活动，不触发告警</a:t>
            </a:r>
            <a:r>
              <a:rPr lang="en-US" sz="1800" b="0" i="0" u="none" strike="noStrike" dirty="0">
                <a:solidFill>
                  <a:srgbClr val="555555"/>
                </a:solidFill>
                <a:latin typeface="Noto Sans SC"/>
                <a:ea typeface="Noto Sans SC"/>
                <a:cs typeface="Noto Sans SC"/>
                <a:sym typeface="Noto Sans SC"/>
              </a:rPr>
              <a:t>。</a:t>
            </a:r>
            <a:endParaRPr lang="en-US" sz="1100" dirty="0"/>
          </a:p>
          <a:p>
            <a:pPr algn="l">
              <a:lnSpc>
                <a:spcPct val="125000"/>
              </a:lnSpc>
              <a:buClr>
                <a:srgbClr val="555555"/>
              </a:buClr>
            </a:pPr>
            <a:r>
              <a:rPr lang="en-US" sz="1800" b="1" i="0" u="none" strike="noStrike" dirty="0" err="1">
                <a:solidFill>
                  <a:srgbClr val="555555"/>
                </a:solidFill>
                <a:latin typeface="Noto Sans SC"/>
                <a:ea typeface="Noto Sans SC"/>
                <a:cs typeface="Noto Sans SC"/>
                <a:sym typeface="Noto Sans SC"/>
              </a:rPr>
              <a:t>夜间静止：</a:t>
            </a:r>
            <a:r>
              <a:rPr lang="en-US" sz="1800" b="0" i="0" u="none" strike="noStrike" dirty="0" err="1">
                <a:solidFill>
                  <a:srgbClr val="555555"/>
                </a:solidFill>
                <a:latin typeface="Noto Sans SC"/>
                <a:ea typeface="Noto Sans SC"/>
                <a:cs typeface="Noto Sans SC"/>
                <a:sym typeface="Noto Sans SC"/>
              </a:rPr>
              <a:t>在客厅等非卧室区域长时间静止，触发中风险告警</a:t>
            </a:r>
            <a:r>
              <a:rPr lang="en-US" sz="1800" b="0" i="0" u="none" strike="noStrike" dirty="0">
                <a:solidFill>
                  <a:srgbClr val="555555"/>
                </a:solidFill>
                <a:latin typeface="Noto Sans SC"/>
                <a:ea typeface="Noto Sans SC"/>
                <a:cs typeface="Noto Sans SC"/>
                <a:sym typeface="Noto Sans SC"/>
              </a:rPr>
              <a:t>。</a:t>
            </a:r>
          </a:p>
          <a:p>
            <a:pPr algn="l">
              <a:lnSpc>
                <a:spcPct val="125000"/>
              </a:lnSpc>
              <a:buClr>
                <a:srgbClr val="555555"/>
              </a:buClr>
            </a:pPr>
            <a:r>
              <a:rPr lang="en-US" sz="1800" b="1" i="0" u="none" strike="noStrike" dirty="0" err="1">
                <a:solidFill>
                  <a:srgbClr val="555555"/>
                </a:solidFill>
                <a:latin typeface="Noto Sans SC"/>
                <a:ea typeface="Noto Sans SC"/>
                <a:cs typeface="Noto Sans SC"/>
                <a:sym typeface="Noto Sans SC"/>
              </a:rPr>
              <a:t>正常睡觉：</a:t>
            </a:r>
            <a:r>
              <a:rPr lang="en-US" sz="1800" b="0" i="0" u="none" strike="noStrike" dirty="0" err="1">
                <a:solidFill>
                  <a:srgbClr val="555555"/>
                </a:solidFill>
                <a:latin typeface="Noto Sans SC"/>
                <a:ea typeface="Noto Sans SC"/>
                <a:cs typeface="Noto Sans SC"/>
                <a:sym typeface="Noto Sans SC"/>
              </a:rPr>
              <a:t>在卧室睡觉，摄像头未覆盖，不监测</a:t>
            </a:r>
            <a:r>
              <a:rPr lang="en-US" sz="1800" b="0" i="0" u="none" strike="noStrike" dirty="0">
                <a:solidFill>
                  <a:srgbClr val="555555"/>
                </a:solidFill>
                <a:latin typeface="Noto Sans SC"/>
                <a:ea typeface="Noto Sans SC"/>
                <a:cs typeface="Noto Sans SC"/>
                <a:sym typeface="Noto Sans SC"/>
              </a:rPr>
              <a:t>。</a:t>
            </a:r>
          </a:p>
        </p:txBody>
      </p:sp>
      <p:sp>
        <p:nvSpPr>
          <p:cNvPr id="12" name="AutoShape 12"/>
          <p:cNvSpPr/>
          <p:nvPr/>
        </p:nvSpPr>
        <p:spPr>
          <a:xfrm>
            <a:off x="762000" y="4961271"/>
            <a:ext cx="10668000" cy="1313693"/>
          </a:xfrm>
          <a:prstGeom prst="roundRect">
            <a:avLst>
              <a:gd name="adj" fmla="val 11111"/>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376528"/>
            <a:ext cx="406400" cy="406400"/>
          </a:xfrm>
          <a:prstGeom prst="rect">
            <a:avLst/>
          </a:prstGeom>
        </p:spPr>
      </p:pic>
      <p:sp>
        <p:nvSpPr>
          <p:cNvPr id="14" name="AutoShape 14"/>
          <p:cNvSpPr/>
          <p:nvPr/>
        </p:nvSpPr>
        <p:spPr>
          <a:xfrm>
            <a:off x="1524000" y="5198728"/>
            <a:ext cx="152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设计理念</a:t>
            </a:r>
            <a:endParaRPr lang="en-US" sz="1100"/>
          </a:p>
        </p:txBody>
      </p:sp>
      <p:sp>
        <p:nvSpPr>
          <p:cNvPr id="15" name="AutoShape 15"/>
          <p:cNvSpPr/>
          <p:nvPr/>
        </p:nvSpPr>
        <p:spPr>
          <a:xfrm>
            <a:off x="1524000" y="5579728"/>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555555"/>
                </a:solidFill>
                <a:latin typeface="Noto Sans SC"/>
                <a:ea typeface="Noto Sans SC"/>
                <a:cs typeface="Noto Sans SC"/>
                <a:sym typeface="Noto Sans SC"/>
              </a:rPr>
              <a:t>关注“不合理的时间出现在不合理的地方”，为独居老人提供额外的夜间安全保障。</a:t>
            </a:r>
            <a:endParaRPr lang="en-US" sz="1100"/>
          </a:p>
        </p:txBody>
      </p:sp>
      <p:sp>
        <p:nvSpPr>
          <p:cNvPr id="16" name="AutoShape 16"/>
          <p:cNvSpPr/>
          <p:nvPr/>
        </p:nvSpPr>
        <p:spPr>
          <a:xfrm>
            <a:off x="0" y="6781800"/>
            <a:ext cx="12192000" cy="762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5)</a:t>
            </a:r>
            <a:r>
              <a:rPr kumimoji="0" lang="en-US" sz="36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核心技术解析：目标检测基础</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4" name="AutoShape 4"/>
          <p:cNvSpPr/>
          <p:nvPr/>
        </p:nvSpPr>
        <p:spPr>
          <a:xfrm>
            <a:off x="762000" y="1397000"/>
            <a:ext cx="5207000" cy="1524000"/>
          </a:xfrm>
          <a:prstGeom prst="roundRect">
            <a:avLst>
              <a:gd name="adj" fmla="val 8333"/>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651000"/>
            <a:ext cx="406400" cy="406400"/>
          </a:xfrm>
          <a:prstGeom prst="rect">
            <a:avLst/>
          </a:prstGeom>
        </p:spPr>
      </p:pic>
      <p:sp>
        <p:nvSpPr>
          <p:cNvPr id="6" name="AutoShape 6"/>
          <p:cNvSpPr/>
          <p:nvPr/>
        </p:nvSpPr>
        <p:spPr>
          <a:xfrm>
            <a:off x="1524000" y="1625600"/>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定义</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7" name="AutoShape 7"/>
          <p:cNvSpPr/>
          <p:nvPr/>
        </p:nvSpPr>
        <p:spPr>
          <a:xfrm>
            <a:off x="1524000" y="2032000"/>
            <a:ext cx="4191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计算机视觉核心任务，从图像中</a:t>
            </a:r>
            <a:r>
              <a:rPr kumimoji="0" lang="en-US" sz="1600" b="1" i="0" u="none" strike="noStrike" kern="0" cap="none" spc="0" normalizeH="0" baseline="0" noProof="0">
                <a:ln>
                  <a:noFill/>
                </a:ln>
                <a:solidFill>
                  <a:srgbClr val="333333"/>
                </a:solidFill>
                <a:effectLst/>
                <a:uLnTx/>
                <a:uFillTx/>
                <a:latin typeface="Noto Sans SC"/>
                <a:ea typeface="Noto Sans SC"/>
                <a:cs typeface="Noto Sans SC"/>
                <a:sym typeface="Noto Sans SC"/>
              </a:rPr>
              <a:t>定位并识别</a:t>
            </a: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目标，输出类别与边界框坐标。</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8" name="AutoShape 8"/>
          <p:cNvSpPr/>
          <p:nvPr/>
        </p:nvSpPr>
        <p:spPr>
          <a:xfrm>
            <a:off x="6223000" y="1397000"/>
            <a:ext cx="5207000" cy="1524000"/>
          </a:xfrm>
          <a:prstGeom prst="roundRect">
            <a:avLst>
              <a:gd name="adj" fmla="val 8333"/>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651000"/>
            <a:ext cx="406400" cy="406400"/>
          </a:xfrm>
          <a:prstGeom prst="rect">
            <a:avLst/>
          </a:prstGeom>
        </p:spPr>
      </p:pic>
      <p:sp>
        <p:nvSpPr>
          <p:cNvPr id="10" name="AutoShape 10"/>
          <p:cNvSpPr/>
          <p:nvPr/>
        </p:nvSpPr>
        <p:spPr>
          <a:xfrm>
            <a:off x="6985000" y="1625600"/>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核心目标</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6985000" y="2032000"/>
            <a:ext cx="4191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同时完成两项任务：</a:t>
            </a:r>
            <a:b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b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1.</a:t>
            </a:r>
            <a:r>
              <a:rPr kumimoji="0" lang="en-US" sz="1600" b="1" i="0" u="none" strike="noStrike" kern="0" cap="none" spc="0" normalizeH="0" baseline="0" noProof="0">
                <a:ln>
                  <a:noFill/>
                </a:ln>
                <a:solidFill>
                  <a:srgbClr val="333333"/>
                </a:solidFill>
                <a:effectLst/>
                <a:uLnTx/>
                <a:uFillTx/>
                <a:latin typeface="Noto Sans SC"/>
                <a:ea typeface="Noto Sans SC"/>
                <a:cs typeface="Noto Sans SC"/>
                <a:sym typeface="Noto Sans SC"/>
              </a:rPr>
              <a:t>分类</a:t>
            </a: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（识别是什么物体）</a:t>
            </a:r>
            <a:b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b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2.</a:t>
            </a:r>
            <a:r>
              <a:rPr kumimoji="0" lang="en-US" sz="1600" b="1" i="0" u="none" strike="noStrike" kern="0" cap="none" spc="0" normalizeH="0" baseline="0" noProof="0">
                <a:ln>
                  <a:noFill/>
                </a:ln>
                <a:solidFill>
                  <a:srgbClr val="333333"/>
                </a:solidFill>
                <a:effectLst/>
                <a:uLnTx/>
                <a:uFillTx/>
                <a:latin typeface="Noto Sans SC"/>
                <a:ea typeface="Noto Sans SC"/>
                <a:cs typeface="Noto Sans SC"/>
                <a:sym typeface="Noto Sans SC"/>
              </a:rPr>
              <a:t>定位</a:t>
            </a: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（找到物体在哪里）</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2" name="AutoShape 12"/>
          <p:cNvSpPr/>
          <p:nvPr/>
        </p:nvSpPr>
        <p:spPr>
          <a:xfrm>
            <a:off x="762000" y="3175000"/>
            <a:ext cx="5207000" cy="1524000"/>
          </a:xfrm>
          <a:prstGeom prst="roundRect">
            <a:avLst>
              <a:gd name="adj" fmla="val 8333"/>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429000"/>
            <a:ext cx="406400" cy="406400"/>
          </a:xfrm>
          <a:prstGeom prst="rect">
            <a:avLst/>
          </a:prstGeom>
        </p:spPr>
      </p:pic>
      <p:sp>
        <p:nvSpPr>
          <p:cNvPr id="14" name="AutoShape 14"/>
          <p:cNvSpPr/>
          <p:nvPr/>
        </p:nvSpPr>
        <p:spPr>
          <a:xfrm>
            <a:off x="1524000" y="3403600"/>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典型流程</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5" name="AutoShape 15"/>
          <p:cNvSpPr/>
          <p:nvPr/>
        </p:nvSpPr>
        <p:spPr>
          <a:xfrm>
            <a:off x="1524000" y="3810000"/>
            <a:ext cx="4191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图像输入 → 特征提取 → 候选框生成 → 类别预测 → 后处理(NMS) → 结果输出。</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6" name="AutoShape 16"/>
          <p:cNvSpPr/>
          <p:nvPr/>
        </p:nvSpPr>
        <p:spPr>
          <a:xfrm>
            <a:off x="6223000" y="3175000"/>
            <a:ext cx="5207000" cy="1524000"/>
          </a:xfrm>
          <a:prstGeom prst="roundRect">
            <a:avLst>
              <a:gd name="adj" fmla="val 8333"/>
            </a:avLst>
          </a:prstGeom>
          <a:solidFill>
            <a:srgbClr val="FFFFFF">
              <a:alpha val="90000"/>
            </a:srgbClr>
          </a:solidFill>
          <a:ln cap="flat" cmpd="sng">
            <a:solidFill>
              <a:srgbClr val="E6CFCF">
                <a:alpha val="9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429000"/>
            <a:ext cx="406400" cy="406400"/>
          </a:xfrm>
          <a:prstGeom prst="rect">
            <a:avLst/>
          </a:prstGeom>
        </p:spPr>
      </p:pic>
      <p:sp>
        <p:nvSpPr>
          <p:cNvPr id="18" name="AutoShape 18"/>
          <p:cNvSpPr/>
          <p:nvPr/>
        </p:nvSpPr>
        <p:spPr>
          <a:xfrm>
            <a:off x="6985000" y="3403600"/>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应用场景</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9" name="AutoShape 19"/>
          <p:cNvSpPr/>
          <p:nvPr/>
        </p:nvSpPr>
        <p:spPr>
          <a:xfrm>
            <a:off x="6985000" y="3810000"/>
            <a:ext cx="4191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333333"/>
                </a:solidFill>
                <a:effectLst/>
                <a:uLnTx/>
                <a:uFillTx/>
                <a:latin typeface="Noto Sans SC"/>
                <a:ea typeface="Noto Sans SC"/>
                <a:cs typeface="Noto Sans SC"/>
                <a:sym typeface="Noto Sans SC"/>
              </a:rPr>
              <a:t>广泛应用于安防监控、自动驾驶辅助、智能家居交互及医疗影像智能分析等领域。</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3600" b="1" i="0" u="none" strike="noStrike" kern="0" cap="none" spc="0" normalizeH="0" baseline="0" noProof="0">
                <a:ln>
                  <a:noFill/>
                </a:ln>
                <a:solidFill>
                  <a:srgbClr val="333333"/>
                </a:solidFill>
                <a:effectLst/>
                <a:uLnTx/>
                <a:uFillTx/>
                <a:latin typeface="Noto Sans SC"/>
                <a:ea typeface="Noto Sans SC"/>
                <a:cs typeface="Noto Sans SC"/>
                <a:sym typeface="Noto Sans SC"/>
              </a:rPr>
              <a:t>核心技术创新解析：跌倒检测系统架构</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4"/>
          <p:cNvSpPr/>
          <p:nvPr/>
        </p:nvSpPr>
        <p:spPr>
          <a:xfrm>
            <a:off x="508000" y="1651000"/>
            <a:ext cx="3683000" cy="4064000"/>
          </a:xfrm>
          <a:prstGeom prst="roundRect">
            <a:avLst>
              <a:gd name="adj" fmla="val 3448"/>
            </a:avLst>
          </a:prstGeom>
          <a:solidFill>
            <a:srgbClr val="FFFFFF">
              <a:alpha val="100000"/>
            </a:srgbClr>
          </a:solidFill>
          <a:ln w="12700" cap="flat" cmpd="sng">
            <a:solidFill>
              <a:srgbClr val="4CAF50">
                <a:alpha val="30000"/>
              </a:srgbClr>
            </a:solidFill>
            <a:prstDash val="solid"/>
            <a:round/>
          </a:ln>
          <a:effectLst>
            <a:outerShdw blurRad="127000" dist="50800" dir="5400000" algn="tl" rotWithShape="0">
              <a:srgbClr val="000000">
                <a:alpha val="8000"/>
              </a:srgbClr>
            </a:outerShdw>
          </a:effectLst>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2146300"/>
            <a:ext cx="406400" cy="406400"/>
          </a:xfrm>
          <a:prstGeom prst="rect">
            <a:avLst/>
          </a:prstGeom>
        </p:spPr>
      </p:pic>
      <p:sp>
        <p:nvSpPr>
          <p:cNvPr id="6" name="AutoShape 6"/>
          <p:cNvSpPr/>
          <p:nvPr/>
        </p:nvSpPr>
        <p:spPr>
          <a:xfrm>
            <a:off x="1270000" y="2133600"/>
            <a:ext cx="279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333333"/>
                </a:solidFill>
                <a:effectLst/>
                <a:uLnTx/>
                <a:uFillTx/>
                <a:latin typeface="Noto Sans SC"/>
                <a:ea typeface="Noto Sans SC"/>
                <a:cs typeface="Noto Sans SC"/>
                <a:sym typeface="Noto Sans SC"/>
              </a:rPr>
              <a:t>检测模块：YOLO11</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7" name="AutoShape 7"/>
          <p:cNvSpPr/>
          <p:nvPr/>
        </p:nvSpPr>
        <p:spPr>
          <a:xfrm>
            <a:off x="762000" y="2286000"/>
            <a:ext cx="3175000" cy="304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功能：</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实时检测人体姿态，输出6维特征（坐标、尺寸、类别概率）</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类别：</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正常状态 vs 跌倒状态</a:t>
            </a: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输出：</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[cx, cy, w, h, normal, fallen]</a:t>
            </a: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后处理：</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NMS非极大值抑制（阈值0.45）</a:t>
            </a:r>
          </a:p>
        </p:txBody>
      </p:sp>
      <p:sp>
        <p:nvSpPr>
          <p:cNvPr id="8" name="AutoShape 8"/>
          <p:cNvSpPr/>
          <p:nvPr/>
        </p:nvSpPr>
        <p:spPr>
          <a:xfrm>
            <a:off x="4445000" y="1651000"/>
            <a:ext cx="3683000" cy="4064000"/>
          </a:xfrm>
          <a:prstGeom prst="roundRect">
            <a:avLst>
              <a:gd name="adj" fmla="val 3448"/>
            </a:avLst>
          </a:prstGeom>
          <a:solidFill>
            <a:srgbClr val="FFFFFF">
              <a:alpha val="100000"/>
            </a:srgbClr>
          </a:solidFill>
          <a:ln w="12700" cap="flat" cmpd="sng">
            <a:solidFill>
              <a:srgbClr val="4CAF50">
                <a:alpha val="30000"/>
              </a:srgbClr>
            </a:solidFill>
            <a:prstDash val="solid"/>
            <a:round/>
          </a:ln>
          <a:effectLst>
            <a:outerShdw blurRad="127000" dist="50800" dir="5400000" algn="tl" rotWithShape="0">
              <a:srgbClr val="000000">
                <a:alpha val="8000"/>
              </a:srgbClr>
            </a:outerShdw>
          </a:effectLst>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46300"/>
            <a:ext cx="406400" cy="406400"/>
          </a:xfrm>
          <a:prstGeom prst="rect">
            <a:avLst/>
          </a:prstGeom>
        </p:spPr>
      </p:pic>
      <p:sp>
        <p:nvSpPr>
          <p:cNvPr id="10" name="AutoShape 10"/>
          <p:cNvSpPr/>
          <p:nvPr/>
        </p:nvSpPr>
        <p:spPr>
          <a:xfrm>
            <a:off x="5207000" y="2133600"/>
            <a:ext cx="279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333333"/>
                </a:solidFill>
                <a:effectLst/>
                <a:uLnTx/>
                <a:uFillTx/>
                <a:latin typeface="Noto Sans SC"/>
                <a:ea typeface="Noto Sans SC"/>
                <a:cs typeface="Noto Sans SC"/>
                <a:sym typeface="Noto Sans SC"/>
              </a:rPr>
              <a:t>推理优化：ONNX</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4699000" y="2286000"/>
            <a:ext cx="3175000" cy="304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格式：</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ONNX跨平台模型格式</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框架：</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ONNX Runtime（支持CUDA/CPU）</a:t>
            </a: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优势：</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适配居家边缘设备，降低部署门槛</a:t>
            </a: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性能：</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支持实时检测（约25 FPS）</a:t>
            </a:r>
          </a:p>
        </p:txBody>
      </p:sp>
      <p:sp>
        <p:nvSpPr>
          <p:cNvPr id="12" name="AutoShape 12"/>
          <p:cNvSpPr/>
          <p:nvPr/>
        </p:nvSpPr>
        <p:spPr>
          <a:xfrm>
            <a:off x="8382000" y="1651000"/>
            <a:ext cx="3683000" cy="4064000"/>
          </a:xfrm>
          <a:prstGeom prst="roundRect">
            <a:avLst>
              <a:gd name="adj" fmla="val 3448"/>
            </a:avLst>
          </a:prstGeom>
          <a:solidFill>
            <a:srgbClr val="FFFFFF">
              <a:alpha val="100000"/>
            </a:srgbClr>
          </a:solidFill>
          <a:ln w="12700" cap="flat" cmpd="sng">
            <a:solidFill>
              <a:srgbClr val="4CAF50">
                <a:alpha val="30000"/>
              </a:srgbClr>
            </a:solidFill>
            <a:prstDash val="solid"/>
            <a:round/>
          </a:ln>
          <a:effectLst>
            <a:outerShdw blurRad="127000" dist="50800" dir="5400000" algn="tl" rotWithShape="0">
              <a:srgbClr val="000000">
                <a:alpha val="8000"/>
              </a:srgbClr>
            </a:outerShdw>
          </a:effectLst>
        </p:spPr>
        <p:txBody>
          <a:bodyPr vert="horz"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6000" y="2146300"/>
            <a:ext cx="406400" cy="406400"/>
          </a:xfrm>
          <a:prstGeom prst="rect">
            <a:avLst/>
          </a:prstGeom>
        </p:spPr>
      </p:pic>
      <p:sp>
        <p:nvSpPr>
          <p:cNvPr id="14" name="AutoShape 14"/>
          <p:cNvSpPr/>
          <p:nvPr/>
        </p:nvSpPr>
        <p:spPr>
          <a:xfrm>
            <a:off x="9144000" y="2133600"/>
            <a:ext cx="279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333333"/>
                </a:solidFill>
                <a:effectLst/>
                <a:uLnTx/>
                <a:uFillTx/>
                <a:latin typeface="Noto Sans SC"/>
                <a:ea typeface="Noto Sans SC"/>
                <a:cs typeface="Noto Sans SC"/>
                <a:sym typeface="Noto Sans SC"/>
              </a:rPr>
              <a:t>误报抑制：多帧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5" name="AutoShape 15"/>
          <p:cNvSpPr/>
          <p:nvPr/>
        </p:nvSpPr>
        <p:spPr>
          <a:xfrm>
            <a:off x="8636000" y="2286000"/>
            <a:ext cx="3175000" cy="304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策略：</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连续5帧检测到跌倒才判定为有效事件</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目标：</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过滤瞬时误检（如遮挡、姿态突变）</a:t>
            </a:r>
          </a:p>
          <a:p>
            <a:pPr marL="0" marR="0" lvl="0" indent="0" algn="l" defTabSz="914400" rtl="0" eaLnBrk="1" fontAlgn="auto" latinLnBrk="0" hangingPunct="1">
              <a:lnSpc>
                <a:spcPct val="116666"/>
              </a:lnSpc>
              <a:spcBef>
                <a:spcPts val="0"/>
              </a:spcBef>
              <a:spcAft>
                <a:spcPts val="0"/>
              </a:spcAft>
              <a:buClr>
                <a:srgbClr val="000000"/>
              </a:buClr>
              <a:buSzTx/>
              <a:buFont typeface="Arial"/>
              <a:buNone/>
              <a:tabLst/>
              <a:defRPr/>
            </a:pPr>
            <a:r>
              <a:rPr kumimoji="0" lang="en-US" sz="1600" b="1" i="0" u="none" strike="noStrike" kern="0" cap="none" spc="0" normalizeH="0" baseline="0" noProof="0">
                <a:ln>
                  <a:noFill/>
                </a:ln>
                <a:solidFill>
                  <a:srgbClr val="4CAF50"/>
                </a:solidFill>
                <a:effectLst/>
                <a:uLnTx/>
                <a:uFillTx/>
                <a:latin typeface="Noto Sans SC"/>
                <a:ea typeface="Noto Sans SC"/>
                <a:cs typeface="Noto Sans SC"/>
                <a:sym typeface="Noto Sans SC"/>
              </a:rPr>
              <a:t>效果：</a:t>
            </a:r>
            <a:r>
              <a:rPr kumimoji="0" lang="en-US" sz="1600" b="0" i="0" u="none" strike="noStrike" kern="0" cap="none" spc="0" normalizeH="0" baseline="0" noProof="0">
                <a:ln>
                  <a:noFill/>
                </a:ln>
                <a:solidFill>
                  <a:srgbClr val="555555"/>
                </a:solidFill>
                <a:effectLst/>
                <a:uLnTx/>
                <a:uFillTx/>
                <a:latin typeface="Noto Sans SC"/>
                <a:ea typeface="Noto Sans SC"/>
                <a:cs typeface="Noto Sans SC"/>
                <a:sym typeface="Noto Sans SC"/>
              </a:rPr>
              <a:t>显著降低假阳性率，提升系统鲁棒性</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3600" b="1" i="0" u="none" strike="noStrike" kern="0" cap="none" spc="0" normalizeH="0" baseline="0" noProof="0">
                <a:ln>
                  <a:noFill/>
                </a:ln>
                <a:solidFill>
                  <a:srgbClr val="333333"/>
                </a:solidFill>
                <a:effectLst/>
                <a:uLnTx/>
                <a:uFillTx/>
                <a:latin typeface="Noto Sans SC"/>
                <a:ea typeface="Noto Sans SC"/>
                <a:cs typeface="Noto Sans SC"/>
                <a:sym typeface="Noto Sans SC"/>
              </a:rPr>
              <a:t>核心技术解析：NMS非极大值抑制</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4"/>
          <p:cNvSpPr/>
          <p:nvPr/>
        </p:nvSpPr>
        <p:spPr>
          <a:xfrm>
            <a:off x="762000" y="1397000"/>
            <a:ext cx="10668000" cy="1143000"/>
          </a:xfrm>
          <a:prstGeom prst="roundRect">
            <a:avLst>
              <a:gd name="adj" fmla="val 11111"/>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765300"/>
            <a:ext cx="406400" cy="406400"/>
          </a:xfrm>
          <a:prstGeom prst="rect">
            <a:avLst/>
          </a:prstGeom>
        </p:spPr>
      </p:pic>
      <p:sp>
        <p:nvSpPr>
          <p:cNvPr id="6" name="AutoShape 6"/>
          <p:cNvSpPr/>
          <p:nvPr/>
        </p:nvSpPr>
        <p:spPr>
          <a:xfrm>
            <a:off x="1651000" y="1524000"/>
            <a:ext cx="889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什么是 NMS？</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7" name="AutoShape 7"/>
          <p:cNvSpPr/>
          <p:nvPr/>
        </p:nvSpPr>
        <p:spPr>
          <a:xfrm>
            <a:off x="1651000" y="1905000"/>
            <a:ext cx="889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555555"/>
                </a:solidFill>
                <a:effectLst/>
                <a:uLnTx/>
                <a:uFillTx/>
                <a:latin typeface="Noto Sans SC"/>
                <a:ea typeface="Noto Sans SC"/>
                <a:cs typeface="Noto Sans SC"/>
                <a:sym typeface="Noto Sans SC"/>
              </a:rPr>
              <a:t>目标检测的关键后处理步骤，用于去除冗余检测框，保留最准确的目标框。</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8" name="AutoShape 8"/>
          <p:cNvSpPr/>
          <p:nvPr/>
        </p:nvSpPr>
        <p:spPr>
          <a:xfrm>
            <a:off x="762000" y="2794000"/>
            <a:ext cx="10668000" cy="1651000"/>
          </a:xfrm>
          <a:prstGeom prst="roundRect">
            <a:avLst>
              <a:gd name="adj" fmla="val 7692"/>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416300"/>
            <a:ext cx="406400" cy="406400"/>
          </a:xfrm>
          <a:prstGeom prst="rect">
            <a:avLst/>
          </a:prstGeom>
        </p:spPr>
      </p:pic>
      <p:sp>
        <p:nvSpPr>
          <p:cNvPr id="10" name="AutoShape 10"/>
          <p:cNvSpPr/>
          <p:nvPr/>
        </p:nvSpPr>
        <p:spPr>
          <a:xfrm>
            <a:off x="1651000" y="2921000"/>
            <a:ext cx="889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核心原理流程</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1651000" y="3302000"/>
            <a:ext cx="9398000" cy="1016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555555"/>
                </a:solidFill>
                <a:effectLst/>
                <a:uLnTx/>
                <a:uFillTx/>
                <a:latin typeface="Noto Sans SC"/>
                <a:ea typeface="Noto Sans SC"/>
                <a:cs typeface="Noto Sans SC"/>
                <a:sym typeface="Noto Sans SC"/>
              </a:rPr>
              <a:t>1. 排序：</a:t>
            </a:r>
            <a:r>
              <a:rPr kumimoji="0" lang="en-US" sz="1800" b="0" i="0" u="none" strike="noStrike" kern="0" cap="none" spc="0" normalizeH="0" baseline="0" noProof="0">
                <a:ln>
                  <a:noFill/>
                </a:ln>
                <a:solidFill>
                  <a:srgbClr val="555555"/>
                </a:solidFill>
                <a:effectLst/>
                <a:uLnTx/>
                <a:uFillTx/>
                <a:latin typeface="Noto Sans SC"/>
                <a:ea typeface="Noto Sans SC"/>
                <a:cs typeface="Noto Sans SC"/>
                <a:sym typeface="Noto Sans SC"/>
              </a:rPr>
              <a:t>按置信度对候选框排序，保留最高分框。</a:t>
            </a:r>
            <a:endParaRPr kumimoji="0" lang="en-US" sz="11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555555"/>
                </a:solidFill>
                <a:effectLst/>
                <a:uLnTx/>
                <a:uFillTx/>
                <a:latin typeface="Noto Sans SC"/>
                <a:ea typeface="Noto Sans SC"/>
                <a:cs typeface="Noto Sans SC"/>
                <a:sym typeface="Noto Sans SC"/>
              </a:rPr>
              <a:t>2. 计算：</a:t>
            </a:r>
            <a:r>
              <a:rPr kumimoji="0" lang="en-US" sz="1800" b="0" i="0" u="none" strike="noStrike" kern="0" cap="none" spc="0" normalizeH="0" baseline="0" noProof="0">
                <a:ln>
                  <a:noFill/>
                </a:ln>
                <a:solidFill>
                  <a:srgbClr val="555555"/>
                </a:solidFill>
                <a:effectLst/>
                <a:uLnTx/>
                <a:uFillTx/>
                <a:latin typeface="Noto Sans SC"/>
                <a:ea typeface="Noto Sans SC"/>
                <a:cs typeface="Noto Sans SC"/>
                <a:sym typeface="Noto Sans SC"/>
              </a:rPr>
              <a:t>计算其余框与当前框的</a:t>
            </a:r>
            <a:r>
              <a:rPr kumimoji="0" lang="en-US" sz="1800" b="1" i="0" u="none" strike="noStrike" kern="0" cap="none" spc="0" normalizeH="0" baseline="0" noProof="0">
                <a:ln>
                  <a:noFill/>
                </a:ln>
                <a:solidFill>
                  <a:srgbClr val="4CAF50"/>
                </a:solidFill>
                <a:effectLst/>
                <a:uLnTx/>
                <a:uFillTx/>
                <a:latin typeface="Noto Sans SC"/>
                <a:ea typeface="Noto Sans SC"/>
                <a:cs typeface="Noto Sans SC"/>
                <a:sym typeface="Noto Sans SC"/>
              </a:rPr>
              <a:t>交并比（IoU）</a:t>
            </a:r>
            <a:r>
              <a:rPr kumimoji="0" lang="en-US" sz="1800" b="0" i="0" u="none" strike="noStrike" kern="0" cap="none" spc="0" normalizeH="0" baseline="0" noProof="0">
                <a:ln>
                  <a:noFill/>
                </a:ln>
                <a:solidFill>
                  <a:srgbClr val="555555"/>
                </a:solidFill>
                <a:effectLst/>
                <a:uLnTx/>
                <a:uFillTx/>
                <a:latin typeface="Noto Sans SC"/>
                <a:ea typeface="Noto Sans SC"/>
                <a:cs typeface="Noto Sans SC"/>
                <a:sym typeface="Noto Sans SC"/>
              </a:rPr>
              <a:t>，超过阈值则抑制。</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a:ln>
                  <a:noFill/>
                </a:ln>
                <a:solidFill>
                  <a:srgbClr val="555555"/>
                </a:solidFill>
                <a:effectLst/>
                <a:uLnTx/>
                <a:uFillTx/>
                <a:latin typeface="Noto Sans SC"/>
                <a:ea typeface="Noto Sans SC"/>
                <a:cs typeface="Noto Sans SC"/>
                <a:sym typeface="Noto Sans SC"/>
              </a:rPr>
              <a:t>3. 迭代：</a:t>
            </a:r>
            <a:r>
              <a:rPr kumimoji="0" lang="en-US" sz="1800" b="0" i="0" u="none" strike="noStrike" kern="0" cap="none" spc="0" normalizeH="0" baseline="0" noProof="0">
                <a:ln>
                  <a:noFill/>
                </a:ln>
                <a:solidFill>
                  <a:srgbClr val="555555"/>
                </a:solidFill>
                <a:effectLst/>
                <a:uLnTx/>
                <a:uFillTx/>
                <a:latin typeface="Noto Sans SC"/>
                <a:ea typeface="Noto Sans SC"/>
                <a:cs typeface="Noto Sans SC"/>
                <a:sym typeface="Noto Sans SC"/>
              </a:rPr>
              <a:t>重复上述步骤，直至处理完所有框。</a:t>
            </a:r>
          </a:p>
        </p:txBody>
      </p:sp>
      <p:sp>
        <p:nvSpPr>
          <p:cNvPr id="12" name="AutoShape 12"/>
          <p:cNvSpPr/>
          <p:nvPr/>
        </p:nvSpPr>
        <p:spPr>
          <a:xfrm>
            <a:off x="762000" y="4699000"/>
            <a:ext cx="10668000" cy="1143000"/>
          </a:xfrm>
          <a:prstGeom prst="roundRect">
            <a:avLst>
              <a:gd name="adj" fmla="val 11111"/>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67300"/>
            <a:ext cx="406400" cy="406400"/>
          </a:xfrm>
          <a:prstGeom prst="rect">
            <a:avLst/>
          </a:prstGeom>
        </p:spPr>
      </p:pic>
      <p:sp>
        <p:nvSpPr>
          <p:cNvPr id="14" name="AutoShape 14"/>
          <p:cNvSpPr/>
          <p:nvPr/>
        </p:nvSpPr>
        <p:spPr>
          <a:xfrm>
            <a:off x="1651000" y="4826000"/>
            <a:ext cx="889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技术价值与应用</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5" name="AutoShape 15"/>
          <p:cNvSpPr/>
          <p:nvPr/>
        </p:nvSpPr>
        <p:spPr>
          <a:xfrm>
            <a:off x="1651000" y="5207000"/>
            <a:ext cx="889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0" i="0" u="none" strike="noStrike" kern="0" cap="none" spc="0" normalizeH="0" baseline="0" noProof="0" dirty="0" err="1">
                <a:ln>
                  <a:noFill/>
                </a:ln>
                <a:solidFill>
                  <a:srgbClr val="555555"/>
                </a:solidFill>
                <a:effectLst/>
                <a:uLnTx/>
                <a:uFillTx/>
                <a:latin typeface="Noto Sans SC"/>
                <a:ea typeface="Noto Sans SC"/>
                <a:cs typeface="Noto Sans SC"/>
                <a:sym typeface="Noto Sans SC"/>
              </a:rPr>
              <a:t>避免同一目标被多次检测，保证输出结果的简洁与准确，是YOLO系列的标准后处理环节</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16" name="AutoShape 16"/>
          <p:cNvSpPr/>
          <p:nvPr/>
        </p:nvSpPr>
        <p:spPr>
          <a:xfrm>
            <a:off x="0" y="6781800"/>
            <a:ext cx="12192000" cy="762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8051800" cy="584200"/>
          </a:xfrm>
          <a:prstGeom prst="rect">
            <a:avLst/>
          </a:prstGeom>
          <a:noFill/>
          <a:ln w="12700" cap="flat" cmpd="sng">
            <a:noFill/>
            <a:prstDash val="solid"/>
            <a:round/>
          </a:ln>
        </p:spPr>
        <p:txBody>
          <a:bodyPr vert="horz" wrap="non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3600" b="1" i="0" u="none" strike="noStrike" kern="0" cap="none" spc="0" normalizeH="0" baseline="0" noProof="0">
                <a:ln>
                  <a:noFill/>
                </a:ln>
                <a:solidFill>
                  <a:srgbClr val="333333"/>
                </a:solidFill>
                <a:effectLst/>
                <a:uLnTx/>
                <a:uFillTx/>
                <a:latin typeface="Noto Sans SC"/>
                <a:ea typeface="Noto Sans SC"/>
                <a:cs typeface="Noto Sans SC"/>
                <a:sym typeface="Noto Sans SC"/>
              </a:rPr>
              <a:t>核心技术解析：在本项目中的应用</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4" name="AutoShape 4"/>
          <p:cNvSpPr/>
          <p:nvPr/>
        </p:nvSpPr>
        <p:spPr>
          <a:xfrm>
            <a:off x="762000" y="1524000"/>
            <a:ext cx="3302000" cy="2286000"/>
          </a:xfrm>
          <a:prstGeom prst="roundRect">
            <a:avLst>
              <a:gd name="adj" fmla="val 5555"/>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95500" y="1714500"/>
            <a:ext cx="635000" cy="635000"/>
          </a:xfrm>
          <a:prstGeom prst="rect">
            <a:avLst/>
          </a:prstGeom>
        </p:spPr>
      </p:pic>
      <p:sp>
        <p:nvSpPr>
          <p:cNvPr id="6" name="AutoShape 6"/>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核心模块：YOLO11</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7" name="AutoShape 7"/>
          <p:cNvSpPr/>
          <p:nvPr/>
        </p:nvSpPr>
        <p:spPr>
          <a:xfrm>
            <a:off x="889000" y="2857500"/>
            <a:ext cx="3048000" cy="762000"/>
          </a:xfrm>
          <a:prstGeom prst="rect">
            <a:avLst/>
          </a:prstGeom>
          <a:noFill/>
          <a:ln w="12700" cap="flat" cmpd="sng">
            <a:noFill/>
            <a:prstDash val="solid"/>
            <a:round/>
          </a:ln>
        </p:spPr>
        <p:txBody>
          <a:bodyPr vert="horz" wrap="square" lIns="0" tIns="0" rIns="0" bIns="0" rtlCol="0" anchor="ctr" anchorCtr="0"/>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505050"/>
                </a:solidFill>
                <a:effectLst/>
                <a:uLnTx/>
                <a:uFillTx/>
                <a:latin typeface="Noto Sans SC"/>
                <a:ea typeface="Noto Sans SC"/>
                <a:cs typeface="Noto Sans SC"/>
                <a:sym typeface="Noto Sans SC"/>
              </a:rPr>
              <a:t>作为跌倒检测核心模型，输出人体目标的6维特征（坐标、宽高、正常/跌倒得分）。</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8" name="AutoShape 8"/>
          <p:cNvSpPr/>
          <p:nvPr/>
        </p:nvSpPr>
        <p:spPr>
          <a:xfrm>
            <a:off x="4445000" y="1524000"/>
            <a:ext cx="3302000" cy="2286000"/>
          </a:xfrm>
          <a:prstGeom prst="roundRect">
            <a:avLst>
              <a:gd name="adj" fmla="val 5555"/>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78500" y="1714500"/>
            <a:ext cx="635000" cy="635000"/>
          </a:xfrm>
          <a:prstGeom prst="rect">
            <a:avLst/>
          </a:prstGeom>
        </p:spPr>
      </p:pic>
      <p:sp>
        <p:nvSpPr>
          <p:cNvPr id="10" name="AutoShape 10"/>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优化适配：轻量化推理</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1" name="AutoShape 11"/>
          <p:cNvSpPr/>
          <p:nvPr/>
        </p:nvSpPr>
        <p:spPr>
          <a:xfrm>
            <a:off x="4572000" y="2857500"/>
            <a:ext cx="3048000" cy="762000"/>
          </a:xfrm>
          <a:prstGeom prst="rect">
            <a:avLst/>
          </a:prstGeom>
          <a:noFill/>
          <a:ln w="12700" cap="flat" cmpd="sng">
            <a:noFill/>
            <a:prstDash val="solid"/>
            <a:round/>
          </a:ln>
        </p:spPr>
        <p:txBody>
          <a:bodyPr vert="horz" wrap="square" lIns="0" tIns="0" rIns="0" bIns="0" rtlCol="0" anchor="ctr" anchorCtr="0"/>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505050"/>
                </a:solidFill>
                <a:effectLst/>
                <a:uLnTx/>
                <a:uFillTx/>
                <a:latin typeface="Noto Sans SC"/>
                <a:ea typeface="Noto Sans SC"/>
                <a:cs typeface="Noto Sans SC"/>
                <a:sym typeface="Noto Sans SC"/>
              </a:rPr>
              <a:t>采用ONNX轻量化格式，支持GPU/CPU双模式推理，满足居家场景实时监测需求。</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2" name="AutoShape 12"/>
          <p:cNvSpPr/>
          <p:nvPr/>
        </p:nvSpPr>
        <p:spPr>
          <a:xfrm>
            <a:off x="8128000" y="1524000"/>
            <a:ext cx="3302000" cy="2286000"/>
          </a:xfrm>
          <a:prstGeom prst="roundRect">
            <a:avLst>
              <a:gd name="adj" fmla="val 5555"/>
            </a:avLst>
          </a:prstGeom>
          <a:solidFill>
            <a:srgbClr val="FFFFFF">
              <a:alpha val="9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714500"/>
            <a:ext cx="635000" cy="635000"/>
          </a:xfrm>
          <a:prstGeom prst="rect">
            <a:avLst/>
          </a:prstGeom>
        </p:spPr>
      </p:pic>
      <p:sp>
        <p:nvSpPr>
          <p:cNvPr id="14" name="AutoShape 14"/>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4CAF50"/>
                </a:solidFill>
                <a:effectLst/>
                <a:uLnTx/>
                <a:uFillTx/>
                <a:latin typeface="Noto Sans SC"/>
                <a:ea typeface="Noto Sans SC"/>
                <a:cs typeface="Noto Sans SC"/>
                <a:sym typeface="Noto Sans SC"/>
              </a:rPr>
              <a:t>误报抑制：连续帧确认</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5" name="AutoShape 15"/>
          <p:cNvSpPr/>
          <p:nvPr/>
        </p:nvSpPr>
        <p:spPr>
          <a:xfrm>
            <a:off x="8255000" y="2857500"/>
            <a:ext cx="3048000" cy="762000"/>
          </a:xfrm>
          <a:prstGeom prst="rect">
            <a:avLst/>
          </a:prstGeom>
          <a:noFill/>
          <a:ln w="12700" cap="flat" cmpd="sng">
            <a:noFill/>
            <a:prstDash val="solid"/>
            <a:round/>
          </a:ln>
        </p:spPr>
        <p:txBody>
          <a:bodyPr vert="horz" wrap="square" lIns="0" tIns="0" rIns="0" bIns="0" rtlCol="0" anchor="ctr" anchorCtr="0"/>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505050"/>
                </a:solidFill>
                <a:effectLst/>
                <a:uLnTx/>
                <a:uFillTx/>
                <a:latin typeface="Noto Sans SC"/>
                <a:ea typeface="Noto Sans SC"/>
                <a:cs typeface="Noto Sans SC"/>
                <a:sym typeface="Noto Sans SC"/>
              </a:rPr>
              <a:t>结合连续帧确认机制（5帧连续检测跌倒才判定有效），进一步提升检测可靠性。</a:t>
            </a:r>
            <a:endParaRPr kumimoji="0" lang="en-US" sz="1100" b="0" i="0" u="none" strike="noStrike" kern="0" cap="none" spc="0" normalizeH="0" baseline="0" noProof="0">
              <a:ln>
                <a:noFill/>
              </a:ln>
              <a:solidFill>
                <a:srgbClr val="000000"/>
              </a:solidFill>
              <a:effectLst/>
              <a:uLnTx/>
              <a:uFillTx/>
              <a:latin typeface="Arial"/>
              <a:cs typeface="Arial"/>
              <a:sym typeface="Arial"/>
            </a:endParaRPr>
          </a:p>
        </p:txBody>
      </p:sp>
      <p:sp>
        <p:nvSpPr>
          <p:cNvPr id="16" name="AutoShape 16"/>
          <p:cNvSpPr/>
          <p:nvPr/>
        </p:nvSpPr>
        <p:spPr>
          <a:xfrm>
            <a:off x="762000" y="4318000"/>
            <a:ext cx="10668000" cy="25400"/>
          </a:xfrm>
          <a:prstGeom prst="roundRect">
            <a:avLst>
              <a:gd name="adj" fmla="val 0"/>
            </a:avLst>
          </a:prstGeom>
          <a:solidFill>
            <a:srgbClr val="4CAF50">
              <a:alpha val="3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AutoShape 17"/>
          <p:cNvSpPr/>
          <p:nvPr/>
        </p:nvSpPr>
        <p:spPr>
          <a:xfrm>
            <a:off x="536895" y="4572000"/>
            <a:ext cx="11006356" cy="1016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0" i="0" u="none" strike="noStrike" kern="0" cap="none" spc="0" normalizeH="0" baseline="0" noProof="0" dirty="0" err="1">
                <a:ln>
                  <a:noFill/>
                </a:ln>
                <a:solidFill>
                  <a:srgbClr val="646464"/>
                </a:solidFill>
                <a:effectLst/>
                <a:uLnTx/>
                <a:uFillTx/>
                <a:latin typeface="Noto Sans SC"/>
                <a:ea typeface="Noto Sans SC"/>
                <a:cs typeface="Noto Sans SC"/>
                <a:sym typeface="Noto Sans SC"/>
              </a:rPr>
              <a:t>通过算法模型升级、工程化部署优化与逻辑策略完善，构建了一套高效、精准、低误报的居家跌倒监测系统</a:t>
            </a:r>
            <a:r>
              <a:rPr kumimoji="0" lang="en-US" sz="1800" b="0" i="0" u="none" strike="noStrike" kern="0" cap="none" spc="0" normalizeH="0" baseline="0" noProof="0" dirty="0">
                <a:ln>
                  <a:noFill/>
                </a:ln>
                <a:solidFill>
                  <a:srgbClr val="646464"/>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800" b="0" i="0" u="none" strike="noStrike" kern="0" cap="none" spc="0" normalizeH="0" baseline="0" noProof="0" dirty="0" err="1">
                <a:ln>
                  <a:noFill/>
                </a:ln>
                <a:solidFill>
                  <a:srgbClr val="646464"/>
                </a:solidFill>
                <a:effectLst/>
                <a:uLnTx/>
                <a:uFillTx/>
                <a:latin typeface="Noto Sans SC"/>
                <a:ea typeface="Noto Sans SC"/>
                <a:cs typeface="Noto Sans SC"/>
                <a:sym typeface="Noto Sans SC"/>
              </a:rPr>
              <a:t>切实保障了老年人的居家安全</a:t>
            </a:r>
            <a:r>
              <a:rPr kumimoji="0" lang="en-US" sz="1800" b="0" i="0" u="none" strike="noStrike" kern="0" cap="none" spc="0" normalizeH="0" baseline="0" noProof="0" dirty="0">
                <a:ln>
                  <a:noFill/>
                </a:ln>
                <a:solidFill>
                  <a:srgbClr val="646464"/>
                </a:solidFill>
                <a:effectLst/>
                <a:uLnTx/>
                <a:uFillTx/>
                <a:latin typeface="Noto Sans SC"/>
                <a:ea typeface="Noto Sans SC"/>
                <a:cs typeface="Noto Sans SC"/>
                <a:sym typeface="Noto Sans SC"/>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en-US" sz="3600" b="1" i="0" u="none" strike="noStrike" dirty="0" err="1">
                <a:solidFill>
                  <a:srgbClr val="333333"/>
                </a:solidFill>
                <a:latin typeface="Noto Sans SC"/>
                <a:ea typeface="Noto Sans SC"/>
                <a:cs typeface="Noto Sans SC"/>
                <a:sym typeface="Noto Sans SC"/>
              </a:rPr>
              <a:t>隐私保护机制</a:t>
            </a:r>
            <a:endParaRPr lang="en-US" sz="1100" dirty="0"/>
          </a:p>
        </p:txBody>
      </p:sp>
      <p:sp>
        <p:nvSpPr>
          <p:cNvPr id="5" name="AutoShape 5"/>
          <p:cNvSpPr/>
          <p:nvPr/>
        </p:nvSpPr>
        <p:spPr>
          <a:xfrm>
            <a:off x="762000" y="2167025"/>
            <a:ext cx="3302000" cy="1397000"/>
          </a:xfrm>
          <a:prstGeom prst="roundRect">
            <a:avLst>
              <a:gd name="adj" fmla="val 9090"/>
            </a:avLst>
          </a:prstGeom>
          <a:solidFill>
            <a:srgbClr val="F5F5F5">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357525"/>
            <a:ext cx="304800" cy="304800"/>
          </a:xfrm>
          <a:prstGeom prst="rect">
            <a:avLst/>
          </a:prstGeom>
        </p:spPr>
      </p:pic>
      <p:sp>
        <p:nvSpPr>
          <p:cNvPr id="7" name="AutoShape 7"/>
          <p:cNvSpPr/>
          <p:nvPr/>
        </p:nvSpPr>
        <p:spPr>
          <a:xfrm>
            <a:off x="1333500" y="2319425"/>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隐私挑战</a:t>
            </a:r>
            <a:endParaRPr lang="en-US" sz="1100"/>
          </a:p>
        </p:txBody>
      </p:sp>
      <p:sp>
        <p:nvSpPr>
          <p:cNvPr id="8" name="AutoShape 8"/>
          <p:cNvSpPr/>
          <p:nvPr/>
        </p:nvSpPr>
        <p:spPr>
          <a:xfrm>
            <a:off x="952500" y="2738525"/>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dirty="0" err="1">
                <a:solidFill>
                  <a:srgbClr val="666666"/>
                </a:solidFill>
                <a:latin typeface="Noto Sans SC"/>
                <a:ea typeface="Noto Sans SC"/>
                <a:cs typeface="Noto Sans SC"/>
                <a:sym typeface="Noto Sans SC"/>
              </a:rPr>
              <a:t>传统监控存在全天候录像、数据存储隐患及内容易被滥用等风险，亟待技术升级</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9" name="AutoShape 9"/>
          <p:cNvSpPr/>
          <p:nvPr/>
        </p:nvSpPr>
        <p:spPr>
          <a:xfrm>
            <a:off x="762000" y="3818025"/>
            <a:ext cx="3302000" cy="1397000"/>
          </a:xfrm>
          <a:prstGeom prst="roundRect">
            <a:avLst>
              <a:gd name="adj" fmla="val 909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008525"/>
            <a:ext cx="304800" cy="304800"/>
          </a:xfrm>
          <a:prstGeom prst="rect">
            <a:avLst/>
          </a:prstGeom>
        </p:spPr>
      </p:pic>
      <p:sp>
        <p:nvSpPr>
          <p:cNvPr id="11" name="AutoShape 11"/>
          <p:cNvSpPr/>
          <p:nvPr/>
        </p:nvSpPr>
        <p:spPr>
          <a:xfrm>
            <a:off x="1333500" y="3970425"/>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核心优势</a:t>
            </a:r>
            <a:endParaRPr lang="en-US" sz="1100"/>
          </a:p>
        </p:txBody>
      </p:sp>
      <p:sp>
        <p:nvSpPr>
          <p:cNvPr id="12" name="AutoShape 12"/>
          <p:cNvSpPr/>
          <p:nvPr/>
        </p:nvSpPr>
        <p:spPr>
          <a:xfrm>
            <a:off x="952500" y="4389525"/>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通过技术手段实现法律合规，显著提升用户接受度，构建全方位的数据安全体系。</a:t>
            </a:r>
            <a:endParaRPr lang="en-US" sz="1100"/>
          </a:p>
        </p:txBody>
      </p:sp>
      <p:sp>
        <p:nvSpPr>
          <p:cNvPr id="13" name="AutoShape 13"/>
          <p:cNvSpPr/>
          <p:nvPr/>
        </p:nvSpPr>
        <p:spPr>
          <a:xfrm>
            <a:off x="4572000" y="1175626"/>
            <a:ext cx="685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4CAF50"/>
                </a:solidFill>
                <a:latin typeface="Noto Sans SC"/>
                <a:ea typeface="Noto Sans SC"/>
                <a:cs typeface="Noto Sans SC"/>
                <a:sym typeface="Noto Sans SC"/>
              </a:rPr>
              <a:t>解决方案：三大核心策略</a:t>
            </a:r>
            <a:endParaRPr lang="en-US" sz="1100"/>
          </a:p>
        </p:txBody>
      </p:sp>
      <p:sp>
        <p:nvSpPr>
          <p:cNvPr id="14" name="AutoShape 14"/>
          <p:cNvSpPr/>
          <p:nvPr/>
        </p:nvSpPr>
        <p:spPr>
          <a:xfrm>
            <a:off x="4572000" y="1683626"/>
            <a:ext cx="6858000" cy="1533617"/>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26000" y="2001126"/>
            <a:ext cx="508000" cy="508000"/>
          </a:xfrm>
          <a:prstGeom prst="rect">
            <a:avLst/>
          </a:prstGeom>
        </p:spPr>
      </p:pic>
      <p:sp>
        <p:nvSpPr>
          <p:cNvPr id="16" name="AutoShape 16"/>
          <p:cNvSpPr/>
          <p:nvPr/>
        </p:nvSpPr>
        <p:spPr>
          <a:xfrm>
            <a:off x="5524500" y="1810626"/>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人脸模糊技术</a:t>
            </a:r>
            <a:endParaRPr lang="en-US" sz="1100"/>
          </a:p>
        </p:txBody>
      </p:sp>
      <p:sp>
        <p:nvSpPr>
          <p:cNvPr id="17" name="AutoShape 17"/>
          <p:cNvSpPr/>
          <p:nvPr/>
        </p:nvSpPr>
        <p:spPr>
          <a:xfrm>
            <a:off x="5524500" y="2374506"/>
            <a:ext cx="5588000" cy="508000"/>
          </a:xfrm>
          <a:prstGeom prst="rect">
            <a:avLst/>
          </a:prstGeom>
          <a:noFill/>
          <a:ln w="12700" cap="flat" cmpd="sng">
            <a:noFill/>
            <a:prstDash val="solid"/>
            <a:round/>
          </a:ln>
        </p:spPr>
        <p:txBody>
          <a:bodyPr vert="horz" wrap="square" lIns="0" tIns="0" rIns="0" bIns="0" rtlCol="0" anchor="ctr" anchorCtr="0"/>
          <a:lstStyle/>
          <a:p>
            <a:r>
              <a:rPr lang="en-US" altLang="zh-CN" dirty="0" err="1">
                <a:solidFill>
                  <a:srgbClr val="666666"/>
                </a:solidFill>
                <a:latin typeface="Noto Sans SC"/>
                <a:ea typeface="Noto Sans SC"/>
              </a:rPr>
              <a:t>技术方案：MediaPipe</a:t>
            </a:r>
            <a:r>
              <a:rPr lang="en-US" altLang="zh-CN" dirty="0">
                <a:solidFill>
                  <a:srgbClr val="666666"/>
                </a:solidFill>
                <a:latin typeface="Noto Sans SC"/>
                <a:ea typeface="Noto Sans SC"/>
              </a:rPr>
              <a:t> </a:t>
            </a:r>
            <a:r>
              <a:rPr lang="en-US" altLang="zh-CN" dirty="0" err="1">
                <a:solidFill>
                  <a:srgbClr val="666666"/>
                </a:solidFill>
                <a:latin typeface="Noto Sans SC"/>
                <a:ea typeface="Noto Sans SC"/>
              </a:rPr>
              <a:t>全距模型</a:t>
            </a:r>
            <a:r>
              <a:rPr lang="en-US" altLang="zh-CN" dirty="0">
                <a:solidFill>
                  <a:srgbClr val="666666"/>
                </a:solidFill>
                <a:latin typeface="Noto Sans SC"/>
                <a:ea typeface="Noto Sans SC"/>
              </a:rPr>
              <a:t> + 高斯模糊（51px）。检测范围：支持0-5米远距离人脸检测，适应不同摄像头布局。基于深度学习，准确率高且性能轻量。</a:t>
            </a:r>
            <a:endParaRPr lang="zh-CN" altLang="zh-CN" dirty="0">
              <a:solidFill>
                <a:srgbClr val="666666"/>
              </a:solidFill>
              <a:latin typeface="Noto Sans SC"/>
              <a:ea typeface="Noto Sans SC"/>
            </a:endParaRPr>
          </a:p>
        </p:txBody>
      </p:sp>
      <p:sp>
        <p:nvSpPr>
          <p:cNvPr id="18" name="AutoShape 18"/>
          <p:cNvSpPr/>
          <p:nvPr/>
        </p:nvSpPr>
        <p:spPr>
          <a:xfrm>
            <a:off x="4572000" y="3438493"/>
            <a:ext cx="6858000" cy="1254899"/>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26000" y="3713885"/>
            <a:ext cx="508000" cy="508000"/>
          </a:xfrm>
          <a:prstGeom prst="rect">
            <a:avLst/>
          </a:prstGeom>
        </p:spPr>
      </p:pic>
      <p:sp>
        <p:nvSpPr>
          <p:cNvPr id="20" name="AutoShape 20"/>
          <p:cNvSpPr/>
          <p:nvPr/>
        </p:nvSpPr>
        <p:spPr>
          <a:xfrm>
            <a:off x="5524500" y="3600385"/>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333333"/>
                </a:solidFill>
                <a:latin typeface="Noto Sans SC"/>
                <a:ea typeface="Noto Sans SC"/>
                <a:cs typeface="Noto Sans SC"/>
                <a:sym typeface="Noto Sans SC"/>
              </a:rPr>
              <a:t>数据最小化原则</a:t>
            </a:r>
            <a:endParaRPr lang="en-US" sz="1100" dirty="0"/>
          </a:p>
        </p:txBody>
      </p:sp>
      <p:sp>
        <p:nvSpPr>
          <p:cNvPr id="21" name="AutoShape 21"/>
          <p:cNvSpPr/>
          <p:nvPr/>
        </p:nvSpPr>
        <p:spPr>
          <a:xfrm>
            <a:off x="5524500" y="4019887"/>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dirty="0" err="1">
                <a:solidFill>
                  <a:srgbClr val="666666"/>
                </a:solidFill>
                <a:latin typeface="Noto Sans SC"/>
                <a:ea typeface="Noto Sans SC"/>
                <a:cs typeface="Noto Sans SC"/>
                <a:sym typeface="Noto Sans SC"/>
              </a:rPr>
              <a:t>仅保存事件摘要、检测参数和配置，严禁存储原始视频流和未模糊帧，减少攻击面</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22" name="AutoShape 22"/>
          <p:cNvSpPr/>
          <p:nvPr/>
        </p:nvSpPr>
        <p:spPr>
          <a:xfrm>
            <a:off x="4572000" y="4916642"/>
            <a:ext cx="6858000" cy="1318664"/>
          </a:xfrm>
          <a:prstGeom prst="roundRect">
            <a:avLst>
              <a:gd name="adj" fmla="val 1111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26000" y="5234142"/>
            <a:ext cx="508000" cy="508000"/>
          </a:xfrm>
          <a:prstGeom prst="rect">
            <a:avLst/>
          </a:prstGeom>
        </p:spPr>
      </p:pic>
      <p:sp>
        <p:nvSpPr>
          <p:cNvPr id="24" name="AutoShape 24"/>
          <p:cNvSpPr/>
          <p:nvPr/>
        </p:nvSpPr>
        <p:spPr>
          <a:xfrm>
            <a:off x="5524500" y="5043642"/>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本地化处理机制</a:t>
            </a:r>
            <a:endParaRPr lang="en-US" sz="1100"/>
          </a:p>
        </p:txBody>
      </p:sp>
      <p:sp>
        <p:nvSpPr>
          <p:cNvPr id="25" name="AutoShape 25"/>
          <p:cNvSpPr/>
          <p:nvPr/>
        </p:nvSpPr>
        <p:spPr>
          <a:xfrm>
            <a:off x="5524500" y="5472767"/>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dirty="0" err="1">
                <a:solidFill>
                  <a:srgbClr val="666666"/>
                </a:solidFill>
                <a:latin typeface="Noto Sans SC"/>
                <a:ea typeface="Noto Sans SC"/>
                <a:cs typeface="Noto Sans SC"/>
                <a:sym typeface="Noto Sans SC"/>
              </a:rPr>
              <a:t>视频数据在本地服务器闭环处理，仅传输脱敏后的模糊帧，极大降低网络传输泄露风险</a:t>
            </a:r>
            <a:r>
              <a:rPr lang="en-US" sz="1400" b="0" i="0" u="none" strike="noStrike" dirty="0">
                <a:solidFill>
                  <a:srgbClr val="666666"/>
                </a:solidFill>
                <a:latin typeface="Noto Sans SC"/>
                <a:ea typeface="Noto Sans SC"/>
                <a:cs typeface="Noto Sans SC"/>
                <a:sym typeface="Noto Sans SC"/>
              </a:rPr>
              <a:t>。</a:t>
            </a:r>
            <a:endParaRPr lang="en-US" sz="1100" dirty="0"/>
          </a:p>
        </p:txBody>
      </p:sp>
      <p:sp>
        <p:nvSpPr>
          <p:cNvPr id="26" name="AutoShape 26"/>
          <p:cNvSpPr/>
          <p:nvPr/>
        </p:nvSpPr>
        <p:spPr>
          <a:xfrm>
            <a:off x="0" y="6781800"/>
            <a:ext cx="12192000" cy="762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6540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7)</a:t>
            </a:r>
            <a:r>
              <a:rPr lang="en-US" sz="3600" b="1" i="0" u="none" strike="noStrike" dirty="0" err="1">
                <a:solidFill>
                  <a:srgbClr val="333333"/>
                </a:solidFill>
                <a:latin typeface="Noto Sans SC"/>
                <a:ea typeface="Noto Sans SC"/>
                <a:cs typeface="Noto Sans SC"/>
                <a:sym typeface="Noto Sans SC"/>
              </a:rPr>
              <a:t>系统功能、创新点与技术优势</a:t>
            </a:r>
            <a:endParaRPr lang="en-US" sz="1100" dirty="0"/>
          </a:p>
        </p:txBody>
      </p:sp>
      <p:sp>
        <p:nvSpPr>
          <p:cNvPr id="5" name="AutoShape 5"/>
          <p:cNvSpPr/>
          <p:nvPr/>
        </p:nvSpPr>
        <p:spPr>
          <a:xfrm>
            <a:off x="762000" y="1524000"/>
            <a:ext cx="3302000" cy="4064000"/>
          </a:xfrm>
          <a:prstGeom prst="roundRect">
            <a:avLst>
              <a:gd name="adj" fmla="val 3846"/>
            </a:avLst>
          </a:prstGeom>
          <a:solidFill>
            <a:srgbClr val="FFFFFF">
              <a:alpha val="100000"/>
            </a:srgbClr>
          </a:solidFill>
          <a:ln w="12700" cap="flat" cmpd="sng">
            <a:solidFill>
              <a:srgbClr val="E0E0E0">
                <a:alpha val="100000"/>
              </a:srgbClr>
            </a:solid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09800" y="1714500"/>
            <a:ext cx="406400" cy="406400"/>
          </a:xfrm>
          <a:prstGeom prst="rect">
            <a:avLst/>
          </a:prstGeom>
        </p:spPr>
      </p:pic>
      <p:sp>
        <p:nvSpPr>
          <p:cNvPr id="7" name="AutoShape 7"/>
          <p:cNvSpPr/>
          <p:nvPr/>
        </p:nvSpPr>
        <p:spPr>
          <a:xfrm>
            <a:off x="1016000" y="2222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CAF50"/>
                </a:solidFill>
                <a:latin typeface="Noto Sans SC"/>
                <a:ea typeface="Noto Sans SC"/>
                <a:cs typeface="Noto Sans SC"/>
                <a:sym typeface="Noto Sans SC"/>
              </a:rPr>
              <a:t>6大核心功能</a:t>
            </a:r>
            <a:endParaRPr lang="en-US" sz="1100"/>
          </a:p>
        </p:txBody>
      </p:sp>
      <p:cxnSp>
        <p:nvCxnSpPr>
          <p:cNvPr id="8" name="Connector 8"/>
          <p:cNvCxnSpPr/>
          <p:nvPr/>
        </p:nvCxnSpPr>
        <p:spPr>
          <a:xfrm rot="-15626">
            <a:off x="1016014" y="2660650"/>
            <a:ext cx="2794000" cy="12700"/>
          </a:xfrm>
          <a:prstGeom prst="line">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9" name="AutoShape 9"/>
          <p:cNvSpPr/>
          <p:nvPr/>
        </p:nvSpPr>
        <p:spPr>
          <a:xfrm>
            <a:off x="1016000" y="2794000"/>
            <a:ext cx="2794000" cy="2286000"/>
          </a:xfrm>
          <a:prstGeom prst="rect">
            <a:avLst/>
          </a:prstGeom>
          <a:noFill/>
          <a:ln w="12700" cap="flat" cmpd="sng">
            <a:noFill/>
            <a:prstDash val="solid"/>
            <a:round/>
          </a:ln>
        </p:spPr>
        <p:txBody>
          <a:bodyPr vert="horz" wrap="square" lIns="0" tIns="0" rIns="0" bIns="0" rtlCol="0" anchor="t" anchorCtr="0"/>
          <a:lstStyle/>
          <a:p>
            <a:pPr marL="228600" indent="-228600" algn="l">
              <a:lnSpc>
                <a:spcPct val="108333"/>
              </a:lnSpc>
              <a:buClr>
                <a:srgbClr val="333333"/>
              </a:buClr>
              <a:buChar char="•"/>
              <a:defRPr/>
            </a:pPr>
            <a:r>
              <a:rPr lang="en-US" sz="1800" b="0" i="0" u="none" strike="noStrike">
                <a:solidFill>
                  <a:srgbClr val="333333"/>
                </a:solidFill>
                <a:latin typeface="Noto Sans SC"/>
                <a:ea typeface="Noto Sans SC"/>
                <a:cs typeface="Noto Sans SC"/>
                <a:sym typeface="Noto Sans SC"/>
              </a:rPr>
              <a:t>实时监控与视频检测</a:t>
            </a:r>
            <a:endParaRPr lang="en-US" sz="1100"/>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智能事件看板展示</a:t>
            </a:r>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多维度统计分析</a:t>
            </a:r>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数据可视化大屏</a:t>
            </a:r>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灵活的系统设置</a:t>
            </a:r>
          </a:p>
        </p:txBody>
      </p:sp>
      <p:sp>
        <p:nvSpPr>
          <p:cNvPr id="10" name="AutoShape 10"/>
          <p:cNvSpPr/>
          <p:nvPr/>
        </p:nvSpPr>
        <p:spPr>
          <a:xfrm>
            <a:off x="4445000" y="1524000"/>
            <a:ext cx="3302000" cy="4064000"/>
          </a:xfrm>
          <a:prstGeom prst="roundRect">
            <a:avLst>
              <a:gd name="adj" fmla="val 3846"/>
            </a:avLst>
          </a:prstGeom>
          <a:solidFill>
            <a:srgbClr val="FFFFFF">
              <a:alpha val="100000"/>
            </a:srgbClr>
          </a:solidFill>
          <a:ln w="12700" cap="flat" cmpd="sng">
            <a:solidFill>
              <a:srgbClr val="E0E0E0">
                <a:alpha val="100000"/>
              </a:srgbClr>
            </a:solid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1714500"/>
            <a:ext cx="406400" cy="406400"/>
          </a:xfrm>
          <a:prstGeom prst="rect">
            <a:avLst/>
          </a:prstGeom>
        </p:spPr>
      </p:pic>
      <p:sp>
        <p:nvSpPr>
          <p:cNvPr id="12" name="AutoShape 12"/>
          <p:cNvSpPr/>
          <p:nvPr/>
        </p:nvSpPr>
        <p:spPr>
          <a:xfrm>
            <a:off x="4699000" y="2222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CAF50"/>
                </a:solidFill>
                <a:latin typeface="Noto Sans SC"/>
                <a:ea typeface="Noto Sans SC"/>
                <a:cs typeface="Noto Sans SC"/>
                <a:sym typeface="Noto Sans SC"/>
              </a:rPr>
              <a:t>3大创新点</a:t>
            </a:r>
            <a:endParaRPr lang="en-US" sz="1100"/>
          </a:p>
        </p:txBody>
      </p:sp>
      <p:cxnSp>
        <p:nvCxnSpPr>
          <p:cNvPr id="13" name="Connector 13"/>
          <p:cNvCxnSpPr/>
          <p:nvPr/>
        </p:nvCxnSpPr>
        <p:spPr>
          <a:xfrm rot="-15626">
            <a:off x="4699014" y="2660650"/>
            <a:ext cx="2794000" cy="12700"/>
          </a:xfrm>
          <a:prstGeom prst="line">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14" name="AutoShape 14"/>
          <p:cNvSpPr/>
          <p:nvPr/>
        </p:nvSpPr>
        <p:spPr>
          <a:xfrm>
            <a:off x="4699000" y="2794000"/>
            <a:ext cx="2794000" cy="2286000"/>
          </a:xfrm>
          <a:prstGeom prst="rect">
            <a:avLst/>
          </a:prstGeom>
          <a:noFill/>
          <a:ln w="12700" cap="flat" cmpd="sng">
            <a:noFill/>
            <a:prstDash val="solid"/>
            <a:round/>
          </a:ln>
        </p:spPr>
        <p:txBody>
          <a:bodyPr vert="horz" wrap="square" lIns="0" tIns="0" rIns="0" bIns="0" rtlCol="0" anchor="t" anchorCtr="0"/>
          <a:lstStyle/>
          <a:p>
            <a:pPr marL="228600" indent="-228600" algn="l">
              <a:lnSpc>
                <a:spcPct val="108333"/>
              </a:lnSpc>
              <a:buClr>
                <a:srgbClr val="333333"/>
              </a:buClr>
              <a:buChar char="•"/>
              <a:defRPr/>
            </a:pPr>
            <a:r>
              <a:rPr lang="en-US" sz="1800" b="0" i="0" u="none" strike="noStrike">
                <a:solidFill>
                  <a:srgbClr val="333333"/>
                </a:solidFill>
                <a:latin typeface="Noto Sans SC"/>
                <a:ea typeface="Noto Sans SC"/>
                <a:cs typeface="Noto Sans SC"/>
                <a:sym typeface="Noto Sans SC"/>
              </a:rPr>
              <a:t>隐私优先的非接触监测</a:t>
            </a:r>
            <a:endParaRPr lang="en-US" sz="1100"/>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规则与机器学习融合判定</a:t>
            </a:r>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完整系统化支持实际部署</a:t>
            </a:r>
          </a:p>
        </p:txBody>
      </p:sp>
      <p:sp>
        <p:nvSpPr>
          <p:cNvPr id="15" name="AutoShape 15"/>
          <p:cNvSpPr/>
          <p:nvPr/>
        </p:nvSpPr>
        <p:spPr>
          <a:xfrm>
            <a:off x="8128000" y="1524000"/>
            <a:ext cx="3302000" cy="4064000"/>
          </a:xfrm>
          <a:prstGeom prst="roundRect">
            <a:avLst>
              <a:gd name="adj" fmla="val 3846"/>
            </a:avLst>
          </a:prstGeom>
          <a:solidFill>
            <a:srgbClr val="FFFFFF">
              <a:alpha val="100000"/>
            </a:srgbClr>
          </a:solidFill>
          <a:ln w="12700" cap="flat" cmpd="sng">
            <a:solidFill>
              <a:srgbClr val="E0E0E0">
                <a:alpha val="100000"/>
              </a:srgbClr>
            </a:solid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75800" y="1714500"/>
            <a:ext cx="406400" cy="406400"/>
          </a:xfrm>
          <a:prstGeom prst="rect">
            <a:avLst/>
          </a:prstGeom>
        </p:spPr>
      </p:pic>
      <p:sp>
        <p:nvSpPr>
          <p:cNvPr id="17" name="AutoShape 17"/>
          <p:cNvSpPr/>
          <p:nvPr/>
        </p:nvSpPr>
        <p:spPr>
          <a:xfrm>
            <a:off x="8382000" y="2222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4CAF50"/>
                </a:solidFill>
                <a:latin typeface="Noto Sans SC"/>
                <a:ea typeface="Noto Sans SC"/>
                <a:cs typeface="Noto Sans SC"/>
                <a:sym typeface="Noto Sans SC"/>
              </a:rPr>
              <a:t>5大技术优势</a:t>
            </a:r>
            <a:endParaRPr lang="en-US" sz="1100"/>
          </a:p>
        </p:txBody>
      </p:sp>
      <p:cxnSp>
        <p:nvCxnSpPr>
          <p:cNvPr id="18" name="Connector 18"/>
          <p:cNvCxnSpPr/>
          <p:nvPr/>
        </p:nvCxnSpPr>
        <p:spPr>
          <a:xfrm rot="-15626">
            <a:off x="8382014" y="2660650"/>
            <a:ext cx="2794000" cy="12700"/>
          </a:xfrm>
          <a:prstGeom prst="line">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19" name="AutoShape 19"/>
          <p:cNvSpPr/>
          <p:nvPr/>
        </p:nvSpPr>
        <p:spPr>
          <a:xfrm>
            <a:off x="8382000" y="2794000"/>
            <a:ext cx="2794000" cy="2286000"/>
          </a:xfrm>
          <a:prstGeom prst="rect">
            <a:avLst/>
          </a:prstGeom>
          <a:noFill/>
          <a:ln w="12700" cap="flat" cmpd="sng">
            <a:noFill/>
            <a:prstDash val="solid"/>
            <a:round/>
          </a:ln>
        </p:spPr>
        <p:txBody>
          <a:bodyPr vert="horz" wrap="square" lIns="0" tIns="0" rIns="0" bIns="0" rtlCol="0" anchor="t" anchorCtr="0"/>
          <a:lstStyle/>
          <a:p>
            <a:pPr marL="228600" indent="-228600" algn="l">
              <a:lnSpc>
                <a:spcPct val="108333"/>
              </a:lnSpc>
              <a:buClr>
                <a:srgbClr val="333333"/>
              </a:buClr>
              <a:buChar char="•"/>
              <a:defRPr/>
            </a:pPr>
            <a:r>
              <a:rPr lang="en-US" sz="1800" b="0" i="0" u="none" strike="noStrike">
                <a:solidFill>
                  <a:srgbClr val="333333"/>
                </a:solidFill>
                <a:latin typeface="Noto Sans SC"/>
                <a:ea typeface="Noto Sans SC"/>
                <a:cs typeface="Noto Sans SC"/>
                <a:sym typeface="Noto Sans SC"/>
              </a:rPr>
              <a:t>轻量高效，低资源占用</a:t>
            </a:r>
            <a:endParaRPr lang="en-US" sz="1100"/>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智能双模式检测机制</a:t>
            </a:r>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检测参数灵活可配置</a:t>
            </a:r>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多重策略抑制误报</a:t>
            </a:r>
          </a:p>
          <a:p>
            <a:pPr marL="228600" indent="-228600" algn="l">
              <a:lnSpc>
                <a:spcPct val="108333"/>
              </a:lnSpc>
              <a:buClr>
                <a:srgbClr val="333333"/>
              </a:buClr>
              <a:buChar char="•"/>
            </a:pPr>
            <a:r>
              <a:rPr lang="en-US" sz="1800" b="0" i="0" u="none" strike="noStrike">
                <a:solidFill>
                  <a:srgbClr val="333333"/>
                </a:solidFill>
                <a:latin typeface="Noto Sans SC"/>
                <a:ea typeface="Noto Sans SC"/>
                <a:cs typeface="Noto Sans SC"/>
                <a:sym typeface="Noto Sans SC"/>
              </a:rPr>
              <a:t>毫秒级实时响应速度</a:t>
            </a:r>
          </a:p>
        </p:txBody>
      </p:sp>
      <p:sp>
        <p:nvSpPr>
          <p:cNvPr id="20" name="AutoShape 20"/>
          <p:cNvSpPr/>
          <p:nvPr/>
        </p:nvSpPr>
        <p:spPr>
          <a:xfrm>
            <a:off x="0" y="6781800"/>
            <a:ext cx="12192000" cy="762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8)</a:t>
            </a:r>
            <a:r>
              <a:rPr lang="en-US" sz="3600" b="1" i="0" u="none" strike="noStrike" dirty="0" err="1">
                <a:solidFill>
                  <a:srgbClr val="333333"/>
                </a:solidFill>
                <a:latin typeface="Noto Sans SC"/>
                <a:ea typeface="Noto Sans SC"/>
                <a:cs typeface="Noto Sans SC"/>
                <a:sym typeface="Noto Sans SC"/>
              </a:rPr>
              <a:t>总结与展望</a:t>
            </a:r>
            <a:endParaRPr lang="en-US" sz="1100" dirty="0"/>
          </a:p>
        </p:txBody>
      </p:sp>
      <p:sp>
        <p:nvSpPr>
          <p:cNvPr id="4" name="AutoShape 4"/>
          <p:cNvSpPr/>
          <p:nvPr/>
        </p:nvSpPr>
        <p:spPr>
          <a:xfrm>
            <a:off x="762000" y="1206500"/>
            <a:ext cx="762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4826000" cy="3302000"/>
          </a:xfrm>
          <a:prstGeom prst="roundRect">
            <a:avLst>
              <a:gd name="adj" fmla="val 384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406400" cy="406400"/>
          </a:xfrm>
          <a:prstGeom prst="rect">
            <a:avLst/>
          </a:prstGeom>
        </p:spPr>
      </p:pic>
      <p:sp>
        <p:nvSpPr>
          <p:cNvPr id="7" name="AutoShape 7"/>
          <p:cNvSpPr/>
          <p:nvPr/>
        </p:nvSpPr>
        <p:spPr>
          <a:xfrm>
            <a:off x="1524000" y="1905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a:ea typeface="Noto Sans SC"/>
                <a:cs typeface="Noto Sans SC"/>
                <a:sym typeface="Noto Sans SC"/>
              </a:rPr>
              <a:t>项目总结</a:t>
            </a:r>
            <a:endParaRPr lang="en-US" sz="1100"/>
          </a:p>
        </p:txBody>
      </p:sp>
      <p:sp>
        <p:nvSpPr>
          <p:cNvPr id="8" name="AutoShape 8"/>
          <p:cNvSpPr/>
          <p:nvPr/>
        </p:nvSpPr>
        <p:spPr>
          <a:xfrm>
            <a:off x="1016000" y="2413000"/>
            <a:ext cx="4318000" cy="1905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800" b="0" i="0" u="none" strike="noStrike">
                <a:solidFill>
                  <a:srgbClr val="555555"/>
                </a:solidFill>
                <a:latin typeface="Noto Sans SC"/>
                <a:ea typeface="Noto Sans SC"/>
                <a:cs typeface="Noto Sans SC"/>
                <a:sym typeface="Noto Sans SC"/>
              </a:rPr>
              <a:t>成功构建了完整的智能监护系统，实现了三大核心功能和四级风险分级，在技术和应用上都取得了突破。</a:t>
            </a:r>
            <a:endParaRPr lang="en-US" sz="1100"/>
          </a:p>
        </p:txBody>
      </p:sp>
      <p:sp>
        <p:nvSpPr>
          <p:cNvPr id="9" name="AutoShape 9"/>
          <p:cNvSpPr/>
          <p:nvPr/>
        </p:nvSpPr>
        <p:spPr>
          <a:xfrm>
            <a:off x="5842000" y="1651000"/>
            <a:ext cx="4826000" cy="3302000"/>
          </a:xfrm>
          <a:prstGeom prst="roundRect">
            <a:avLst>
              <a:gd name="adj" fmla="val 384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96000" y="1905000"/>
            <a:ext cx="406400" cy="406400"/>
          </a:xfrm>
          <a:prstGeom prst="rect">
            <a:avLst/>
          </a:prstGeom>
        </p:spPr>
      </p:pic>
      <p:sp>
        <p:nvSpPr>
          <p:cNvPr id="11" name="AutoShape 11"/>
          <p:cNvSpPr/>
          <p:nvPr/>
        </p:nvSpPr>
        <p:spPr>
          <a:xfrm>
            <a:off x="6604000" y="1905000"/>
            <a:ext cx="304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333333"/>
                </a:solidFill>
                <a:latin typeface="Noto Sans SC"/>
                <a:ea typeface="Noto Sans SC"/>
                <a:cs typeface="Noto Sans SC"/>
                <a:sym typeface="Noto Sans SC"/>
              </a:rPr>
              <a:t>未来展望</a:t>
            </a:r>
            <a:endParaRPr lang="en-US" sz="1100"/>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2705100"/>
            <a:ext cx="254000" cy="254000"/>
          </a:xfrm>
          <a:prstGeom prst="rect">
            <a:avLst/>
          </a:prstGeom>
        </p:spPr>
      </p:pic>
      <p:sp>
        <p:nvSpPr>
          <p:cNvPr id="13" name="AutoShape 13"/>
          <p:cNvSpPr/>
          <p:nvPr/>
        </p:nvSpPr>
        <p:spPr>
          <a:xfrm>
            <a:off x="6477000" y="2654300"/>
            <a:ext cx="4064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333333"/>
                </a:solidFill>
                <a:latin typeface="Noto Sans SC"/>
                <a:ea typeface="Noto Sans SC"/>
                <a:cs typeface="Noto Sans SC"/>
                <a:sym typeface="Noto Sans SC"/>
              </a:rPr>
              <a:t>短期改进：</a:t>
            </a:r>
            <a:r>
              <a:rPr lang="en-US" sz="1800" b="0" i="0" u="none" strike="noStrike" dirty="0" err="1">
                <a:solidFill>
                  <a:srgbClr val="555555"/>
                </a:solidFill>
                <a:latin typeface="Noto Sans SC"/>
                <a:ea typeface="Noto Sans SC"/>
                <a:cs typeface="Noto Sans SC"/>
                <a:sym typeface="Noto Sans SC"/>
              </a:rPr>
              <a:t>完善功能、对接第三方通知</a:t>
            </a:r>
            <a:endParaRPr lang="en-US" sz="1100" dirty="0"/>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96000" y="3213100"/>
            <a:ext cx="254000" cy="254000"/>
          </a:xfrm>
          <a:prstGeom prst="rect">
            <a:avLst/>
          </a:prstGeom>
        </p:spPr>
      </p:pic>
      <p:sp>
        <p:nvSpPr>
          <p:cNvPr id="15" name="AutoShape 15"/>
          <p:cNvSpPr/>
          <p:nvPr/>
        </p:nvSpPr>
        <p:spPr>
          <a:xfrm>
            <a:off x="6477000" y="3162300"/>
            <a:ext cx="4064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333333"/>
                </a:solidFill>
                <a:latin typeface="Noto Sans SC"/>
                <a:ea typeface="Noto Sans SC"/>
                <a:cs typeface="Noto Sans SC"/>
                <a:sym typeface="Noto Sans SC"/>
              </a:rPr>
              <a:t>中期规划：</a:t>
            </a:r>
            <a:r>
              <a:rPr lang="en-US" sz="1800" b="0" i="0" u="none" strike="noStrike" dirty="0" err="1">
                <a:solidFill>
                  <a:srgbClr val="555555"/>
                </a:solidFill>
                <a:latin typeface="Noto Sans SC"/>
                <a:ea typeface="Noto Sans SC"/>
                <a:cs typeface="Noto Sans SC"/>
                <a:sym typeface="Noto Sans SC"/>
              </a:rPr>
              <a:t>扩展异常行为类型、优化AI模型</a:t>
            </a:r>
            <a:r>
              <a:rPr lang="en-US" sz="1800" b="0" i="0" u="none" strike="noStrike" dirty="0">
                <a:solidFill>
                  <a:srgbClr val="555555"/>
                </a:solidFill>
                <a:latin typeface="Noto Sans SC"/>
                <a:ea typeface="Noto Sans SC"/>
                <a:cs typeface="Noto Sans SC"/>
                <a:sym typeface="Noto Sans SC"/>
              </a:rPr>
              <a:t>。</a:t>
            </a:r>
            <a:endParaRPr lang="en-US" sz="1100" dirty="0"/>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3721100"/>
            <a:ext cx="254000" cy="254000"/>
          </a:xfrm>
          <a:prstGeom prst="rect">
            <a:avLst/>
          </a:prstGeom>
        </p:spPr>
      </p:pic>
      <p:sp>
        <p:nvSpPr>
          <p:cNvPr id="17" name="AutoShape 17"/>
          <p:cNvSpPr/>
          <p:nvPr/>
        </p:nvSpPr>
        <p:spPr>
          <a:xfrm>
            <a:off x="6477000" y="3670300"/>
            <a:ext cx="406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err="1">
                <a:solidFill>
                  <a:srgbClr val="333333"/>
                </a:solidFill>
                <a:latin typeface="Noto Sans SC"/>
                <a:ea typeface="Noto Sans SC"/>
                <a:cs typeface="Noto Sans SC"/>
                <a:sym typeface="Noto Sans SC"/>
              </a:rPr>
              <a:t>长期愿景：</a:t>
            </a:r>
            <a:r>
              <a:rPr lang="en-US" sz="1800" b="0" i="0" u="none" strike="noStrike" dirty="0" err="1">
                <a:solidFill>
                  <a:srgbClr val="555555"/>
                </a:solidFill>
                <a:latin typeface="Noto Sans SC"/>
                <a:ea typeface="Noto Sans SC"/>
                <a:cs typeface="Noto Sans SC"/>
                <a:sym typeface="Noto Sans SC"/>
              </a:rPr>
              <a:t>构建AI监护生态系统、实现远程医疗服务、推动行业标准制定</a:t>
            </a:r>
            <a:r>
              <a:rPr lang="en-US" sz="1800" b="0" i="0" u="none" strike="noStrike" dirty="0">
                <a:solidFill>
                  <a:srgbClr val="555555"/>
                </a:solidFill>
                <a:latin typeface="Noto Sans SC"/>
                <a:ea typeface="Noto Sans SC"/>
                <a:cs typeface="Noto Sans SC"/>
                <a:sym typeface="Noto Sans SC"/>
              </a:rPr>
              <a:t>。</a:t>
            </a:r>
            <a:endParaRPr lang="en-US" sz="1100" dirty="0"/>
          </a:p>
        </p:txBody>
      </p:sp>
      <p:sp>
        <p:nvSpPr>
          <p:cNvPr id="18" name="AutoShape 18"/>
          <p:cNvSpPr/>
          <p:nvPr/>
        </p:nvSpPr>
        <p:spPr>
          <a:xfrm>
            <a:off x="0" y="6705600"/>
            <a:ext cx="12192000" cy="1524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oundRect">
            <a:avLst>
              <a:gd name="adj" fmla="val 0"/>
            </a:avLst>
          </a:prstGeom>
          <a:noFill/>
          <a:ln w="25400" cap="flat" cmpd="sng">
            <a:noFill/>
            <a:prstDash val="solid"/>
            <a:round/>
          </a:ln>
        </p:spPr>
      </p:pic>
      <p:sp>
        <p:nvSpPr>
          <p:cNvPr id="3" name="AutoShape 3"/>
          <p:cNvSpPr/>
          <p:nvPr/>
        </p:nvSpPr>
        <p:spPr>
          <a:xfrm>
            <a:off x="0" y="2286000"/>
            <a:ext cx="1219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333333"/>
                </a:solidFill>
                <a:latin typeface="Noto Sans SC"/>
                <a:ea typeface="Noto Sans SC"/>
                <a:cs typeface="Noto Sans SC"/>
                <a:sym typeface="Noto Sans SC"/>
              </a:rPr>
              <a:t>感谢聆听</a:t>
            </a:r>
            <a:endParaRPr lang="en-US" sz="1100"/>
          </a:p>
        </p:txBody>
      </p:sp>
      <p:sp>
        <p:nvSpPr>
          <p:cNvPr id="4" name="AutoShape 4"/>
          <p:cNvSpPr/>
          <p:nvPr/>
        </p:nvSpPr>
        <p:spPr>
          <a:xfrm>
            <a:off x="5715000" y="3175000"/>
            <a:ext cx="762000" cy="508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3429000"/>
            <a:ext cx="12192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dirty="0">
                <a:solidFill>
                  <a:srgbClr val="666666"/>
                </a:solidFill>
                <a:latin typeface="Noto Sans SC"/>
                <a:ea typeface="Noto Sans SC"/>
                <a:cs typeface="Noto Sans SC"/>
                <a:sym typeface="Noto Sans SC"/>
              </a:rPr>
              <a:t>Q &amp; A</a:t>
            </a:r>
            <a:endParaRPr lang="en-US" sz="1100" dirty="0"/>
          </a:p>
        </p:txBody>
      </p:sp>
      <p:sp>
        <p:nvSpPr>
          <p:cNvPr id="6" name="AutoShape 6"/>
          <p:cNvSpPr/>
          <p:nvPr/>
        </p:nvSpPr>
        <p:spPr>
          <a:xfrm>
            <a:off x="0" y="4064000"/>
            <a:ext cx="1219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400" b="0" i="0" u="none" strike="noStrike">
                <a:solidFill>
                  <a:srgbClr val="999999"/>
                </a:solidFill>
                <a:latin typeface="Noto Sans SC"/>
                <a:ea typeface="Noto Sans SC"/>
                <a:cs typeface="Noto Sans SC"/>
                <a:sym typeface="Noto Sans SC"/>
              </a:rPr>
              <a:t>欢迎各位提问与交流</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TotalTime>
  <Words>1219</Words>
  <Application>Microsoft Office PowerPoint</Application>
  <PresentationFormat>宽屏</PresentationFormat>
  <Paragraphs>237</Paragraphs>
  <Slides>16</Slides>
  <Notes>16</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16</vt:i4>
      </vt:variant>
    </vt:vector>
  </HeadingPairs>
  <TitlesOfParts>
    <vt:vector size="20"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冉冉</dc:creator>
  <cp:lastModifiedBy>养浩 张</cp:lastModifiedBy>
  <cp:revision>7</cp:revision>
  <dcterms:modified xsi:type="dcterms:W3CDTF">2026-03-30T16:11:21Z</dcterms:modified>
</cp:coreProperties>
</file>