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32"/>
  </p:notesMasterIdLst>
  <p:sldIdLst>
    <p:sldId id="256" r:id="rId2"/>
    <p:sldId id="257" r:id="rId3"/>
    <p:sldId id="258" r:id="rId4"/>
    <p:sldId id="259" r:id="rId5"/>
    <p:sldId id="260" r:id="rId6"/>
    <p:sldId id="302" r:id="rId7"/>
    <p:sldId id="303" r:id="rId8"/>
    <p:sldId id="264" r:id="rId9"/>
    <p:sldId id="289" r:id="rId10"/>
    <p:sldId id="304" r:id="rId11"/>
    <p:sldId id="265" r:id="rId12"/>
    <p:sldId id="267" r:id="rId13"/>
    <p:sldId id="280" r:id="rId14"/>
    <p:sldId id="281" r:id="rId15"/>
    <p:sldId id="282" r:id="rId16"/>
    <p:sldId id="283" r:id="rId17"/>
    <p:sldId id="290" r:id="rId18"/>
    <p:sldId id="291" r:id="rId19"/>
    <p:sldId id="292" r:id="rId20"/>
    <p:sldId id="293" r:id="rId21"/>
    <p:sldId id="298" r:id="rId22"/>
    <p:sldId id="294" r:id="rId23"/>
    <p:sldId id="296" r:id="rId24"/>
    <p:sldId id="297" r:id="rId25"/>
    <p:sldId id="295" r:id="rId26"/>
    <p:sldId id="299" r:id="rId27"/>
    <p:sldId id="301" r:id="rId28"/>
    <p:sldId id="272" r:id="rId29"/>
    <p:sldId id="276" r:id="rId30"/>
    <p:sldId id="277"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1660" userDrawn="1">
          <p15:clr>
            <a:srgbClr val="747775"/>
          </p15:clr>
        </p15:guide>
        <p15:guide id="2" pos="284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4" d="100"/>
          <a:sy n="104" d="100"/>
        </p:scale>
        <p:origin x="394" y="82"/>
      </p:cViewPr>
      <p:guideLst>
        <p:guide orient="horz" pos="1660"/>
        <p:guide pos="2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尊敬的各位评委老师，大家好。我们团队带来的参赛作品是“面向独居老人的智能监测与异常行为识别系统”。随着我国老龄化社会的加剧，独居老人的安全问题日益凸显。本项目旨在利用先进的计算机视觉技术，特别是YOLO11深度学习模型，构建一个能够实时监测老人居家安全、自动识别跌倒等异常行为并及时响应的智能系统。我们希望通过技术手段，为独居老人提供一个更安全、更有尊严的生活环境。接下来，我将从项目背景、系统架构、核心功能等几个方面进行详细介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本次汇报将围绕八个核心部分展开。首先，我们将介绍项目的背景与动机。其次，对整个系统进行一个宏观的概述。第三部分，将深入剖析系统的技术架构。第四部分，也是我们项目的核心，将详细展示系统的各项功能。第五部分，我们会对所使用的核心技术进行解析。第六部分，简要介绍我们的隐私保护机制。第七部分，总结系统的功能、创新点与技术优势。最后，对项目进行总结并展望未来的发展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首先来看项目背景。我国正快速步入老龄化社会，独居老人群体的安全问题已成为一个严峻的社会挑战。传统的人工监护方式难以实现全天候覆盖，而普通的视频监控又存在严重的隐私泄露风险。市面上的智能穿戴设备则面临依从性差、续航短等问题。现有的AI监测系统也普遍存在误报率高、功能单一的缺陷。因此，市场迫切需要一个既能实现24小时不间断监测，又能有效保护隐私的智能监护平台，这正是我们项目的出发点和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系统特点：</a:t>
            </a:r>
            <a:r>
              <a:rPr lang="en-US" altLang="zh-CN" sz="1400" b="0" i="0" u="none" strike="noStrike" dirty="0">
                <a:solidFill>
                  <a:srgbClr val="555555"/>
                </a:solidFill>
                <a:latin typeface="Noto Sans SC"/>
                <a:ea typeface="Noto Sans SC"/>
                <a:cs typeface="Noto Sans SC"/>
                <a:sym typeface="Noto Sans SC"/>
              </a:rPr>
              <a:t>毫秒级实时响应异常事件；坚持数据本地化处理，全方位保障独居老人隐私安全。</a:t>
            </a:r>
            <a:r>
              <a:rPr lang="zh-CN" altLang="en-US" sz="1400" b="0" i="0" u="none" strike="noStrike" dirty="0">
                <a:solidFill>
                  <a:srgbClr val="555555"/>
                </a:solidFill>
                <a:latin typeface="Noto Sans SC"/>
                <a:ea typeface="Noto Sans SC"/>
                <a:cs typeface="Noto Sans SC"/>
                <a:sym typeface="Noto Sans SC"/>
              </a:rPr>
              <a:t>功能模块：</a:t>
            </a:r>
            <a:r>
              <a:rPr lang="en-US" altLang="zh-CN" sz="1200" b="0" i="0" u="none" strike="noStrike" dirty="0">
                <a:solidFill>
                  <a:srgbClr val="555555"/>
                </a:solidFill>
                <a:latin typeface="Noto Sans SC"/>
                <a:ea typeface="Noto Sans SC"/>
                <a:cs typeface="Noto Sans SC"/>
                <a:sym typeface="Noto Sans SC"/>
              </a:rPr>
              <a:t>包含实时监控、视频检测、事件看板、统计分析、可视化大屏及系统设置六大模块，构建完整闭环。</a:t>
            </a:r>
            <a:endParaRPr lang="en-US" altLang="zh-CN" sz="1050" dirty="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dirty="0"/>
          </a:p>
          <a:p>
            <a:pPr indent="0" algn="l">
              <a:lnSpc>
                <a:spcPct val="100000"/>
              </a:lnSpc>
            </a:pPr>
            <a:endParaRPr lang="en-US" sz="14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这是我们系统的技术架构。后端采用Python的异步框架Quart，保证了高并发处理能力。数据库使用轻量级的SQLite，ORM框架为SQLAlchemy。AI模型的推理则通过ONNX Runtime进行加速。前端我们采用了现代化的Vue 3和Vite技术栈，结合Element Plus组件库和ECharts可视化库，打造了流畅的用户界面。AI核心模型是我们系统的灵魂，我们使用YOLO11进行目标检测，MediaPipe进行人脸处理，ByteTrack进行多目标追踪，并结合OpenCV进行图像处理。整个架构清晰地展示了从数据采集到应用服务的全链路数据流转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现在我们来看第一个核心功能——跌倒检测。我们采用了YOLO11的ONNX轻量级模型，它能同时输出人体的6维特征，并支持GPU和CPU双模式推理，在速度和精度之间取得了很好的平衡。我们独创的连续帧确认机制，能有效过滤掉因物体遮挡等原因造成的误报。同时，系统支持多人检测，并能通过ByteTrack算法保持目标身份的一致性。我们将跌倒风险分为两个等级，只有当跌倒状态持续超过1秒时，才会触发最高级别的HIGH风险告警，确保了告警的准确性和及时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现在我们来看第一个核心功能——跌倒检测。我们采用了YOLO11的ONNX轻量级模型，它能同时输出人体的6维特征，并支持GPU和CPU双模式推理，在速度和精度之间取得了很好的平衡。我们独创的连续帧确认机制，能有效过滤掉因物体遮挡等原因造成的误报。同时，系统支持多人检测，并能通过ByteTrack算法保持目标身份的一致性。我们将跌倒风险分为两个等级，只有当跌倒状态持续超过1秒时，才会触发最高级别的HIGH风险告警，确保了告警的准确性和及时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这一页我们解析跌倒检测系统的技术创新架构。整个架构由三个核心模块组成。首先是检测模块，我们使用YOLO11模型实时检测人体姿态并输出6维特征。其次是推理优化模块，我们将模型转换为ONNX格式，通过ONNX Runtime进行推理，这使得我们的系统能够高效地部署在各种居家边缘设备上，达到了约25帧的实时检测性能。最后是误报抑制模块，我们采用多帧确认策略，只有连续5帧检测到跌倒才判定为有效事件，这极大地降低了由遮挡或姿态突变引起的误报，显著提升了系统的鲁棒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这一页我们解析跌倒检测系统的技术创新架构。整个架构由三个核心模块组成。首先是检测模块，我们使用YOLO11模型实时检测人体姿态并输出6维特征。其次是推理优化模块，我们将模型转换为ONNX格式，通过ONNX Runtime进行推理，这使得我们的系统能够高效地部署在各种居家边缘设备上，达到了约25帧的实时检测性能。最后是误报抑制模块，我们采用多帧确认策略，只有连续5帧检测到跌倒才判定为有效事件，这极大地降低了由遮挡或姿态突变引起的误报，显著提升了系统的鲁棒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400" b="0" i="0" u="none" strike="noStrike" dirty="0">
                <a:solidFill>
                  <a:srgbClr val="000000"/>
                </a:solidFill>
              </a:rPr>
              <a:t>虽然我们项目的核心是检测，但隐私保护同样至关重要。传统监控存在严重的隐私泄露风险，这也是用户接受度低的主要原因。我们的核心优势在于通过技术手段解决了这一痛点。我们提出了三大核心策略：首先，采用基于MediaPipe的人脸模糊技术，实时对视频中的人脸进行模糊处理；其次，遵循数据最小化原则，系统不存储任何原始视频，只保留必要的事件摘要和参数；最后，所有视频数据都在本地服务器进行闭环处理，不向云端传输任何敏感信息。这三大策略共同构建了一个全方位的数据安全体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2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cs-CZ" sz="1200" b="0" i="0" u="none" strike="noStrike" kern="0" cap="none" spc="0" normalizeH="0" baseline="0" noProof="0">
                <a:ln>
                  <a:noFill/>
                </a:ln>
                <a:solidFill>
                  <a:srgbClr val="000000"/>
                </a:solidFill>
                <a:effectLst/>
                <a:uLnTx/>
                <a:uFillTx/>
                <a:latin typeface="Arial" panose="020B0704020202020204"/>
                <a:cs typeface="Arial" panose="020B0704020202020204"/>
                <a:sym typeface="Arial" panose="020B07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endParaRPr kumimoji="0" lang="en-US" altLang="zh-CN" sz="800" b="0" i="0" u="none" strike="noStrike" kern="0" cap="none" spc="0" normalizeH="0" baseline="0" noProof="0" dirty="0">
              <a:ln>
                <a:noFill/>
              </a:ln>
              <a:solidFill>
                <a:srgbClr val="000000"/>
              </a:solidFill>
              <a:effectLst/>
              <a:uLnTx/>
              <a:uFillTx/>
              <a:latin typeface="+mn-lt"/>
              <a:cs typeface="Arial" panose="020B0704020202020204"/>
              <a:sym typeface="Arial" panose="020B070402020202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2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cs-CZ" sz="1200" b="0" i="0" u="none" strike="noStrike" kern="0" cap="none" spc="0" normalizeH="0" baseline="0" noProof="0">
                <a:ln>
                  <a:noFill/>
                </a:ln>
                <a:solidFill>
                  <a:srgbClr val="000000"/>
                </a:solidFill>
                <a:effectLst/>
                <a:uLnTx/>
                <a:uFillTx/>
                <a:latin typeface="Arial" panose="020B0704020202020204"/>
                <a:cs typeface="Arial" panose="020B0704020202020204"/>
                <a:sym typeface="Arial" panose="020B0704020202020204"/>
              </a:rPr>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2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cs-CZ" sz="1200" b="0" i="0" u="none" strike="noStrike" kern="0" cap="none" spc="0" normalizeH="0" baseline="0" noProof="0">
                <a:ln>
                  <a:noFill/>
                </a:ln>
                <a:solidFill>
                  <a:srgbClr val="000000"/>
                </a:solidFill>
                <a:effectLst/>
                <a:uLnTx/>
                <a:uFillTx/>
                <a:latin typeface="Arial" panose="020B0704020202020204"/>
                <a:cs typeface="Arial" panose="020B0704020202020204"/>
                <a:sym typeface="Arial" panose="020B07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技术方案总览</a:t>
            </a:r>
            <a:endParaRPr kumimoji="0" lang="en-US" altLang="zh-CN" sz="800" b="0" i="0" u="none" strike="noStrike" kern="0" cap="none" spc="0" normalizeH="0" baseline="0" noProof="0" dirty="0">
              <a:ln>
                <a:noFill/>
              </a:ln>
              <a:solidFill>
                <a:srgbClr val="000000"/>
              </a:solidFill>
              <a:effectLst/>
              <a:uLnTx/>
              <a:uFillTx/>
              <a:latin typeface="+mn-lt"/>
              <a:cs typeface="Arial" panose="020B0704020202020204"/>
              <a:sym typeface="Arial" panose="020B0704020202020204"/>
            </a:endParaRPr>
          </a:p>
          <a:p>
            <a:pPr indent="0" algn="l">
              <a:lnSpc>
                <a:spcPct val="100000"/>
              </a:lnSpc>
            </a:pPr>
            <a:r>
              <a:rPr lang="en-US" sz="1400" b="0" i="0" u="none" strike="noStrike" dirty="0">
                <a:solidFill>
                  <a:srgbClr val="000000"/>
                </a:solidFill>
              </a:rPr>
              <a:t>我们的方案可以精确定位为一个全链路隐私安全且可验证的智能视频监测系统。为实现这一目标，我们设定了四大核心目标：确保原始数据不出域，在</a:t>
            </a:r>
            <a:r>
              <a:rPr lang="en-US" altLang="zh-CN" kern="0" noProof="0" dirty="0">
                <a:ln>
                  <a:noFill/>
                </a:ln>
                <a:solidFill>
                  <a:srgbClr val="000000"/>
                </a:solidFill>
                <a:effectLst/>
                <a:uLnTx/>
                <a:uFillTx/>
                <a:latin typeface="Arial" panose="020B0704020202020204"/>
                <a:cs typeface="Arial" panose="020B0704020202020204"/>
                <a:sym typeface="Arial" panose="020B0704020202020204"/>
              </a:rPr>
              <a:t>SecureCore </a:t>
            </a:r>
            <a:r>
              <a:rPr lang="zh-CN" altLang="en-US" kern="0" noProof="0" dirty="0">
                <a:ln>
                  <a:noFill/>
                </a:ln>
                <a:solidFill>
                  <a:srgbClr val="000000"/>
                </a:solidFill>
                <a:effectLst/>
                <a:uLnTx/>
                <a:uFillTx/>
                <a:latin typeface="Arial" panose="020B0704020202020204"/>
                <a:cs typeface="Arial" panose="020B0704020202020204"/>
                <a:sym typeface="Arial" panose="020B0704020202020204"/>
              </a:rPr>
              <a:t>逻辑隔离边界</a:t>
            </a:r>
            <a:r>
              <a:rPr lang="en-US" sz="1400" b="0" i="0" u="none" strike="noStrike" dirty="0">
                <a:solidFill>
                  <a:srgbClr val="000000"/>
                </a:solidFill>
              </a:rPr>
              <a:t>实现身份匿名化，保护统计数据隐私，并保证系统完整性可验证。这套方案特别适用于养老院、医院病房和居家照护等对隐私要求极高的场景。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2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cs-CZ" sz="1200" b="0" i="0" u="none" strike="noStrike" kern="0" cap="none" spc="0" normalizeH="0" baseline="0" noProof="0">
                <a:ln>
                  <a:noFill/>
                </a:ln>
                <a:solidFill>
                  <a:srgbClr val="000000"/>
                </a:solidFill>
                <a:effectLst/>
                <a:uLnTx/>
                <a:uFillTx/>
                <a:latin typeface="Arial" panose="020B0704020202020204"/>
                <a:cs typeface="Arial" panose="020B0704020202020204"/>
                <a:sym typeface="Arial" panose="020B0704020202020204"/>
              </a:rPr>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2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cs-CZ" sz="1200" b="0" i="0" u="none" strike="noStrike" kern="0" cap="none" spc="0" normalizeH="0" baseline="0" noProof="0">
                <a:ln>
                  <a:noFill/>
                </a:ln>
                <a:solidFill>
                  <a:srgbClr val="000000"/>
                </a:solidFill>
                <a:effectLst/>
                <a:uLnTx/>
                <a:uFillTx/>
                <a:latin typeface="Arial" panose="020B0704020202020204"/>
                <a:cs typeface="Arial" panose="020B0704020202020204"/>
                <a:sym typeface="Arial" panose="020B07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接下来我将介绍我们的核心技术实现。所有关键操作都在TEE内部完成。视频帧进入</a:t>
            </a:r>
            <a:r>
              <a:rPr lang="en-US" altLang="zh-CN" kern="0" noProof="0" dirty="0">
                <a:ln>
                  <a:noFill/>
                </a:ln>
                <a:solidFill>
                  <a:srgbClr val="6B7280"/>
                </a:solidFill>
                <a:effectLst/>
                <a:uLnTx/>
                <a:uFillTx/>
                <a:latin typeface="Noto Sans SC"/>
                <a:ea typeface="Noto Sans SC"/>
                <a:cs typeface="Noto Sans SC"/>
                <a:sym typeface="Noto Sans SC"/>
              </a:rPr>
              <a:t>SecureCore </a:t>
            </a:r>
            <a:r>
              <a:rPr lang="zh-CN" altLang="en-US" kern="0" noProof="0" dirty="0">
                <a:ln>
                  <a:noFill/>
                </a:ln>
                <a:solidFill>
                  <a:srgbClr val="6B7280"/>
                </a:solidFill>
                <a:effectLst/>
                <a:uLnTx/>
                <a:uFillTx/>
                <a:latin typeface="Noto Sans SC"/>
                <a:ea typeface="Noto Sans SC"/>
                <a:cs typeface="Noto Sans SC"/>
                <a:sym typeface="Noto Sans SC"/>
              </a:rPr>
              <a:t>逻辑隔离边界</a:t>
            </a:r>
            <a:r>
              <a:rPr lang="en-US" sz="1400" b="0" i="0" u="none" strike="noStrike" dirty="0">
                <a:solidFill>
                  <a:srgbClr val="000000"/>
                </a:solidFill>
              </a:rPr>
              <a:t>后，会经过帧校验、人体检测、人脸模糊和事件摘要等步骤。我们采用了多层次的隐私保护技术，包括实时人脸模糊、ID匿名化和差分隐私统计。我们的方案基于软件原型，未来可</a:t>
            </a:r>
            <a:r>
              <a:rPr lang="zh-CN" altLang="en-US" kern="0" noProof="0" dirty="0">
                <a:ln>
                  <a:noFill/>
                </a:ln>
                <a:solidFill>
                  <a:srgbClr val="000000"/>
                </a:solidFill>
                <a:effectLst/>
                <a:uLnTx/>
                <a:uFillTx/>
                <a:latin typeface="Arial" panose="020B0704020202020204"/>
                <a:cs typeface="Arial" panose="020B0704020202020204"/>
                <a:sym typeface="Arial" panose="020B0704020202020204"/>
              </a:rPr>
              <a:t>平滑</a:t>
            </a:r>
            <a:r>
              <a:rPr lang="en-US" sz="1400" b="0" i="0" u="none" strike="noStrike" dirty="0">
                <a:solidFill>
                  <a:srgbClr val="000000"/>
                </a:solidFill>
              </a:rPr>
              <a:t>迁移至硬件TEE，并严格遵循最小权限和原始数据永不落地的原则。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2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cs-CZ" sz="1200" b="0" i="0" u="none" strike="noStrike" kern="0" cap="none" spc="0" normalizeH="0" baseline="0" noProof="0">
                <a:ln>
                  <a:noFill/>
                </a:ln>
                <a:solidFill>
                  <a:srgbClr val="000000"/>
                </a:solidFill>
                <a:effectLst/>
                <a:uLnTx/>
                <a:uFillTx/>
                <a:latin typeface="Arial" panose="020B0704020202020204"/>
                <a:cs typeface="Arial" panose="020B0704020202020204"/>
                <a:sym typeface="Arial" panose="020B0704020202020204"/>
              </a:rP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2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cs-CZ" sz="1200" b="0" i="0" u="none" strike="noStrike" kern="0" cap="none" spc="0" normalizeH="0" baseline="0" noProof="0">
                <a:ln>
                  <a:noFill/>
                </a:ln>
                <a:solidFill>
                  <a:srgbClr val="000000"/>
                </a:solidFill>
                <a:effectLst/>
                <a:uLnTx/>
                <a:uFillTx/>
                <a:latin typeface="Arial" panose="020B0704020202020204"/>
                <a:cs typeface="Arial" panose="020B0704020202020204"/>
                <a:sym typeface="Arial" panose="020B07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方案优势与核心技术指标</a:t>
            </a:r>
            <a:endParaRPr kumimoji="0" lang="en-US" altLang="zh-CN" sz="800" b="0" i="0" u="none" strike="noStrike" kern="0" cap="none" spc="0" normalizeH="0" baseline="0" noProof="0" dirty="0">
              <a:ln>
                <a:noFill/>
              </a:ln>
              <a:solidFill>
                <a:srgbClr val="000000"/>
              </a:solidFill>
              <a:effectLst/>
              <a:uLnTx/>
              <a:uFillTx/>
              <a:latin typeface="+mn-lt"/>
              <a:cs typeface="Arial" panose="020B0704020202020204"/>
              <a:sym typeface="Arial" panose="020B0704020202020204"/>
            </a:endParaRPr>
          </a:p>
          <a:p>
            <a:pPr indent="0" algn="l">
              <a:lnSpc>
                <a:spcPct val="100000"/>
              </a:lnSpc>
            </a:pPr>
            <a:r>
              <a:rPr lang="en-US" sz="1400" b="0" i="0" u="none" strike="noStrike" dirty="0">
                <a:solidFill>
                  <a:srgbClr val="000000"/>
                </a:solidFill>
              </a:rPr>
              <a:t>总结一下，与传统系统相比，我们的方案在数据存储、隐私处理、身份识别、统计安全和系统可信性方面都具有颠覆性优势。我们构建了从T</a:t>
            </a:r>
            <a:r>
              <a:rPr lang="en-US" altLang="zh-CN" b="1" kern="0" noProof="0" dirty="0">
                <a:ln>
                  <a:noFill/>
                </a:ln>
                <a:solidFill>
                  <a:srgbClr val="10B981"/>
                </a:solidFill>
                <a:effectLst/>
                <a:uLnTx/>
                <a:uFillTx/>
                <a:latin typeface="Noto Sans SC"/>
                <a:ea typeface="Noto Sans SC"/>
                <a:cs typeface="Noto Sans SC"/>
                <a:sym typeface="Noto Sans SC"/>
              </a:rPr>
              <a:t>SecureCore</a:t>
            </a:r>
            <a:r>
              <a:rPr lang="zh-CN" altLang="en-US" b="1" kern="0" noProof="0" dirty="0">
                <a:ln>
                  <a:noFill/>
                </a:ln>
                <a:solidFill>
                  <a:srgbClr val="10B981"/>
                </a:solidFill>
                <a:effectLst/>
                <a:uLnTx/>
                <a:uFillTx/>
                <a:latin typeface="Noto Sans SC"/>
                <a:ea typeface="Noto Sans SC"/>
                <a:cs typeface="Noto Sans SC"/>
                <a:sym typeface="Noto Sans SC"/>
              </a:rPr>
              <a:t>边界</a:t>
            </a:r>
            <a:r>
              <a:rPr lang="en-US" sz="1400" b="0" i="0" u="none" strike="noStrike" dirty="0">
                <a:solidFill>
                  <a:srgbClr val="000000"/>
                </a:solidFill>
              </a:rPr>
              <a:t>隔离到统计增强的五层保护体系。同时，我们的核心技术指标也非常出色，确保了监测的可靠性和实时性。总而言之，我们的方案成功兼顾了隐私与效果，满足了合规与落地的需求。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2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cs-CZ" sz="1200" b="0" i="0" u="none" strike="noStrike" kern="0" cap="none" spc="0" normalizeH="0" baseline="0" noProof="0">
                <a:ln>
                  <a:noFill/>
                </a:ln>
                <a:solidFill>
                  <a:srgbClr val="000000"/>
                </a:solidFill>
                <a:effectLst/>
                <a:uLnTx/>
                <a:uFillTx/>
                <a:latin typeface="Arial" panose="020B0704020202020204"/>
                <a:cs typeface="Arial" panose="020B0704020202020204"/>
                <a:sym typeface="Arial" panose="020B0704020202020204"/>
              </a:rPr>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8000"/>
              </a:lnSpc>
            </a:pPr>
            <a:r>
              <a:rPr lang="en-US" sz="1200" b="0" i="0" u="none" strike="noStrike" dirty="0">
                <a:solidFill>
                  <a:srgbClr val="000000"/>
                </a:solidFill>
                <a:latin typeface="Noto Sans SC"/>
                <a:ea typeface="Noto Sans SC"/>
                <a:cs typeface="Noto Sans SC"/>
                <a:sym typeface="Noto Sans SC"/>
              </a:rPr>
              <a:t>接下来，我们深入解析项目的核心技术——目标检测与动作识别。我们采用了先进的YOLO11深度学习模型，它能够实现人体目标检测和动作状态识别的一体化处理。模型的输出包括人体的精确位置、动作类别（正常或跌倒）以及置信度。整个检测流程从视频帧输入开始，经过预处理、YOLO11推理和NMS过滤，最终输出结果。YOLO11模型具有端到端检测、轻量高效和实时性强的特点，非常适合部署在居家边缘设备上，满足了我们实时监测独居老人行为状态的核心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接下来，我们对系统的性能进行评估。首先，我们来看隐私保护技术带来的性能开销。可以看到，无论是启动时的完整性校验，还是运行时的帧处理，各项隐私保护技术的耗时都非常低，对系统运行几乎没有影响。在核心性能指标方面，系统平均帧处理延迟仅为35毫秒，实时处理帧率超过25帧，完全满足实时性要求。通过对比有无隐私保护的版本，我们发现性能开销小于3%。同时，我们的设计确保了隐私保护措施不会影响检测的准确度，真正做到了安全与效率的兼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最后，对项目进行总结与展望。本次项目，我们成功构建了一套完整的智能监护系统，实现了预定的核心功能和风险分级目标，在技术和应用上都取得了一定的突破。</a:t>
            </a:r>
          </a:p>
          <a:p>
            <a:pPr indent="0" algn="l">
              <a:lnSpc>
                <a:spcPct val="100000"/>
              </a:lnSpc>
            </a:pPr>
            <a:r>
              <a:rPr lang="en-US" sz="1400" b="0" i="0" u="none" strike="noStrike" dirty="0">
                <a:solidFill>
                  <a:srgbClr val="000000"/>
                </a:solidFill>
              </a:rPr>
              <a:t>展望未来，我们计划在短期内完善系统功能，对接更多第三方通知渠道。中期将扩展更多的异常行为识别类型，并持续优化AI模型。</a:t>
            </a:r>
          </a:p>
          <a:p>
            <a:pPr indent="0" algn="l">
              <a:lnSpc>
                <a:spcPct val="100000"/>
              </a:lnSpc>
            </a:pPr>
            <a:r>
              <a:rPr lang="en-US" sz="1400" b="0" i="0" u="none" strike="noStrike" dirty="0">
                <a:solidFill>
                  <a:srgbClr val="000000"/>
                </a:solidFill>
              </a:rPr>
              <a:t>我们的长期愿景是构建一个完整的AI监护生态系统，甚至实现远程医疗服务，并积极推动相关行业标准的制定。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Songti SC" panose="02010800040101010101" charset="-122"/>
                <a:ea typeface="Songti SC" panose="02010800040101010101" charset="-122"/>
                <a:cs typeface="Songti SC" panose="02010800040101010101" charset="-122"/>
                <a:sym typeface="Songti SC" panose="02010800040101010101" charset="-122"/>
              </a:rPr>
              <a:t>我的汇报到此结束，感谢各位评委老师的聆听。现在是问答环节，欢迎各位老师提问与交流。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sv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jpe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jpeg"/><Relationship Id="rId7" Type="http://schemas.openxmlformats.org/officeDocument/2006/relationships/image" Target="../media/image40.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9.svg"/><Relationship Id="rId5" Type="http://schemas.openxmlformats.org/officeDocument/2006/relationships/image" Target="../media/image38.svg"/><Relationship Id="rId4" Type="http://schemas.openxmlformats.org/officeDocument/2006/relationships/image" Target="../media/image37.svg"/></Relationships>
</file>

<file path=ppt/slides/_rels/slide13.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svg"/><Relationship Id="rId7" Type="http://schemas.openxmlformats.org/officeDocument/2006/relationships/image" Target="../media/image46.sv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s>
</file>

<file path=ppt/slides/_rels/slide1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notesSlide" Target="../notesSlides/notesSlide14.xml"/><Relationship Id="rId3" Type="http://schemas.openxmlformats.org/officeDocument/2006/relationships/tags" Target="../tags/tag3.xml"/><Relationship Id="rId21" Type="http://schemas.openxmlformats.org/officeDocument/2006/relationships/image" Target="../media/image45.sv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1.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49.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51.svg"/><Relationship Id="rId10" Type="http://schemas.openxmlformats.org/officeDocument/2006/relationships/tags" Target="../tags/tag10.xml"/><Relationship Id="rId19" Type="http://schemas.openxmlformats.org/officeDocument/2006/relationships/image" Target="../media/image48.sv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50.svg"/></Relationships>
</file>

<file path=ppt/slides/_rels/slide15.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4.svg"/><Relationship Id="rId4" Type="http://schemas.openxmlformats.org/officeDocument/2006/relationships/image" Target="../media/image50.svg"/></Relationships>
</file>

<file path=ppt/slides/_rels/slide16.xml.rels><?xml version="1.0" encoding="UTF-8" standalone="yes"?>
<Relationships xmlns="http://schemas.openxmlformats.org/package/2006/relationships"><Relationship Id="rId3" Type="http://schemas.openxmlformats.org/officeDocument/2006/relationships/image" Target="../media/image50.svg"/><Relationship Id="rId7" Type="http://schemas.openxmlformats.org/officeDocument/2006/relationships/image" Target="../media/image55.sv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4.svg"/><Relationship Id="rId5" Type="http://schemas.openxmlformats.org/officeDocument/2006/relationships/image" Target="../media/image43.svg"/><Relationship Id="rId4" Type="http://schemas.openxmlformats.org/officeDocument/2006/relationships/image" Target="../media/image53.svg"/></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68.svg"/><Relationship Id="rId4" Type="http://schemas.openxmlformats.org/officeDocument/2006/relationships/image" Target="../media/image67.sv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508000" y="1651000"/>
            <a:ext cx="11176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dirty="0">
                <a:solidFill>
                  <a:srgbClr val="333333"/>
                </a:solidFill>
                <a:latin typeface="Noto Sans SC"/>
                <a:ea typeface="Noto Sans SC"/>
                <a:cs typeface="Noto Sans SC"/>
                <a:sym typeface="Noto Sans SC"/>
              </a:rPr>
              <a:t>面向独居老人的隐私保护型异常行为识别与应急响应系统</a:t>
            </a:r>
            <a:endParaRPr lang="en-US" sz="1100" dirty="0"/>
          </a:p>
        </p:txBody>
      </p:sp>
      <p:sp>
        <p:nvSpPr>
          <p:cNvPr id="4" name="AutoShape 4"/>
          <p:cNvSpPr/>
          <p:nvPr/>
        </p:nvSpPr>
        <p:spPr>
          <a:xfrm>
            <a:off x="508000" y="2413000"/>
            <a:ext cx="11176000" cy="5080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dirty="0">
                <a:solidFill>
                  <a:srgbClr val="555555"/>
                </a:solidFill>
                <a:latin typeface="Noto Sans SC"/>
                <a:ea typeface="Noto Sans SC"/>
                <a:cs typeface="Noto Sans SC"/>
                <a:sym typeface="Noto Sans SC"/>
              </a:rPr>
              <a:t>基于YOLO26深度学习与规则引擎融合的智能监护解决方案</a:t>
            </a:r>
            <a:endParaRPr lang="en-US" sz="1100" dirty="0"/>
          </a:p>
        </p:txBody>
      </p:sp>
      <p:sp>
        <p:nvSpPr>
          <p:cNvPr id="5" name="AutoShape 5"/>
          <p:cNvSpPr/>
          <p:nvPr/>
        </p:nvSpPr>
        <p:spPr>
          <a:xfrm>
            <a:off x="5715000" y="3111500"/>
            <a:ext cx="762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6" name="AutoShape 6"/>
          <p:cNvSpPr/>
          <p:nvPr/>
        </p:nvSpPr>
        <p:spPr>
          <a:xfrm>
            <a:off x="1016000" y="3556000"/>
            <a:ext cx="10160000" cy="3810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ct val="125000"/>
              </a:lnSpc>
              <a:defRPr/>
            </a:pPr>
            <a:r>
              <a:rPr lang="en-US" sz="1800" b="1" i="0" u="none" strike="noStrike" dirty="0">
                <a:solidFill>
                  <a:srgbClr val="333333"/>
                </a:solidFill>
                <a:latin typeface="Noto Sans SC"/>
                <a:ea typeface="Noto Sans SC"/>
                <a:cs typeface="Noto Sans SC"/>
                <a:sym typeface="Noto Sans SC"/>
              </a:rPr>
              <a:t>计算机设计大赛人工智能实践参赛作品</a:t>
            </a:r>
            <a:endParaRPr lang="en-US" sz="1100" dirty="0"/>
          </a:p>
        </p:txBody>
      </p:sp>
      <p:sp>
        <p:nvSpPr>
          <p:cNvPr id="7" name="AutoShape 7"/>
          <p:cNvSpPr/>
          <p:nvPr/>
        </p:nvSpPr>
        <p:spPr>
          <a:xfrm>
            <a:off x="1016000" y="4191000"/>
            <a:ext cx="10160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dirty="0">
                <a:solidFill>
                  <a:srgbClr val="666666"/>
                </a:solidFill>
                <a:latin typeface="Noto Sans SC"/>
                <a:ea typeface="Noto Sans SC"/>
                <a:cs typeface="Noto Sans SC"/>
                <a:sym typeface="Noto Sans SC"/>
              </a:rPr>
              <a:t>汇报人：周卫兵 | 指导教师：公绪辉 郑玮</a:t>
            </a:r>
            <a:endParaRPr lang="en-US" sz="1100" dirty="0"/>
          </a:p>
          <a:p>
            <a:pPr indent="0" algn="ctr">
              <a:lnSpc>
                <a:spcPct val="125000"/>
              </a:lnSpc>
            </a:pPr>
            <a:r>
              <a:rPr lang="en-US" sz="1300" b="0" i="0" u="none" strike="noStrike" dirty="0" err="1">
                <a:solidFill>
                  <a:srgbClr val="666666"/>
                </a:solidFill>
                <a:latin typeface="Noto Sans SC"/>
                <a:ea typeface="Noto Sans SC"/>
                <a:cs typeface="Noto Sans SC"/>
                <a:sym typeface="Noto Sans SC"/>
              </a:rPr>
              <a:t>队员：吴昊阳、杨鹏坤、任艺、张子怡、张楚晗、周卫兵</a:t>
            </a:r>
            <a:r>
              <a:rPr lang="zh-CN" altLang="en-US" sz="1300" b="0" i="0" u="none" strike="noStrike" dirty="0">
                <a:solidFill>
                  <a:srgbClr val="666666"/>
                </a:solidFill>
                <a:latin typeface="Noto Sans SC"/>
                <a:ea typeface="Noto Sans SC"/>
                <a:cs typeface="Noto Sans SC"/>
                <a:sym typeface="Noto Sans SC"/>
              </a:rPr>
              <a:t>、于洋</a:t>
            </a:r>
            <a:endParaRPr lang="en-US" sz="1300" b="0" i="0" u="none" strike="noStrike" dirty="0">
              <a:solidFill>
                <a:srgbClr val="666666"/>
              </a:solidFill>
              <a:latin typeface="Noto Sans SC"/>
              <a:ea typeface="Noto Sans SC"/>
              <a:cs typeface="Noto Sans SC"/>
              <a:sym typeface="Noto Sans SC"/>
            </a:endParaRPr>
          </a:p>
        </p:txBody>
      </p:sp>
      <p:pic>
        <p:nvPicPr>
          <p:cNvPr id="8" name="Picture 8"/>
          <p:cNvPicPr>
            <a:picLocks noChangeAspect="1"/>
          </p:cNvPicPr>
          <p:nvPr/>
        </p:nvPicPr>
        <p:blipFill>
          <a:blip r:embed="rId4"/>
          <a:srcRect/>
          <a:stretch>
            <a:fillRect/>
          </a:stretch>
        </p:blipFill>
        <p:spPr>
          <a:xfrm>
            <a:off x="5892800" y="5334000"/>
            <a:ext cx="406400" cy="406400"/>
          </a:xfrm>
          <a:prstGeom prst="rect">
            <a:avLst/>
          </a:prstGeom>
          <a:noFill/>
          <a:ln w="25400" cap="flat" cmpd="sng">
            <a:noFill/>
            <a:prstDash val="solid"/>
            <a:rou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16000" cy="508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目录</a:t>
            </a:r>
            <a:endParaRPr lang="en-US" sz="1100" dirty="0"/>
          </a:p>
        </p:txBody>
      </p:sp>
      <p:sp>
        <p:nvSpPr>
          <p:cNvPr id="4" name="AutoShape 4"/>
          <p:cNvSpPr/>
          <p:nvPr/>
        </p:nvSpPr>
        <p:spPr>
          <a:xfrm>
            <a:off x="762000" y="1143000"/>
            <a:ext cx="508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5" name="AutoShape 5"/>
          <p:cNvSpPr/>
          <p:nvPr/>
        </p:nvSpPr>
        <p:spPr>
          <a:xfrm>
            <a:off x="762000" y="167005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898650"/>
            <a:ext cx="304800" cy="304800"/>
          </a:xfrm>
          <a:prstGeom prst="rect">
            <a:avLst/>
          </a:prstGeom>
        </p:spPr>
      </p:pic>
      <p:sp>
        <p:nvSpPr>
          <p:cNvPr id="7" name="AutoShape 7"/>
          <p:cNvSpPr/>
          <p:nvPr/>
        </p:nvSpPr>
        <p:spPr>
          <a:xfrm>
            <a:off x="1460500" y="1860550"/>
            <a:ext cx="38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01</a:t>
            </a:r>
            <a:endParaRPr lang="en-US" sz="1100" dirty="0"/>
          </a:p>
        </p:txBody>
      </p:sp>
      <p:sp>
        <p:nvSpPr>
          <p:cNvPr id="8" name="AutoShape 8"/>
          <p:cNvSpPr/>
          <p:nvPr/>
        </p:nvSpPr>
        <p:spPr>
          <a:xfrm>
            <a:off x="1905000" y="1860550"/>
            <a:ext cx="3556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dirty="0">
                <a:solidFill>
                  <a:srgbClr val="333333"/>
                </a:solidFill>
                <a:latin typeface="Noto Sans SC"/>
                <a:ea typeface="Noto Sans SC"/>
                <a:cs typeface="Noto Sans SC"/>
                <a:sym typeface="Noto Sans SC"/>
              </a:rPr>
              <a:t>项目背景</a:t>
            </a:r>
            <a:r>
              <a:rPr lang="zh-CN" altLang="en-US" sz="2400" b="0" i="0" u="none" strike="noStrike" dirty="0">
                <a:solidFill>
                  <a:srgbClr val="333333"/>
                </a:solidFill>
                <a:latin typeface="Noto Sans SC"/>
                <a:ea typeface="Noto Sans SC"/>
                <a:cs typeface="Noto Sans SC"/>
                <a:sym typeface="Noto Sans SC"/>
              </a:rPr>
              <a:t>与系统概述</a:t>
            </a:r>
            <a:endParaRPr lang="en-US" sz="2400" dirty="0"/>
          </a:p>
        </p:txBody>
      </p:sp>
      <p:sp>
        <p:nvSpPr>
          <p:cNvPr id="9" name="AutoShape 9"/>
          <p:cNvSpPr/>
          <p:nvPr/>
        </p:nvSpPr>
        <p:spPr>
          <a:xfrm>
            <a:off x="762000" y="262255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sp>
        <p:nvSpPr>
          <p:cNvPr id="11" name="AutoShape 11"/>
          <p:cNvSpPr/>
          <p:nvPr/>
        </p:nvSpPr>
        <p:spPr>
          <a:xfrm>
            <a:off x="1460500" y="2813050"/>
            <a:ext cx="38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02</a:t>
            </a:r>
            <a:endParaRPr lang="en-US" sz="1100" dirty="0"/>
          </a:p>
        </p:txBody>
      </p:sp>
      <p:sp>
        <p:nvSpPr>
          <p:cNvPr id="12" name="AutoShape 12"/>
          <p:cNvSpPr/>
          <p:nvPr/>
        </p:nvSpPr>
        <p:spPr>
          <a:xfrm>
            <a:off x="1905000" y="2813050"/>
            <a:ext cx="3556000"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altLang="zh-CN" sz="2400" dirty="0">
                <a:solidFill>
                  <a:srgbClr val="333333"/>
                </a:solidFill>
                <a:latin typeface="Noto Sans SC"/>
                <a:ea typeface="Noto Sans SC"/>
                <a:sym typeface="Noto Sans SC"/>
              </a:rPr>
              <a:t>技术架构</a:t>
            </a:r>
            <a:endParaRPr lang="en-US" altLang="zh-CN" sz="2400" dirty="0">
              <a:solidFill>
                <a:srgbClr val="333333"/>
              </a:solidFill>
              <a:latin typeface="Noto Sans SC"/>
              <a:ea typeface="Noto Sans SC"/>
            </a:endParaRPr>
          </a:p>
        </p:txBody>
      </p:sp>
      <p:sp>
        <p:nvSpPr>
          <p:cNvPr id="13" name="AutoShape 13"/>
          <p:cNvSpPr/>
          <p:nvPr/>
        </p:nvSpPr>
        <p:spPr>
          <a:xfrm>
            <a:off x="762000" y="357505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sp>
        <p:nvSpPr>
          <p:cNvPr id="15" name="AutoShape 15"/>
          <p:cNvSpPr/>
          <p:nvPr/>
        </p:nvSpPr>
        <p:spPr>
          <a:xfrm>
            <a:off x="1460500" y="3765550"/>
            <a:ext cx="38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03</a:t>
            </a:r>
            <a:endParaRPr lang="en-US" sz="1100" dirty="0"/>
          </a:p>
        </p:txBody>
      </p:sp>
      <p:sp>
        <p:nvSpPr>
          <p:cNvPr id="16" name="AutoShape 16"/>
          <p:cNvSpPr/>
          <p:nvPr/>
        </p:nvSpPr>
        <p:spPr>
          <a:xfrm>
            <a:off x="1905000" y="3765550"/>
            <a:ext cx="3556000"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endParaRPr lang="en-US" sz="2400" dirty="0">
              <a:solidFill>
                <a:srgbClr val="333333"/>
              </a:solidFill>
              <a:latin typeface="Noto Sans SC"/>
              <a:ea typeface="Noto Sans SC"/>
            </a:endParaRPr>
          </a:p>
        </p:txBody>
      </p:sp>
      <p:sp>
        <p:nvSpPr>
          <p:cNvPr id="17" name="AutoShape 17"/>
          <p:cNvSpPr/>
          <p:nvPr/>
        </p:nvSpPr>
        <p:spPr>
          <a:xfrm>
            <a:off x="762000" y="452755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756150"/>
            <a:ext cx="304800" cy="304800"/>
          </a:xfrm>
          <a:prstGeom prst="rect">
            <a:avLst/>
          </a:prstGeom>
        </p:spPr>
      </p:pic>
      <p:sp>
        <p:nvSpPr>
          <p:cNvPr id="19" name="AutoShape 19"/>
          <p:cNvSpPr/>
          <p:nvPr/>
        </p:nvSpPr>
        <p:spPr>
          <a:xfrm>
            <a:off x="1460500" y="4718050"/>
            <a:ext cx="38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04</a:t>
            </a:r>
            <a:endParaRPr lang="en-US" sz="1100" dirty="0"/>
          </a:p>
        </p:txBody>
      </p:sp>
      <p:sp>
        <p:nvSpPr>
          <p:cNvPr id="20" name="AutoShape 20"/>
          <p:cNvSpPr/>
          <p:nvPr/>
        </p:nvSpPr>
        <p:spPr>
          <a:xfrm>
            <a:off x="1905000" y="4718050"/>
            <a:ext cx="3556000"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zh-CN" altLang="en-US" sz="2400" dirty="0">
                <a:solidFill>
                  <a:srgbClr val="333333"/>
                </a:solidFill>
                <a:latin typeface="Noto Sans SC"/>
                <a:ea typeface="Noto Sans SC"/>
              </a:rPr>
              <a:t>异常行为检测</a:t>
            </a:r>
            <a:endParaRPr lang="en-US" sz="2400" dirty="0">
              <a:solidFill>
                <a:srgbClr val="333333"/>
              </a:solidFill>
              <a:latin typeface="Noto Sans SC"/>
              <a:ea typeface="Noto Sans SC"/>
            </a:endParaRPr>
          </a:p>
        </p:txBody>
      </p:sp>
      <p:sp>
        <p:nvSpPr>
          <p:cNvPr id="21" name="AutoShape 21"/>
          <p:cNvSpPr/>
          <p:nvPr/>
        </p:nvSpPr>
        <p:spPr>
          <a:xfrm>
            <a:off x="6350000" y="167005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1874623"/>
            <a:ext cx="304800" cy="304800"/>
          </a:xfrm>
          <a:prstGeom prst="rect">
            <a:avLst/>
          </a:prstGeom>
        </p:spPr>
      </p:pic>
      <p:sp>
        <p:nvSpPr>
          <p:cNvPr id="23" name="AutoShape 23"/>
          <p:cNvSpPr/>
          <p:nvPr/>
        </p:nvSpPr>
        <p:spPr>
          <a:xfrm>
            <a:off x="7048500" y="1860550"/>
            <a:ext cx="38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05</a:t>
            </a:r>
            <a:endParaRPr lang="en-US" sz="1100" dirty="0"/>
          </a:p>
        </p:txBody>
      </p:sp>
      <p:sp>
        <p:nvSpPr>
          <p:cNvPr id="24" name="AutoShape 24"/>
          <p:cNvSpPr/>
          <p:nvPr/>
        </p:nvSpPr>
        <p:spPr>
          <a:xfrm>
            <a:off x="7493000" y="1860550"/>
            <a:ext cx="3556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nSpc>
                <a:spcPct val="125000"/>
              </a:lnSpc>
              <a:defRPr/>
            </a:pPr>
            <a:r>
              <a:rPr lang="en-US" altLang="zh-CN" sz="2400" dirty="0">
                <a:solidFill>
                  <a:srgbClr val="333333"/>
                </a:solidFill>
                <a:latin typeface="Noto Sans SC"/>
                <a:ea typeface="Noto Sans SC"/>
                <a:sym typeface="Noto Sans SC"/>
              </a:rPr>
              <a:t>隐私保护</a:t>
            </a:r>
            <a:r>
              <a:rPr lang="zh-CN" altLang="en-US" sz="2400" dirty="0">
                <a:solidFill>
                  <a:srgbClr val="333333"/>
                </a:solidFill>
                <a:latin typeface="Noto Sans SC"/>
                <a:ea typeface="Noto Sans SC"/>
                <a:sym typeface="Noto Sans SC"/>
              </a:rPr>
              <a:t>设计</a:t>
            </a:r>
            <a:endParaRPr lang="en-US" altLang="zh-CN" sz="2400" dirty="0">
              <a:solidFill>
                <a:srgbClr val="333333"/>
              </a:solidFill>
              <a:latin typeface="Noto Sans SC"/>
              <a:ea typeface="Noto Sans SC"/>
            </a:endParaRPr>
          </a:p>
        </p:txBody>
      </p:sp>
      <p:sp>
        <p:nvSpPr>
          <p:cNvPr id="25" name="AutoShape 25"/>
          <p:cNvSpPr/>
          <p:nvPr/>
        </p:nvSpPr>
        <p:spPr>
          <a:xfrm>
            <a:off x="6350000" y="262255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sp>
        <p:nvSpPr>
          <p:cNvPr id="27" name="AutoShape 27"/>
          <p:cNvSpPr/>
          <p:nvPr/>
        </p:nvSpPr>
        <p:spPr>
          <a:xfrm>
            <a:off x="7048500" y="2813050"/>
            <a:ext cx="38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06</a:t>
            </a:r>
            <a:endParaRPr lang="en-US" sz="1100" dirty="0"/>
          </a:p>
        </p:txBody>
      </p:sp>
      <p:sp>
        <p:nvSpPr>
          <p:cNvPr id="28" name="AutoShape 28"/>
          <p:cNvSpPr/>
          <p:nvPr/>
        </p:nvSpPr>
        <p:spPr>
          <a:xfrm>
            <a:off x="7493000" y="2813050"/>
            <a:ext cx="3556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nSpc>
                <a:spcPct val="125000"/>
              </a:lnSpc>
              <a:defRPr/>
            </a:pPr>
            <a:r>
              <a:rPr lang="zh-CN" altLang="en-US" sz="2400" dirty="0">
                <a:solidFill>
                  <a:srgbClr val="333333"/>
                </a:solidFill>
                <a:latin typeface="Noto Sans SC"/>
                <a:ea typeface="Noto Sans SC"/>
              </a:rPr>
              <a:t>系统展示</a:t>
            </a:r>
            <a:endParaRPr lang="en-US" sz="2400" dirty="0">
              <a:solidFill>
                <a:srgbClr val="333333"/>
              </a:solidFill>
              <a:latin typeface="Noto Sans SC"/>
              <a:ea typeface="Noto Sans SC"/>
            </a:endParaRPr>
          </a:p>
        </p:txBody>
      </p:sp>
      <p:sp>
        <p:nvSpPr>
          <p:cNvPr id="29" name="AutoShape 29"/>
          <p:cNvSpPr/>
          <p:nvPr/>
        </p:nvSpPr>
        <p:spPr>
          <a:xfrm>
            <a:off x="6350000" y="357505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3803650"/>
            <a:ext cx="304800" cy="304800"/>
          </a:xfrm>
          <a:prstGeom prst="rect">
            <a:avLst/>
          </a:prstGeom>
        </p:spPr>
      </p:pic>
      <p:sp>
        <p:nvSpPr>
          <p:cNvPr id="31" name="AutoShape 31"/>
          <p:cNvSpPr/>
          <p:nvPr/>
        </p:nvSpPr>
        <p:spPr>
          <a:xfrm>
            <a:off x="7048500" y="3765550"/>
            <a:ext cx="38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07</a:t>
            </a:r>
            <a:endParaRPr lang="en-US" sz="1100" dirty="0"/>
          </a:p>
        </p:txBody>
      </p:sp>
      <p:sp>
        <p:nvSpPr>
          <p:cNvPr id="32" name="AutoShape 32"/>
          <p:cNvSpPr/>
          <p:nvPr/>
        </p:nvSpPr>
        <p:spPr>
          <a:xfrm>
            <a:off x="7493000" y="3765550"/>
            <a:ext cx="3556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dirty="0">
                <a:solidFill>
                  <a:srgbClr val="333333"/>
                </a:solidFill>
                <a:latin typeface="Noto Sans SC"/>
                <a:ea typeface="Noto Sans SC"/>
                <a:sym typeface="Noto Sans SC"/>
              </a:rPr>
              <a:t>系统</a:t>
            </a:r>
            <a:r>
              <a:rPr lang="zh-CN" altLang="en-US" sz="2400" dirty="0">
                <a:solidFill>
                  <a:srgbClr val="333333"/>
                </a:solidFill>
                <a:latin typeface="Noto Sans SC"/>
                <a:ea typeface="Noto Sans SC"/>
                <a:sym typeface="Noto Sans SC"/>
              </a:rPr>
              <a:t>性能评估</a:t>
            </a:r>
            <a:endParaRPr lang="en-US" sz="2400" dirty="0">
              <a:solidFill>
                <a:srgbClr val="333333"/>
              </a:solidFill>
              <a:latin typeface="Noto Sans SC"/>
              <a:ea typeface="Noto Sans SC"/>
            </a:endParaRPr>
          </a:p>
        </p:txBody>
      </p:sp>
      <p:sp>
        <p:nvSpPr>
          <p:cNvPr id="33" name="AutoShape 33"/>
          <p:cNvSpPr/>
          <p:nvPr/>
        </p:nvSpPr>
        <p:spPr>
          <a:xfrm>
            <a:off x="6350000" y="4527550"/>
            <a:ext cx="5080000" cy="762000"/>
          </a:xfrm>
          <a:prstGeom prst="roundRect">
            <a:avLst>
              <a:gd name="adj" fmla="val 16666"/>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34" name="Picture 3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4756150"/>
            <a:ext cx="304800" cy="304800"/>
          </a:xfrm>
          <a:prstGeom prst="rect">
            <a:avLst/>
          </a:prstGeom>
        </p:spPr>
      </p:pic>
      <p:sp>
        <p:nvSpPr>
          <p:cNvPr id="35" name="AutoShape 35"/>
          <p:cNvSpPr/>
          <p:nvPr/>
        </p:nvSpPr>
        <p:spPr>
          <a:xfrm>
            <a:off x="7048500" y="4718050"/>
            <a:ext cx="38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08</a:t>
            </a:r>
            <a:endParaRPr lang="en-US" sz="1100" dirty="0"/>
          </a:p>
        </p:txBody>
      </p:sp>
      <p:sp>
        <p:nvSpPr>
          <p:cNvPr id="36" name="AutoShape 36"/>
          <p:cNvSpPr/>
          <p:nvPr/>
        </p:nvSpPr>
        <p:spPr>
          <a:xfrm>
            <a:off x="7493000" y="4718050"/>
            <a:ext cx="3556000"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sz="2400" dirty="0">
                <a:solidFill>
                  <a:srgbClr val="333333"/>
                </a:solidFill>
                <a:latin typeface="Noto Sans SC"/>
                <a:ea typeface="Noto Sans SC"/>
                <a:sym typeface="Noto Sans SC"/>
              </a:rPr>
              <a:t>总结与展望</a:t>
            </a:r>
            <a:endParaRPr lang="en-US" sz="2400" dirty="0">
              <a:solidFill>
                <a:srgbClr val="333333"/>
              </a:solidFill>
              <a:latin typeface="Noto Sans SC"/>
              <a:ea typeface="Noto Sans SC"/>
            </a:endParaRPr>
          </a:p>
        </p:txBody>
      </p:sp>
      <p:sp>
        <p:nvSpPr>
          <p:cNvPr id="37" name="AutoShape 37"/>
          <p:cNvSpPr/>
          <p:nvPr/>
        </p:nvSpPr>
        <p:spPr>
          <a:xfrm>
            <a:off x="0" y="6705600"/>
            <a:ext cx="12192000" cy="152400"/>
          </a:xfrm>
          <a:prstGeom prst="roundRect">
            <a:avLst>
              <a:gd name="adj" fmla="val 0"/>
            </a:avLst>
          </a:prstGeom>
          <a:solidFill>
            <a:srgbClr val="4CAF50">
              <a:alpha val="1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2863850"/>
            <a:ext cx="304800" cy="304800"/>
          </a:xfrm>
          <a:prstGeom prst="rect">
            <a:avLst/>
          </a:prstGeom>
        </p:spPr>
      </p:pic>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2863850"/>
            <a:ext cx="304800" cy="304800"/>
          </a:xfrm>
          <a:prstGeom prst="rect">
            <a:avLst/>
          </a:prstGeom>
        </p:spPr>
      </p:pic>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3803650"/>
            <a:ext cx="304800" cy="304800"/>
          </a:xfrm>
          <a:prstGeom prst="rect">
            <a:avLst/>
          </a:prstGeom>
        </p:spPr>
      </p:pic>
      <p:sp>
        <p:nvSpPr>
          <p:cNvPr id="38" name="AutoShape 12"/>
          <p:cNvSpPr/>
          <p:nvPr/>
        </p:nvSpPr>
        <p:spPr>
          <a:xfrm>
            <a:off x="1905000" y="3757741"/>
            <a:ext cx="3556000"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zh-CN" altLang="en-US" sz="2400" dirty="0">
                <a:solidFill>
                  <a:srgbClr val="333333"/>
                </a:solidFill>
                <a:latin typeface="Noto Sans SC"/>
                <a:ea typeface="Noto Sans SC"/>
              </a:rPr>
              <a:t>系统功能</a:t>
            </a:r>
            <a:endParaRPr lang="en-US" altLang="zh-CN" sz="2400" dirty="0">
              <a:solidFill>
                <a:srgbClr val="333333"/>
              </a:solidFill>
              <a:latin typeface="Noto Sans SC"/>
              <a:ea typeface="Noto Sans SC"/>
            </a:endParaRPr>
          </a:p>
        </p:txBody>
      </p:sp>
      <p:sp>
        <p:nvSpPr>
          <p:cNvPr id="39"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40259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1)项目背景</a:t>
            </a:r>
            <a:endParaRPr lang="en-US" sz="1100" dirty="0"/>
          </a:p>
        </p:txBody>
      </p:sp>
      <p:sp>
        <p:nvSpPr>
          <p:cNvPr id="4" name="AutoShape 4"/>
          <p:cNvSpPr/>
          <p:nvPr/>
        </p:nvSpPr>
        <p:spPr>
          <a:xfrm>
            <a:off x="762000" y="1397000"/>
            <a:ext cx="3302000" cy="3302000"/>
          </a:xfrm>
          <a:prstGeom prst="roundRect">
            <a:avLst>
              <a:gd name="adj" fmla="val 3846"/>
            </a:avLst>
          </a:prstGeom>
          <a:solidFill>
            <a:srgbClr val="FFFFFF">
              <a:alpha val="90000"/>
            </a:srgbClr>
          </a:solidFill>
          <a:ln w="12700" cap="flat" cmpd="sng">
            <a:solidFill>
              <a:srgbClr val="E6E6E6">
                <a:alpha val="10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pic>
        <p:nvPicPr>
          <p:cNvPr id="5" name="Picture 5"/>
          <p:cNvPicPr>
            <a:picLocks noChangeAspect="1"/>
          </p:cNvPicPr>
          <p:nvPr/>
        </p:nvPicPr>
        <p:blipFill>
          <a:blip r:embed="rId3"/>
          <a:srcRect/>
          <a:stretch>
            <a:fillRect/>
          </a:stretch>
        </p:blipFill>
        <p:spPr>
          <a:xfrm>
            <a:off x="1016000" y="1651000"/>
            <a:ext cx="406400" cy="406400"/>
          </a:xfrm>
          <a:prstGeom prst="rect">
            <a:avLst/>
          </a:prstGeom>
          <a:noFill/>
          <a:ln w="25400" cap="flat" cmpd="sng">
            <a:noFill/>
            <a:prstDash val="solid"/>
            <a:round/>
          </a:ln>
        </p:spPr>
      </p:pic>
      <p:sp>
        <p:nvSpPr>
          <p:cNvPr id="6" name="AutoShape 6"/>
          <p:cNvSpPr/>
          <p:nvPr/>
        </p:nvSpPr>
        <p:spPr>
          <a:xfrm>
            <a:off x="1524000" y="16510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老龄化现状</a:t>
            </a:r>
            <a:endParaRPr lang="en-US" sz="1100" dirty="0"/>
          </a:p>
        </p:txBody>
      </p:sp>
      <p:sp>
        <p:nvSpPr>
          <p:cNvPr id="7" name="AutoShape 7"/>
          <p:cNvSpPr/>
          <p:nvPr/>
        </p:nvSpPr>
        <p:spPr>
          <a:xfrm>
            <a:off x="1016000" y="2159000"/>
            <a:ext cx="2794000" cy="203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dirty="0">
                <a:solidFill>
                  <a:srgbClr val="666666"/>
                </a:solidFill>
                <a:latin typeface="Noto Sans SC"/>
                <a:ea typeface="Noto Sans SC"/>
                <a:cs typeface="Noto Sans SC"/>
                <a:sym typeface="Noto Sans SC"/>
              </a:rPr>
              <a:t>我国60岁以上人口已达</a:t>
            </a:r>
            <a:r>
              <a:rPr lang="en-US" sz="2000" b="1" i="0" u="none" strike="noStrike" dirty="0">
                <a:solidFill>
                  <a:srgbClr val="4CAF50"/>
                </a:solidFill>
                <a:latin typeface="Noto Sans SC"/>
                <a:ea typeface="Noto Sans SC"/>
                <a:cs typeface="Noto Sans SC"/>
                <a:sym typeface="Noto Sans SC"/>
              </a:rPr>
              <a:t>2.8亿</a:t>
            </a:r>
            <a:endParaRPr lang="en-US" sz="2000" dirty="0"/>
          </a:p>
          <a:p>
            <a:pPr indent="0" algn="l">
              <a:lnSpc>
                <a:spcPct val="108000"/>
              </a:lnSpc>
            </a:pPr>
            <a:r>
              <a:rPr lang="en-US" sz="1600" b="0" i="0" u="none" strike="noStrike" dirty="0">
                <a:solidFill>
                  <a:srgbClr val="666666"/>
                </a:solidFill>
                <a:latin typeface="Noto Sans SC"/>
                <a:ea typeface="Noto Sans SC"/>
                <a:cs typeface="Noto Sans SC"/>
                <a:sym typeface="Noto Sans SC"/>
              </a:rPr>
              <a:t>其中独居老人数量超</a:t>
            </a:r>
            <a:r>
              <a:rPr lang="en-US" sz="2000" b="1" i="0" u="none" strike="noStrike" dirty="0">
                <a:solidFill>
                  <a:srgbClr val="4CAF50"/>
                </a:solidFill>
                <a:latin typeface="Noto Sans SC"/>
                <a:ea typeface="Noto Sans SC"/>
                <a:cs typeface="Noto Sans SC"/>
                <a:sym typeface="Noto Sans SC"/>
              </a:rPr>
              <a:t>1.2亿</a:t>
            </a:r>
          </a:p>
          <a:p>
            <a:pPr indent="0" algn="l">
              <a:lnSpc>
                <a:spcPct val="108000"/>
              </a:lnSpc>
              <a:spcBef>
                <a:spcPts val="1000"/>
              </a:spcBef>
            </a:pPr>
            <a:r>
              <a:rPr lang="en-US" sz="1600" b="0" i="0" u="none" strike="noStrike" dirty="0">
                <a:solidFill>
                  <a:srgbClr val="666666"/>
                </a:solidFill>
                <a:latin typeface="Noto Sans SC"/>
                <a:ea typeface="Noto Sans SC"/>
                <a:cs typeface="Noto Sans SC"/>
                <a:sym typeface="Noto Sans SC"/>
              </a:rPr>
              <a:t>独居老人面临跌倒、突发疾病等风险，传统监护手段在时效性、覆盖率上存在明显不足。</a:t>
            </a:r>
          </a:p>
        </p:txBody>
      </p:sp>
      <p:sp>
        <p:nvSpPr>
          <p:cNvPr id="8" name="AutoShape 8"/>
          <p:cNvSpPr/>
          <p:nvPr/>
        </p:nvSpPr>
        <p:spPr>
          <a:xfrm>
            <a:off x="4318000" y="1397000"/>
            <a:ext cx="3429000" cy="1524000"/>
          </a:xfrm>
          <a:prstGeom prst="roundRect">
            <a:avLst>
              <a:gd name="adj" fmla="val 8333"/>
            </a:avLst>
          </a:prstGeom>
          <a:solidFill>
            <a:srgbClr val="FFFFFF">
              <a:alpha val="90000"/>
            </a:srgbClr>
          </a:solidFill>
          <a:ln w="12700" cap="flat" cmpd="sng">
            <a:solidFill>
              <a:srgbClr val="E6E6E6">
                <a:alpha val="10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pic>
        <p:nvPicPr>
          <p:cNvPr id="9" name="Picture 9"/>
          <p:cNvPicPr>
            <a:picLocks noChangeAspect="1"/>
          </p:cNvPicPr>
          <p:nvPr/>
        </p:nvPicPr>
        <p:blipFill>
          <a:blip r:embed="rId4"/>
          <a:srcRect/>
          <a:stretch>
            <a:fillRect/>
          </a:stretch>
        </p:blipFill>
        <p:spPr>
          <a:xfrm>
            <a:off x="4508500" y="1587500"/>
            <a:ext cx="355600" cy="355600"/>
          </a:xfrm>
          <a:prstGeom prst="rect">
            <a:avLst/>
          </a:prstGeom>
          <a:noFill/>
          <a:ln w="25400" cap="flat" cmpd="sng">
            <a:noFill/>
            <a:prstDash val="solid"/>
            <a:round/>
          </a:ln>
        </p:spPr>
      </p:pic>
      <p:sp>
        <p:nvSpPr>
          <p:cNvPr id="10" name="AutoShape 10"/>
          <p:cNvSpPr/>
          <p:nvPr/>
        </p:nvSpPr>
        <p:spPr>
          <a:xfrm>
            <a:off x="4953000" y="1587500"/>
            <a:ext cx="2540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a:ea typeface="Noto Sans SC"/>
                <a:cs typeface="Noto Sans SC"/>
                <a:sym typeface="Noto Sans SC"/>
              </a:rPr>
              <a:t>传统人工监护</a:t>
            </a:r>
            <a:endParaRPr lang="en-US" sz="1100" dirty="0"/>
          </a:p>
        </p:txBody>
      </p:sp>
      <p:sp>
        <p:nvSpPr>
          <p:cNvPr id="11" name="AutoShape 11"/>
          <p:cNvSpPr/>
          <p:nvPr/>
        </p:nvSpPr>
        <p:spPr>
          <a:xfrm>
            <a:off x="4519655" y="2022132"/>
            <a:ext cx="3152689"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dirty="0">
                <a:solidFill>
                  <a:srgbClr val="666666"/>
                </a:solidFill>
                <a:latin typeface="Noto Sans SC"/>
                <a:ea typeface="Noto Sans SC"/>
                <a:cs typeface="Noto Sans SC"/>
                <a:sym typeface="Noto Sans SC"/>
              </a:rPr>
              <a:t>依赖护工定期巡查，无法实现24小时不间断监护。人力成本高昂，</a:t>
            </a:r>
            <a:r>
              <a:rPr lang="zh-CN" altLang="en-US" sz="1600" dirty="0">
                <a:solidFill>
                  <a:srgbClr val="666666"/>
                </a:solidFill>
                <a:latin typeface="Noto Sans SC"/>
                <a:ea typeface="Noto Sans SC"/>
                <a:cs typeface="Noto Sans SC"/>
                <a:sym typeface="Noto Sans SC"/>
              </a:rPr>
              <a:t>如遇</a:t>
            </a:r>
            <a:r>
              <a:rPr lang="en-US" sz="1600" b="0" i="0" u="none" strike="noStrike" dirty="0">
                <a:solidFill>
                  <a:srgbClr val="666666"/>
                </a:solidFill>
                <a:latin typeface="Noto Sans SC"/>
                <a:ea typeface="Noto Sans SC"/>
                <a:cs typeface="Noto Sans SC"/>
                <a:sym typeface="Noto Sans SC"/>
              </a:rPr>
              <a:t>突发情况难以及时发现与响应。</a:t>
            </a:r>
            <a:endParaRPr lang="en-US" sz="1600" dirty="0"/>
          </a:p>
        </p:txBody>
      </p:sp>
      <p:sp>
        <p:nvSpPr>
          <p:cNvPr id="12" name="AutoShape 12"/>
          <p:cNvSpPr/>
          <p:nvPr/>
        </p:nvSpPr>
        <p:spPr>
          <a:xfrm>
            <a:off x="8000999" y="1397000"/>
            <a:ext cx="3523735" cy="1524000"/>
          </a:xfrm>
          <a:prstGeom prst="roundRect">
            <a:avLst>
              <a:gd name="adj" fmla="val 8333"/>
            </a:avLst>
          </a:prstGeom>
          <a:solidFill>
            <a:srgbClr val="FFFFFF">
              <a:alpha val="90000"/>
            </a:srgbClr>
          </a:solidFill>
          <a:ln w="12700" cap="flat" cmpd="sng">
            <a:solidFill>
              <a:srgbClr val="E6E6E6">
                <a:alpha val="10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pic>
        <p:nvPicPr>
          <p:cNvPr id="13" name="Picture 13"/>
          <p:cNvPicPr>
            <a:picLocks noChangeAspect="1"/>
          </p:cNvPicPr>
          <p:nvPr/>
        </p:nvPicPr>
        <p:blipFill>
          <a:blip r:embed="rId5"/>
          <a:srcRect/>
          <a:stretch>
            <a:fillRect/>
          </a:stretch>
        </p:blipFill>
        <p:spPr>
          <a:xfrm>
            <a:off x="8191500" y="1587500"/>
            <a:ext cx="355600" cy="355600"/>
          </a:xfrm>
          <a:prstGeom prst="rect">
            <a:avLst/>
          </a:prstGeom>
          <a:noFill/>
          <a:ln w="25400" cap="flat" cmpd="sng">
            <a:noFill/>
            <a:prstDash val="solid"/>
            <a:round/>
          </a:ln>
        </p:spPr>
      </p:pic>
      <p:sp>
        <p:nvSpPr>
          <p:cNvPr id="14" name="AutoShape 14"/>
          <p:cNvSpPr/>
          <p:nvPr/>
        </p:nvSpPr>
        <p:spPr>
          <a:xfrm>
            <a:off x="8636000" y="1587500"/>
            <a:ext cx="2540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a:ea typeface="Noto Sans SC"/>
                <a:cs typeface="Noto Sans SC"/>
                <a:sym typeface="Noto Sans SC"/>
              </a:rPr>
              <a:t>普通视频监控</a:t>
            </a:r>
            <a:endParaRPr lang="en-US" sz="1100" dirty="0"/>
          </a:p>
        </p:txBody>
      </p:sp>
      <p:sp>
        <p:nvSpPr>
          <p:cNvPr id="15" name="AutoShape 15"/>
          <p:cNvSpPr/>
          <p:nvPr/>
        </p:nvSpPr>
        <p:spPr>
          <a:xfrm>
            <a:off x="8191499" y="1957774"/>
            <a:ext cx="3333235"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dirty="0">
                <a:solidFill>
                  <a:srgbClr val="666666"/>
                </a:solidFill>
                <a:latin typeface="Noto Sans SC"/>
                <a:ea typeface="Noto Sans SC"/>
                <a:cs typeface="Noto Sans SC"/>
                <a:sym typeface="Noto Sans SC"/>
              </a:rPr>
              <a:t>全天实时录像严重侵犯老人隐私权</a:t>
            </a:r>
            <a:r>
              <a:rPr lang="zh-CN" altLang="en-US" sz="1600" b="0" i="0" u="none" strike="noStrike" dirty="0">
                <a:solidFill>
                  <a:srgbClr val="666666"/>
                </a:solidFill>
                <a:latin typeface="Noto Sans SC"/>
                <a:ea typeface="Noto Sans SC"/>
                <a:cs typeface="Noto Sans SC"/>
                <a:sym typeface="Noto Sans SC"/>
              </a:rPr>
              <a:t>；</a:t>
            </a:r>
            <a:endParaRPr lang="en-US" altLang="zh-CN" sz="1600" b="0" i="0" u="none" strike="noStrike" dirty="0">
              <a:solidFill>
                <a:srgbClr val="666666"/>
              </a:solidFill>
              <a:latin typeface="Noto Sans SC"/>
              <a:ea typeface="Noto Sans SC"/>
              <a:cs typeface="Noto Sans SC"/>
              <a:sym typeface="Noto Sans SC"/>
            </a:endParaRPr>
          </a:p>
          <a:p>
            <a:pPr indent="0" algn="l">
              <a:lnSpc>
                <a:spcPct val="100000"/>
              </a:lnSpc>
              <a:defRPr/>
            </a:pPr>
            <a:r>
              <a:rPr lang="en-US" sz="1600" b="0" i="0" u="none" strike="noStrike" dirty="0">
                <a:solidFill>
                  <a:srgbClr val="666666"/>
                </a:solidFill>
                <a:latin typeface="Noto Sans SC"/>
                <a:ea typeface="Noto Sans SC"/>
                <a:cs typeface="Noto Sans SC"/>
                <a:sym typeface="Noto Sans SC"/>
              </a:rPr>
              <a:t>数据存储管理存在安全隐患，易引发老人心理抵触，社会接受度较低。</a:t>
            </a:r>
            <a:endParaRPr lang="en-US" sz="1600" dirty="0"/>
          </a:p>
        </p:txBody>
      </p:sp>
      <p:sp>
        <p:nvSpPr>
          <p:cNvPr id="16" name="AutoShape 16"/>
          <p:cNvSpPr/>
          <p:nvPr/>
        </p:nvSpPr>
        <p:spPr>
          <a:xfrm>
            <a:off x="4318000" y="3175000"/>
            <a:ext cx="3429000" cy="1524000"/>
          </a:xfrm>
          <a:prstGeom prst="roundRect">
            <a:avLst>
              <a:gd name="adj" fmla="val 8333"/>
            </a:avLst>
          </a:prstGeom>
          <a:solidFill>
            <a:srgbClr val="FFFFFF">
              <a:alpha val="90000"/>
            </a:srgbClr>
          </a:solidFill>
          <a:ln w="12700" cap="flat" cmpd="sng">
            <a:solidFill>
              <a:srgbClr val="E6E6E6">
                <a:alpha val="10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pic>
        <p:nvPicPr>
          <p:cNvPr id="17" name="Picture 17"/>
          <p:cNvPicPr>
            <a:picLocks noChangeAspect="1"/>
          </p:cNvPicPr>
          <p:nvPr/>
        </p:nvPicPr>
        <p:blipFill>
          <a:blip r:embed="rId6"/>
          <a:srcRect/>
          <a:stretch>
            <a:fillRect/>
          </a:stretch>
        </p:blipFill>
        <p:spPr>
          <a:xfrm>
            <a:off x="4508500" y="3365500"/>
            <a:ext cx="355600" cy="355600"/>
          </a:xfrm>
          <a:prstGeom prst="rect">
            <a:avLst/>
          </a:prstGeom>
          <a:noFill/>
          <a:ln w="25400" cap="flat" cmpd="sng">
            <a:noFill/>
            <a:prstDash val="solid"/>
            <a:round/>
          </a:ln>
        </p:spPr>
      </p:pic>
      <p:sp>
        <p:nvSpPr>
          <p:cNvPr id="18" name="AutoShape 18"/>
          <p:cNvSpPr/>
          <p:nvPr/>
        </p:nvSpPr>
        <p:spPr>
          <a:xfrm>
            <a:off x="4953000" y="3365500"/>
            <a:ext cx="2540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a:ea typeface="Noto Sans SC"/>
                <a:cs typeface="Noto Sans SC"/>
                <a:sym typeface="Noto Sans SC"/>
              </a:rPr>
              <a:t>智能穿戴设备</a:t>
            </a:r>
            <a:endParaRPr lang="en-US" sz="1100" dirty="0"/>
          </a:p>
        </p:txBody>
      </p:sp>
      <p:sp>
        <p:nvSpPr>
          <p:cNvPr id="19" name="AutoShape 19"/>
          <p:cNvSpPr/>
          <p:nvPr/>
        </p:nvSpPr>
        <p:spPr>
          <a:xfrm>
            <a:off x="4508500" y="3753193"/>
            <a:ext cx="3048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dirty="0">
                <a:solidFill>
                  <a:srgbClr val="666666"/>
                </a:solidFill>
                <a:latin typeface="Noto Sans SC"/>
                <a:ea typeface="Noto Sans SC"/>
                <a:cs typeface="Noto Sans SC"/>
                <a:sym typeface="Noto Sans SC"/>
              </a:rPr>
              <a:t>依赖老人主动佩戴</a:t>
            </a:r>
            <a:r>
              <a:rPr lang="zh-CN" altLang="en-US" sz="1600" b="0" i="0" u="none" strike="noStrike" dirty="0">
                <a:solidFill>
                  <a:srgbClr val="666666"/>
                </a:solidFill>
                <a:latin typeface="Noto Sans SC"/>
                <a:ea typeface="Noto Sans SC"/>
                <a:cs typeface="Noto Sans SC"/>
                <a:sym typeface="Noto Sans SC"/>
              </a:rPr>
              <a:t>，</a:t>
            </a:r>
            <a:r>
              <a:rPr lang="en-US" sz="1600" b="0" i="0" u="none" strike="noStrike" dirty="0">
                <a:solidFill>
                  <a:srgbClr val="666666"/>
                </a:solidFill>
                <a:latin typeface="Noto Sans SC"/>
                <a:ea typeface="Noto Sans SC"/>
                <a:cs typeface="Noto Sans SC"/>
                <a:sym typeface="Noto Sans SC"/>
              </a:rPr>
              <a:t>存在电池续航焦虑问题，且设备体积小，在居家环境中易丢失或意外损坏。</a:t>
            </a:r>
            <a:endParaRPr lang="en-US" sz="1600" dirty="0"/>
          </a:p>
        </p:txBody>
      </p:sp>
      <p:sp>
        <p:nvSpPr>
          <p:cNvPr id="20" name="AutoShape 20"/>
          <p:cNvSpPr/>
          <p:nvPr/>
        </p:nvSpPr>
        <p:spPr>
          <a:xfrm>
            <a:off x="8001000" y="3175000"/>
            <a:ext cx="3523734" cy="1524000"/>
          </a:xfrm>
          <a:prstGeom prst="roundRect">
            <a:avLst>
              <a:gd name="adj" fmla="val 8333"/>
            </a:avLst>
          </a:prstGeom>
          <a:solidFill>
            <a:srgbClr val="FFFFFF">
              <a:alpha val="90000"/>
            </a:srgbClr>
          </a:solidFill>
          <a:ln w="12700" cap="flat" cmpd="sng">
            <a:solidFill>
              <a:srgbClr val="E6E6E6">
                <a:alpha val="100000"/>
              </a:srgbClr>
            </a:solid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pic>
        <p:nvPicPr>
          <p:cNvPr id="21" name="Picture 21"/>
          <p:cNvPicPr>
            <a:picLocks noChangeAspect="1"/>
          </p:cNvPicPr>
          <p:nvPr/>
        </p:nvPicPr>
        <p:blipFill>
          <a:blip r:embed="rId7"/>
          <a:srcRect/>
          <a:stretch>
            <a:fillRect/>
          </a:stretch>
        </p:blipFill>
        <p:spPr>
          <a:xfrm>
            <a:off x="8191500" y="3365500"/>
            <a:ext cx="355600" cy="355600"/>
          </a:xfrm>
          <a:prstGeom prst="rect">
            <a:avLst/>
          </a:prstGeom>
          <a:noFill/>
          <a:ln w="25400" cap="flat" cmpd="sng">
            <a:noFill/>
            <a:prstDash val="solid"/>
            <a:round/>
          </a:ln>
        </p:spPr>
      </p:pic>
      <p:sp>
        <p:nvSpPr>
          <p:cNvPr id="22" name="AutoShape 22"/>
          <p:cNvSpPr/>
          <p:nvPr/>
        </p:nvSpPr>
        <p:spPr>
          <a:xfrm>
            <a:off x="8636000" y="3365500"/>
            <a:ext cx="2540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a:ea typeface="Noto Sans SC"/>
                <a:cs typeface="Noto Sans SC"/>
                <a:sym typeface="Noto Sans SC"/>
              </a:rPr>
              <a:t>现有</a:t>
            </a:r>
            <a:r>
              <a:rPr lang="zh-CN" altLang="en-US" sz="1800" b="1" dirty="0">
                <a:solidFill>
                  <a:srgbClr val="333333"/>
                </a:solidFill>
                <a:latin typeface="Noto Sans SC"/>
                <a:ea typeface="Noto Sans SC"/>
                <a:cs typeface="Noto Sans SC"/>
                <a:sym typeface="Noto Sans SC"/>
              </a:rPr>
              <a:t>智能</a:t>
            </a:r>
            <a:r>
              <a:rPr lang="en-US" sz="1800" b="1" i="0" u="none" strike="noStrike" dirty="0">
                <a:solidFill>
                  <a:srgbClr val="333333"/>
                </a:solidFill>
                <a:latin typeface="Noto Sans SC"/>
                <a:ea typeface="Noto Sans SC"/>
                <a:cs typeface="Noto Sans SC"/>
                <a:sym typeface="Noto Sans SC"/>
              </a:rPr>
              <a:t>监测系统</a:t>
            </a:r>
            <a:endParaRPr lang="en-US" sz="1100" dirty="0"/>
          </a:p>
        </p:txBody>
      </p:sp>
      <p:sp>
        <p:nvSpPr>
          <p:cNvPr id="23" name="AutoShape 23"/>
          <p:cNvSpPr/>
          <p:nvPr/>
        </p:nvSpPr>
        <p:spPr>
          <a:xfrm>
            <a:off x="8191500" y="3765550"/>
            <a:ext cx="3587234"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dirty="0" err="1">
                <a:solidFill>
                  <a:srgbClr val="666666"/>
                </a:solidFill>
                <a:latin typeface="Noto Sans SC"/>
                <a:ea typeface="Noto Sans SC"/>
                <a:cs typeface="Noto Sans SC"/>
                <a:sym typeface="Noto Sans SC"/>
              </a:rPr>
              <a:t>普遍存在误报率高、体验不佳的问题</a:t>
            </a:r>
            <a:r>
              <a:rPr lang="zh-CN" altLang="en-US" sz="1600" b="0" i="0" u="none" strike="noStrike" dirty="0">
                <a:solidFill>
                  <a:srgbClr val="666666"/>
                </a:solidFill>
                <a:latin typeface="Noto Sans SC"/>
                <a:ea typeface="Noto Sans SC"/>
                <a:cs typeface="Noto Sans SC"/>
                <a:sym typeface="Noto Sans SC"/>
              </a:rPr>
              <a:t>；</a:t>
            </a:r>
            <a:r>
              <a:rPr lang="en-US" sz="1600" b="0" i="0" u="none" strike="noStrike" dirty="0">
                <a:solidFill>
                  <a:srgbClr val="666666"/>
                </a:solidFill>
                <a:latin typeface="Noto Sans SC"/>
                <a:ea typeface="Noto Sans SC"/>
                <a:cs typeface="Noto Sans SC"/>
                <a:sym typeface="Noto Sans SC"/>
              </a:rPr>
              <a:t>缺乏完善的隐私保护机制</a:t>
            </a:r>
            <a:r>
              <a:rPr lang="zh-CN" altLang="en-US" sz="1600" dirty="0">
                <a:solidFill>
                  <a:srgbClr val="666666"/>
                </a:solidFill>
                <a:latin typeface="Noto Sans SC"/>
                <a:ea typeface="Noto Sans SC"/>
                <a:cs typeface="Noto Sans SC"/>
                <a:sym typeface="Noto Sans SC"/>
              </a:rPr>
              <a:t>；</a:t>
            </a:r>
            <a:endParaRPr lang="en-US" sz="1600" b="0" i="0" u="none" strike="noStrike" dirty="0">
              <a:solidFill>
                <a:srgbClr val="666666"/>
              </a:solidFill>
              <a:latin typeface="Noto Sans SC"/>
              <a:ea typeface="Noto Sans SC"/>
              <a:cs typeface="Noto Sans SC"/>
              <a:sym typeface="Noto Sans SC"/>
            </a:endParaRPr>
          </a:p>
          <a:p>
            <a:pPr indent="0" algn="l">
              <a:lnSpc>
                <a:spcPct val="100000"/>
              </a:lnSpc>
              <a:defRPr/>
            </a:pPr>
            <a:r>
              <a:rPr lang="en-US" sz="1600" b="0" i="0" u="none" strike="noStrike" dirty="0" err="1">
                <a:solidFill>
                  <a:srgbClr val="666666"/>
                </a:solidFill>
                <a:latin typeface="Noto Sans SC"/>
                <a:ea typeface="Noto Sans SC"/>
                <a:cs typeface="Noto Sans SC"/>
                <a:sym typeface="Noto Sans SC"/>
              </a:rPr>
              <a:t>功能单一，未能形成</a:t>
            </a:r>
            <a:r>
              <a:rPr lang="zh-CN" altLang="en-US" sz="1600" b="0" i="0" u="none" strike="noStrike" dirty="0">
                <a:solidFill>
                  <a:srgbClr val="666666"/>
                </a:solidFill>
                <a:latin typeface="Noto Sans SC"/>
                <a:ea typeface="Noto Sans SC"/>
                <a:cs typeface="Noto Sans SC"/>
                <a:sym typeface="Noto Sans SC"/>
              </a:rPr>
              <a:t>系统化</a:t>
            </a:r>
            <a:r>
              <a:rPr lang="en-US" sz="1600" b="0" i="0" u="none" strike="noStrike" dirty="0">
                <a:solidFill>
                  <a:srgbClr val="666666"/>
                </a:solidFill>
                <a:latin typeface="Noto Sans SC"/>
                <a:ea typeface="Noto Sans SC"/>
                <a:cs typeface="Noto Sans SC"/>
                <a:sym typeface="Noto Sans SC"/>
              </a:rPr>
              <a:t>监护闭环。</a:t>
            </a:r>
            <a:endParaRPr lang="en-US" sz="1600" dirty="0"/>
          </a:p>
        </p:txBody>
      </p:sp>
      <p:sp>
        <p:nvSpPr>
          <p:cNvPr id="24" name="AutoShape 24"/>
          <p:cNvSpPr/>
          <p:nvPr/>
        </p:nvSpPr>
        <p:spPr>
          <a:xfrm>
            <a:off x="762000" y="5016500"/>
            <a:ext cx="10668000" cy="1143000"/>
          </a:xfrm>
          <a:prstGeom prst="roundRect">
            <a:avLst>
              <a:gd name="adj" fmla="val 11111"/>
            </a:avLst>
          </a:prstGeom>
          <a:solidFill>
            <a:srgbClr val="4CAF50">
              <a:alpha val="10000"/>
            </a:srgbClr>
          </a:solidFill>
          <a:ln w="12700" cap="flat" cmpd="sng">
            <a:solidFill>
              <a:srgbClr val="4CAF50">
                <a:alpha val="30000"/>
              </a:srgbClr>
            </a:solidFill>
            <a:prstDash val="solid"/>
            <a:round/>
          </a:ln>
        </p:spPr>
        <p:txBody>
          <a:bodyPr vert="horz" wrap="square" lIns="63500" tIns="63500" rIns="63500" bIns="63500" rtlCol="0" anchor="ctr"/>
          <a:lstStyle/>
          <a:p>
            <a:pPr algn="ctr">
              <a:defRPr/>
            </a:pPr>
            <a:endParaRPr dirty="0"/>
          </a:p>
        </p:txBody>
      </p:sp>
      <p:pic>
        <p:nvPicPr>
          <p:cNvPr id="25" name="Picture 25"/>
          <p:cNvPicPr>
            <a:picLocks noChangeAspect="1"/>
          </p:cNvPicPr>
          <p:nvPr/>
        </p:nvPicPr>
        <p:blipFill>
          <a:blip r:embed="rId8"/>
          <a:srcRect/>
          <a:stretch>
            <a:fillRect/>
          </a:stretch>
        </p:blipFill>
        <p:spPr>
          <a:xfrm>
            <a:off x="1016000" y="5359400"/>
            <a:ext cx="457200" cy="457200"/>
          </a:xfrm>
          <a:prstGeom prst="rect">
            <a:avLst/>
          </a:prstGeom>
          <a:noFill/>
          <a:ln w="25400" cap="flat" cmpd="sng">
            <a:noFill/>
            <a:prstDash val="solid"/>
            <a:round/>
          </a:ln>
        </p:spPr>
      </p:pic>
      <p:sp>
        <p:nvSpPr>
          <p:cNvPr id="26" name="AutoShape 26"/>
          <p:cNvSpPr/>
          <p:nvPr/>
        </p:nvSpPr>
        <p:spPr>
          <a:xfrm>
            <a:off x="1651000" y="5207000"/>
            <a:ext cx="9398000"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dirty="0">
                <a:solidFill>
                  <a:srgbClr val="333333"/>
                </a:solidFill>
                <a:latin typeface="Noto Sans SC"/>
                <a:ea typeface="Noto Sans SC"/>
                <a:cs typeface="Noto Sans SC"/>
                <a:sym typeface="Noto Sans SC"/>
              </a:rPr>
              <a:t>核心需求：</a:t>
            </a:r>
            <a:r>
              <a:rPr lang="en-US" sz="1600" b="0" i="0" u="none" strike="noStrike" dirty="0">
                <a:solidFill>
                  <a:srgbClr val="3C3C3C"/>
                </a:solidFill>
                <a:latin typeface="Noto Sans SC"/>
                <a:ea typeface="Noto Sans SC"/>
                <a:cs typeface="Noto Sans SC"/>
                <a:sym typeface="Noto Sans SC"/>
              </a:rPr>
              <a:t>开发一款能够</a:t>
            </a:r>
            <a:r>
              <a:rPr lang="en-US" sz="2000" b="1" i="0" u="none" strike="noStrike" dirty="0">
                <a:solidFill>
                  <a:srgbClr val="4CAF50"/>
                </a:solidFill>
                <a:latin typeface="Noto Sans SC"/>
                <a:ea typeface="Noto Sans SC"/>
                <a:cs typeface="Noto Sans SC"/>
                <a:sym typeface="Noto Sans SC"/>
              </a:rPr>
              <a:t>24小时不间断监测</a:t>
            </a:r>
            <a:r>
              <a:rPr lang="en-US" sz="1600" b="0" i="0" u="none" strike="noStrike" dirty="0">
                <a:solidFill>
                  <a:srgbClr val="3C3C3C"/>
                </a:solidFill>
                <a:latin typeface="Noto Sans SC"/>
                <a:ea typeface="Noto Sans SC"/>
                <a:cs typeface="Noto Sans SC"/>
                <a:sym typeface="Noto Sans SC"/>
              </a:rPr>
              <a:t>独居老人异常行为，同时通过隐私保护技术解决隐私泄露痛点，具备完整系统化功能的智能监护平台。</a:t>
            </a:r>
            <a:endParaRPr lang="en-US" sz="1600" dirty="0"/>
          </a:p>
        </p:txBody>
      </p:sp>
      <p:sp>
        <p:nvSpPr>
          <p:cNvPr id="27"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20066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dirty="0">
                <a:solidFill>
                  <a:srgbClr val="333333"/>
                </a:solidFill>
                <a:latin typeface="Noto Sans SC"/>
                <a:ea typeface="Noto Sans SC"/>
                <a:cs typeface="Noto Sans SC"/>
                <a:sym typeface="Noto Sans SC"/>
              </a:rPr>
              <a:t>1</a:t>
            </a:r>
            <a:r>
              <a:rPr lang="en-US" sz="3600" b="1" i="0" u="none" strike="noStrike" dirty="0">
                <a:solidFill>
                  <a:srgbClr val="333333"/>
                </a:solidFill>
                <a:latin typeface="Noto Sans SC"/>
                <a:ea typeface="Noto Sans SC"/>
                <a:cs typeface="Noto Sans SC"/>
                <a:sym typeface="Noto Sans SC"/>
              </a:rPr>
              <a:t>)系统概述</a:t>
            </a:r>
            <a:endParaRPr lang="en-US" sz="1100" dirty="0"/>
          </a:p>
        </p:txBody>
      </p:sp>
      <p:sp>
        <p:nvSpPr>
          <p:cNvPr id="4" name="AutoShape 4"/>
          <p:cNvSpPr/>
          <p:nvPr/>
        </p:nvSpPr>
        <p:spPr>
          <a:xfrm>
            <a:off x="762000" y="1206500"/>
            <a:ext cx="762000" cy="508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5" name="AutoShape 5"/>
          <p:cNvSpPr/>
          <p:nvPr/>
        </p:nvSpPr>
        <p:spPr>
          <a:xfrm>
            <a:off x="762000" y="1523999"/>
            <a:ext cx="5842000" cy="1378123"/>
          </a:xfrm>
          <a:prstGeom prst="roundRect">
            <a:avLst>
              <a:gd name="adj" fmla="val 11764"/>
            </a:avLst>
          </a:prstGeom>
          <a:solidFill>
            <a:srgbClr val="F5F5F5">
              <a:alpha val="6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dirty="0"/>
          </a:p>
        </p:txBody>
      </p:sp>
      <p:pic>
        <p:nvPicPr>
          <p:cNvPr id="6" name="Picture 6"/>
          <p:cNvPicPr>
            <a:picLocks noChangeAspect="1"/>
          </p:cNvPicPr>
          <p:nvPr/>
        </p:nvPicPr>
        <p:blipFill>
          <a:blip r:embed="rId3"/>
          <a:srcRect/>
          <a:stretch>
            <a:fillRect/>
          </a:stretch>
        </p:blipFill>
        <p:spPr>
          <a:xfrm>
            <a:off x="952500" y="1714500"/>
            <a:ext cx="304800" cy="304800"/>
          </a:xfrm>
          <a:prstGeom prst="rect">
            <a:avLst/>
          </a:prstGeom>
          <a:noFill/>
          <a:ln w="25400" cap="flat" cmpd="sng">
            <a:noFill/>
            <a:prstDash val="solid"/>
            <a:round/>
          </a:ln>
        </p:spPr>
      </p:pic>
      <p:sp>
        <p:nvSpPr>
          <p:cNvPr id="7" name="AutoShape 7"/>
          <p:cNvSpPr/>
          <p:nvPr/>
        </p:nvSpPr>
        <p:spPr>
          <a:xfrm>
            <a:off x="1333500" y="1676400"/>
            <a:ext cx="5080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系统定位</a:t>
            </a:r>
            <a:endParaRPr lang="en-US" sz="2000" dirty="0"/>
          </a:p>
        </p:txBody>
      </p:sp>
      <p:sp>
        <p:nvSpPr>
          <p:cNvPr id="8" name="AutoShape 8"/>
          <p:cNvSpPr/>
          <p:nvPr/>
        </p:nvSpPr>
        <p:spPr>
          <a:xfrm>
            <a:off x="952499" y="2032000"/>
            <a:ext cx="5374159" cy="652054"/>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0000"/>
              </a:lnSpc>
              <a:defRPr/>
            </a:pPr>
            <a:r>
              <a:rPr lang="en-US" sz="1600" b="0" i="0" u="none" strike="noStrike" dirty="0">
                <a:solidFill>
                  <a:srgbClr val="555555"/>
                </a:solidFill>
                <a:latin typeface="Noto Sans SC"/>
                <a:ea typeface="Noto Sans SC"/>
                <a:cs typeface="Noto Sans SC"/>
                <a:sym typeface="Noto Sans SC"/>
              </a:rPr>
              <a:t>面向独居老人的隐私保护型异常行为识别与应急响应平台，融合深度学习与规则引擎，实现全天候智能监护。</a:t>
            </a:r>
            <a:endParaRPr lang="en-US" sz="1600" dirty="0"/>
          </a:p>
        </p:txBody>
      </p:sp>
      <p:sp>
        <p:nvSpPr>
          <p:cNvPr id="9" name="AutoShape 9"/>
          <p:cNvSpPr/>
          <p:nvPr/>
        </p:nvSpPr>
        <p:spPr>
          <a:xfrm>
            <a:off x="762000" y="3124200"/>
            <a:ext cx="5842000" cy="1651000"/>
          </a:xfrm>
          <a:prstGeom prst="roundRect">
            <a:avLst>
              <a:gd name="adj" fmla="val 9090"/>
            </a:avLst>
          </a:prstGeom>
          <a:solidFill>
            <a:srgbClr val="F5F5F5">
              <a:alpha val="6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dirty="0"/>
          </a:p>
        </p:txBody>
      </p:sp>
      <p:pic>
        <p:nvPicPr>
          <p:cNvPr id="10" name="Picture 10"/>
          <p:cNvPicPr>
            <a:picLocks noChangeAspect="1"/>
          </p:cNvPicPr>
          <p:nvPr/>
        </p:nvPicPr>
        <p:blipFill>
          <a:blip r:embed="rId4"/>
          <a:srcRect/>
          <a:stretch>
            <a:fillRect/>
          </a:stretch>
        </p:blipFill>
        <p:spPr>
          <a:xfrm>
            <a:off x="952500" y="3314700"/>
            <a:ext cx="304800" cy="304800"/>
          </a:xfrm>
          <a:prstGeom prst="rect">
            <a:avLst/>
          </a:prstGeom>
          <a:noFill/>
          <a:ln w="25400" cap="flat" cmpd="sng">
            <a:noFill/>
            <a:prstDash val="solid"/>
            <a:round/>
          </a:ln>
        </p:spPr>
      </p:pic>
      <p:sp>
        <p:nvSpPr>
          <p:cNvPr id="11" name="AutoShape 11"/>
          <p:cNvSpPr/>
          <p:nvPr/>
        </p:nvSpPr>
        <p:spPr>
          <a:xfrm>
            <a:off x="1333500" y="3276600"/>
            <a:ext cx="5080000" cy="3048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核心功能</a:t>
            </a:r>
            <a:endParaRPr lang="en-US" sz="2000" dirty="0"/>
          </a:p>
        </p:txBody>
      </p:sp>
      <p:sp>
        <p:nvSpPr>
          <p:cNvPr id="12" name="AutoShape 12"/>
          <p:cNvSpPr/>
          <p:nvPr/>
        </p:nvSpPr>
        <p:spPr>
          <a:xfrm>
            <a:off x="952500" y="3751305"/>
            <a:ext cx="5461000" cy="889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0000"/>
              </a:lnSpc>
              <a:defRPr/>
            </a:pPr>
            <a:r>
              <a:rPr lang="en-US" sz="1600" b="1" i="0" u="none" strike="noStrike" dirty="0">
                <a:solidFill>
                  <a:srgbClr val="555555"/>
                </a:solidFill>
                <a:latin typeface="Noto Sans SC"/>
                <a:ea typeface="Noto Sans SC"/>
                <a:cs typeface="Noto Sans SC"/>
                <a:sym typeface="Noto Sans SC"/>
              </a:rPr>
              <a:t>异常识别：</a:t>
            </a:r>
            <a:r>
              <a:rPr lang="zh-CN" altLang="en-US" sz="1600" dirty="0">
                <a:solidFill>
                  <a:srgbClr val="555555"/>
                </a:solidFill>
                <a:latin typeface="Noto Sans SC"/>
                <a:ea typeface="Noto Sans SC"/>
                <a:cs typeface="Noto Sans SC"/>
                <a:sym typeface="Noto Sans SC"/>
              </a:rPr>
              <a:t>跌倒检测、静止状态监测（含夜间时段感知）</a:t>
            </a:r>
            <a:endParaRPr lang="en-US" altLang="zh-CN" sz="1600" dirty="0">
              <a:solidFill>
                <a:srgbClr val="555555"/>
              </a:solidFill>
              <a:latin typeface="Noto Sans SC"/>
              <a:ea typeface="Noto Sans SC"/>
              <a:cs typeface="Noto Sans SC"/>
              <a:sym typeface="Noto Sans SC"/>
            </a:endParaRPr>
          </a:p>
          <a:p>
            <a:pPr>
              <a:lnSpc>
                <a:spcPct val="120000"/>
              </a:lnSpc>
              <a:defRPr/>
            </a:pPr>
            <a:r>
              <a:rPr lang="en-US" sz="1600" b="1" i="0" u="none" strike="noStrike" dirty="0">
                <a:solidFill>
                  <a:srgbClr val="555555"/>
                </a:solidFill>
                <a:latin typeface="Noto Sans SC"/>
                <a:ea typeface="Noto Sans SC"/>
                <a:cs typeface="Noto Sans SC"/>
                <a:sym typeface="Noto Sans SC"/>
              </a:rPr>
              <a:t>风险分级：</a:t>
            </a:r>
            <a:r>
              <a:rPr lang="en-US" sz="1600" b="0" i="0" u="none" strike="noStrike" dirty="0">
                <a:solidFill>
                  <a:srgbClr val="555555"/>
                </a:solidFill>
                <a:latin typeface="Noto Sans SC"/>
                <a:ea typeface="Noto Sans SC"/>
                <a:cs typeface="Noto Sans SC"/>
                <a:sym typeface="Noto Sans SC"/>
              </a:rPr>
              <a:t>Low / Medium / High </a:t>
            </a:r>
          </a:p>
          <a:p>
            <a:pPr>
              <a:lnSpc>
                <a:spcPct val="120000"/>
              </a:lnSpc>
            </a:pPr>
            <a:r>
              <a:rPr lang="en-US" sz="1600" b="1" i="0" u="none" strike="noStrike" dirty="0">
                <a:solidFill>
                  <a:srgbClr val="555555"/>
                </a:solidFill>
                <a:latin typeface="Noto Sans SC"/>
                <a:ea typeface="Noto Sans SC"/>
                <a:cs typeface="Noto Sans SC"/>
                <a:sym typeface="Noto Sans SC"/>
              </a:rPr>
              <a:t>隐私保护：</a:t>
            </a:r>
            <a:r>
              <a:rPr lang="zh-CN" altLang="en-US" sz="1600" dirty="0">
                <a:solidFill>
                  <a:srgbClr val="555555"/>
                </a:solidFill>
                <a:latin typeface="Noto Sans SC"/>
                <a:ea typeface="Noto Sans SC"/>
                <a:cs typeface="Noto Sans SC"/>
                <a:sym typeface="Noto Sans SC"/>
              </a:rPr>
              <a:t>安全沙箱隔离、人脸模糊脱敏</a:t>
            </a:r>
            <a:endParaRPr lang="en-US" sz="1600" b="0" i="0" u="none" strike="noStrike" dirty="0">
              <a:solidFill>
                <a:srgbClr val="555555"/>
              </a:solidFill>
              <a:latin typeface="Noto Sans SC"/>
              <a:ea typeface="Noto Sans SC"/>
              <a:cs typeface="Noto Sans SC"/>
              <a:sym typeface="Noto Sans SC"/>
            </a:endParaRPr>
          </a:p>
        </p:txBody>
      </p:sp>
      <p:sp>
        <p:nvSpPr>
          <p:cNvPr id="17" name="AutoShape 17"/>
          <p:cNvSpPr/>
          <p:nvPr/>
        </p:nvSpPr>
        <p:spPr>
          <a:xfrm>
            <a:off x="762000" y="4997277"/>
            <a:ext cx="5842000" cy="1461187"/>
          </a:xfrm>
          <a:prstGeom prst="roundRect">
            <a:avLst>
              <a:gd name="adj" fmla="val 11764"/>
            </a:avLst>
          </a:prstGeom>
          <a:solidFill>
            <a:srgbClr val="F5F5F5">
              <a:alpha val="6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endParaRPr dirty="0"/>
          </a:p>
        </p:txBody>
      </p:sp>
      <p:pic>
        <p:nvPicPr>
          <p:cNvPr id="18" name="Picture 18"/>
          <p:cNvPicPr>
            <a:picLocks noChangeAspect="1"/>
          </p:cNvPicPr>
          <p:nvPr/>
        </p:nvPicPr>
        <p:blipFill>
          <a:blip r:embed="rId5"/>
          <a:srcRect/>
          <a:stretch>
            <a:fillRect/>
          </a:stretch>
        </p:blipFill>
        <p:spPr>
          <a:xfrm>
            <a:off x="952500" y="5187778"/>
            <a:ext cx="304800" cy="412570"/>
          </a:xfrm>
          <a:prstGeom prst="rect">
            <a:avLst/>
          </a:prstGeom>
          <a:noFill/>
          <a:ln w="25400" cap="flat" cmpd="sng">
            <a:noFill/>
            <a:prstDash val="solid"/>
            <a:round/>
          </a:ln>
        </p:spPr>
      </p:pic>
      <p:sp>
        <p:nvSpPr>
          <p:cNvPr id="19" name="AutoShape 19"/>
          <p:cNvSpPr/>
          <p:nvPr/>
        </p:nvSpPr>
        <p:spPr>
          <a:xfrm>
            <a:off x="1333500" y="5149678"/>
            <a:ext cx="5080000" cy="41257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33333"/>
                </a:solidFill>
                <a:latin typeface="Noto Sans SC"/>
                <a:ea typeface="Noto Sans SC"/>
                <a:cs typeface="Noto Sans SC"/>
                <a:sym typeface="Noto Sans SC"/>
              </a:rPr>
              <a:t>系统特点</a:t>
            </a:r>
            <a:endParaRPr lang="en-US" sz="2400" dirty="0"/>
          </a:p>
        </p:txBody>
      </p:sp>
      <p:sp>
        <p:nvSpPr>
          <p:cNvPr id="20" name="AutoShape 20"/>
          <p:cNvSpPr/>
          <p:nvPr/>
        </p:nvSpPr>
        <p:spPr>
          <a:xfrm>
            <a:off x="952500" y="5505277"/>
            <a:ext cx="5207000" cy="687617"/>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0000"/>
              </a:lnSpc>
              <a:defRPr/>
            </a:pPr>
            <a:r>
              <a:rPr lang="en-US" sz="1600" b="0" i="0" u="none" strike="noStrike" dirty="0">
                <a:solidFill>
                  <a:srgbClr val="555555"/>
                </a:solidFill>
                <a:latin typeface="Noto Sans SC"/>
                <a:ea typeface="Noto Sans SC"/>
                <a:cs typeface="Noto Sans SC"/>
                <a:sym typeface="Noto Sans SC"/>
              </a:rPr>
              <a:t>毫秒级实时响应异常事件；坚持数据本地化处理，全方位保障独居老人隐私安全。</a:t>
            </a:r>
            <a:endParaRPr lang="en-US" sz="1600" dirty="0"/>
          </a:p>
        </p:txBody>
      </p:sp>
      <p:sp>
        <p:nvSpPr>
          <p:cNvPr id="21" name="AutoShape 21"/>
          <p:cNvSpPr/>
          <p:nvPr/>
        </p:nvSpPr>
        <p:spPr>
          <a:xfrm>
            <a:off x="7112000" y="1524000"/>
            <a:ext cx="3810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endParaRPr dirty="0"/>
          </a:p>
        </p:txBody>
      </p:sp>
      <p:pic>
        <p:nvPicPr>
          <p:cNvPr id="22" name="Picture 22"/>
          <p:cNvPicPr>
            <a:picLocks noChangeAspect="1"/>
          </p:cNvPicPr>
          <p:nvPr/>
        </p:nvPicPr>
        <p:blipFill>
          <a:blip r:embed="rId6"/>
          <a:srcRect l="3333" r="3333"/>
          <a:stretch>
            <a:fillRect/>
          </a:stretch>
        </p:blipFill>
        <p:spPr>
          <a:xfrm>
            <a:off x="7239000" y="1663700"/>
            <a:ext cx="3556000" cy="2260600"/>
          </a:xfrm>
          <a:prstGeom prst="roundRect">
            <a:avLst>
              <a:gd name="adj" fmla="val 5617"/>
            </a:avLst>
          </a:prstGeom>
          <a:noFill/>
          <a:ln w="25400" cap="flat" cmpd="sng">
            <a:noFill/>
            <a:prstDash val="solid"/>
            <a:round/>
          </a:ln>
        </p:spPr>
      </p:pic>
      <p:sp>
        <p:nvSpPr>
          <p:cNvPr id="23" name="AutoShape 23"/>
          <p:cNvSpPr/>
          <p:nvPr/>
        </p:nvSpPr>
        <p:spPr>
          <a:xfrm>
            <a:off x="7112000" y="4127500"/>
            <a:ext cx="3810000" cy="254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dirty="0">
                <a:solidFill>
                  <a:srgbClr val="757575"/>
                </a:solidFill>
                <a:latin typeface="Noto Sans SC"/>
                <a:ea typeface="Noto Sans SC"/>
                <a:cs typeface="Noto Sans SC"/>
                <a:sym typeface="Noto Sans SC"/>
              </a:rPr>
              <a:t>系统异常事件监控看板界面</a:t>
            </a:r>
            <a:endParaRPr lang="en-US" sz="1100" dirty="0"/>
          </a:p>
        </p:txBody>
      </p:sp>
      <p:sp>
        <p:nvSpPr>
          <p:cNvPr id="24" name="AutoShape 24"/>
          <p:cNvSpPr/>
          <p:nvPr/>
        </p:nvSpPr>
        <p:spPr>
          <a:xfrm>
            <a:off x="7112000" y="4572000"/>
            <a:ext cx="3810000" cy="762000"/>
          </a:xfrm>
          <a:prstGeom prst="roundRect">
            <a:avLst>
              <a:gd name="adj" fmla="val 16666"/>
            </a:avLst>
          </a:prstGeom>
          <a:solidFill>
            <a:srgbClr val="4CAF50">
              <a:alpha val="10000"/>
            </a:srgbClr>
          </a:solidFill>
          <a:ln w="12700" cap="flat" cmpd="sng">
            <a:solidFill>
              <a:srgbClr val="4CAF50">
                <a:alpha val="100000"/>
              </a:srgbClr>
            </a:solidFill>
            <a:prstDash val="solid"/>
            <a:round/>
          </a:ln>
        </p:spPr>
        <p:txBody>
          <a:bodyPr vert="horz" wrap="square" lIns="63500" tIns="63500" rIns="63500" bIns="63500" rtlCol="0" anchor="ctr"/>
          <a:lstStyle/>
          <a:p>
            <a:pPr algn="ctr">
              <a:defRPr/>
            </a:pPr>
            <a:endParaRPr dirty="0"/>
          </a:p>
        </p:txBody>
      </p:sp>
      <p:pic>
        <p:nvPicPr>
          <p:cNvPr id="25" name="Picture 25"/>
          <p:cNvPicPr>
            <a:picLocks noChangeAspect="1"/>
          </p:cNvPicPr>
          <p:nvPr/>
        </p:nvPicPr>
        <p:blipFill>
          <a:blip r:embed="rId7"/>
          <a:srcRect/>
          <a:stretch>
            <a:fillRect/>
          </a:stretch>
        </p:blipFill>
        <p:spPr>
          <a:xfrm>
            <a:off x="7302500" y="4775200"/>
            <a:ext cx="355600" cy="355600"/>
          </a:xfrm>
          <a:prstGeom prst="rect">
            <a:avLst/>
          </a:prstGeom>
          <a:noFill/>
          <a:ln w="25400" cap="flat" cmpd="sng">
            <a:noFill/>
            <a:prstDash val="solid"/>
            <a:round/>
          </a:ln>
        </p:spPr>
      </p:pic>
      <p:sp>
        <p:nvSpPr>
          <p:cNvPr id="26" name="AutoShape 26"/>
          <p:cNvSpPr/>
          <p:nvPr/>
        </p:nvSpPr>
        <p:spPr>
          <a:xfrm>
            <a:off x="7747000" y="4699000"/>
            <a:ext cx="2921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333333"/>
                </a:solidFill>
                <a:latin typeface="Noto Sans SC"/>
                <a:ea typeface="Noto Sans SC"/>
                <a:cs typeface="Noto Sans SC"/>
                <a:sym typeface="Noto Sans SC"/>
              </a:rPr>
              <a:t>实时响应</a:t>
            </a:r>
            <a:endParaRPr lang="en-US" sz="1100" dirty="0"/>
          </a:p>
          <a:p>
            <a:pPr indent="0" algn="l">
              <a:lnSpc>
                <a:spcPct val="125000"/>
              </a:lnSpc>
            </a:pPr>
            <a:r>
              <a:rPr lang="en-US" sz="1200" b="0" i="0" u="none" strike="noStrike" dirty="0">
                <a:solidFill>
                  <a:srgbClr val="666666"/>
                </a:solidFill>
                <a:latin typeface="Noto Sans SC"/>
                <a:ea typeface="Noto Sans SC"/>
                <a:cs typeface="Noto Sans SC"/>
                <a:sym typeface="Noto Sans SC"/>
              </a:rPr>
              <a:t>毫秒级异常检测与预警推送</a:t>
            </a:r>
          </a:p>
        </p:txBody>
      </p:sp>
      <p:sp>
        <p:nvSpPr>
          <p:cNvPr id="27" name="AutoShape 27"/>
          <p:cNvSpPr/>
          <p:nvPr/>
        </p:nvSpPr>
        <p:spPr>
          <a:xfrm>
            <a:off x="7112000" y="5461000"/>
            <a:ext cx="3810000" cy="762000"/>
          </a:xfrm>
          <a:prstGeom prst="roundRect">
            <a:avLst>
              <a:gd name="adj" fmla="val 16666"/>
            </a:avLst>
          </a:prstGeom>
          <a:solidFill>
            <a:srgbClr val="4CAF50">
              <a:alpha val="10000"/>
            </a:srgbClr>
          </a:solidFill>
          <a:ln w="12700" cap="flat" cmpd="sng">
            <a:solidFill>
              <a:srgbClr val="4CAF50">
                <a:alpha val="100000"/>
              </a:srgbClr>
            </a:solidFill>
            <a:prstDash val="solid"/>
            <a:round/>
          </a:ln>
        </p:spPr>
        <p:txBody>
          <a:bodyPr vert="horz" wrap="square" lIns="63500" tIns="63500" rIns="63500" bIns="63500" rtlCol="0" anchor="ctr"/>
          <a:lstStyle/>
          <a:p>
            <a:pPr algn="ctr">
              <a:defRPr/>
            </a:pPr>
            <a:endParaRPr dirty="0"/>
          </a:p>
        </p:txBody>
      </p:sp>
      <p:pic>
        <p:nvPicPr>
          <p:cNvPr id="28" name="Picture 28"/>
          <p:cNvPicPr>
            <a:picLocks noChangeAspect="1"/>
          </p:cNvPicPr>
          <p:nvPr/>
        </p:nvPicPr>
        <p:blipFill>
          <a:blip r:embed="rId8"/>
          <a:srcRect/>
          <a:stretch>
            <a:fillRect/>
          </a:stretch>
        </p:blipFill>
        <p:spPr>
          <a:xfrm>
            <a:off x="7302500" y="5664200"/>
            <a:ext cx="355600" cy="355600"/>
          </a:xfrm>
          <a:prstGeom prst="rect">
            <a:avLst/>
          </a:prstGeom>
          <a:noFill/>
          <a:ln w="25400" cap="flat" cmpd="sng">
            <a:noFill/>
            <a:prstDash val="solid"/>
            <a:round/>
          </a:ln>
        </p:spPr>
      </p:pic>
      <p:sp>
        <p:nvSpPr>
          <p:cNvPr id="29" name="AutoShape 29"/>
          <p:cNvSpPr/>
          <p:nvPr/>
        </p:nvSpPr>
        <p:spPr>
          <a:xfrm>
            <a:off x="7747000" y="5588000"/>
            <a:ext cx="2921000" cy="508000"/>
          </a:xfrm>
          <a:prstGeom prst="roundRect">
            <a:avLst>
              <a:gd name="adj" fmla="val 0"/>
            </a:avLst>
          </a:prstGeom>
          <a:noFill/>
          <a:ln w="25400" cap="flat" cmpd="sng">
            <a:noFill/>
            <a:prstDash val="solid"/>
            <a:round/>
          </a:ln>
        </p:spPr>
        <p:txBody>
          <a:bodyPr vert="horz" wrap="square" lIns="0" tIns="0" rIns="0" bIns="0" rtlCol="0" anchor="ctr" anchorCtr="0"/>
          <a:lstStyle/>
          <a:p>
            <a:pPr lvl="2">
              <a:lnSpc>
                <a:spcPct val="125000"/>
              </a:lnSpc>
              <a:defRPr/>
            </a:pPr>
            <a:r>
              <a:rPr lang="en-US" sz="1600" b="1" i="0" u="none" strike="noStrike" dirty="0">
                <a:solidFill>
                  <a:srgbClr val="333333"/>
                </a:solidFill>
                <a:latin typeface="Noto Sans SC"/>
                <a:ea typeface="Noto Sans SC"/>
                <a:cs typeface="Noto Sans SC"/>
                <a:sym typeface="Noto Sans SC"/>
              </a:rPr>
              <a:t>隐私安全</a:t>
            </a:r>
            <a:endParaRPr lang="en-US" sz="1100" dirty="0"/>
          </a:p>
          <a:p>
            <a:pPr lvl="2">
              <a:lnSpc>
                <a:spcPct val="125000"/>
              </a:lnSpc>
            </a:pPr>
            <a:r>
              <a:rPr lang="en-US" sz="1200" b="0" i="0" u="none" strike="noStrike" dirty="0">
                <a:solidFill>
                  <a:srgbClr val="666666"/>
                </a:solidFill>
                <a:latin typeface="Noto Sans SC"/>
                <a:ea typeface="Noto Sans SC"/>
                <a:cs typeface="Noto Sans SC"/>
                <a:sym typeface="Noto Sans SC"/>
              </a:rPr>
              <a:t>本地</a:t>
            </a:r>
            <a:r>
              <a:rPr lang="zh-CN" altLang="en-US" sz="1200" b="0" i="0" u="none" strike="noStrike" dirty="0">
                <a:solidFill>
                  <a:srgbClr val="666666"/>
                </a:solidFill>
                <a:latin typeface="Noto Sans SC"/>
                <a:ea typeface="Noto Sans SC"/>
                <a:cs typeface="Noto Sans SC"/>
                <a:sym typeface="Noto Sans SC"/>
              </a:rPr>
              <a:t>部署、数据安全可控</a:t>
            </a:r>
            <a:endParaRPr lang="en-US" sz="1200" b="0" i="0" u="none" strike="noStrike" dirty="0">
              <a:solidFill>
                <a:srgbClr val="666666"/>
              </a:solidFill>
              <a:latin typeface="Noto Sans SC"/>
              <a:ea typeface="Noto Sans SC"/>
              <a:cs typeface="Noto Sans SC"/>
              <a:sym typeface="Noto Sans SC"/>
            </a:endParaRPr>
          </a:p>
        </p:txBody>
      </p:sp>
      <p:sp>
        <p:nvSpPr>
          <p:cNvPr id="30"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8"/>
          <p:cNvSpPr/>
          <p:nvPr/>
        </p:nvSpPr>
        <p:spPr>
          <a:xfrm>
            <a:off x="762000" y="3048000"/>
            <a:ext cx="3134497" cy="1397000"/>
          </a:xfrm>
          <a:prstGeom prst="roundRect">
            <a:avLst>
              <a:gd name="adj" fmla="val 9090"/>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23" name="Picture 9"/>
          <p:cNvPicPr/>
          <p:nvPr/>
        </p:nvPicPr>
        <p:blipFill>
          <a:blip r:embed="rId3"/>
          <a:stretch>
            <a:fillRect/>
          </a:stretch>
        </p:blipFill>
        <p:spPr>
          <a:xfrm>
            <a:off x="4064001" y="1671938"/>
            <a:ext cx="7841732" cy="4276124"/>
          </a:xfrm>
          <a:prstGeom prst="rect">
            <a:avLst/>
          </a:prstGeom>
        </p:spPr>
      </p:pic>
      <p:sp>
        <p:nvSpPr>
          <p:cNvPr id="4" name="AutoShape 4"/>
          <p:cNvSpPr/>
          <p:nvPr/>
        </p:nvSpPr>
        <p:spPr>
          <a:xfrm>
            <a:off x="762000" y="1397000"/>
            <a:ext cx="3134497" cy="1397000"/>
          </a:xfrm>
          <a:prstGeom prst="roundRect">
            <a:avLst>
              <a:gd name="adj" fmla="val 9090"/>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65500"/>
            <a:ext cx="508000" cy="508000"/>
          </a:xfrm>
          <a:prstGeom prst="rect">
            <a:avLst/>
          </a:prstGeom>
        </p:spPr>
      </p:pic>
      <p:sp>
        <p:nvSpPr>
          <p:cNvPr id="6" name="AutoShape 6"/>
          <p:cNvSpPr/>
          <p:nvPr/>
        </p:nvSpPr>
        <p:spPr>
          <a:xfrm>
            <a:off x="1778000" y="1587500"/>
            <a:ext cx="1377092"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sz="1800" b="1" dirty="0">
                <a:solidFill>
                  <a:srgbClr val="333333"/>
                </a:solidFill>
                <a:latin typeface="Noto Sans SC"/>
                <a:ea typeface="Noto Sans SC"/>
                <a:cs typeface="Noto Sans SC"/>
                <a:sym typeface="Noto Sans SC"/>
              </a:rPr>
              <a:t>Web</a:t>
            </a:r>
            <a:r>
              <a:rPr lang="zh-CN" altLang="en-US" sz="1800" b="1" dirty="0">
                <a:solidFill>
                  <a:srgbClr val="333333"/>
                </a:solidFill>
                <a:latin typeface="Noto Sans SC"/>
                <a:ea typeface="Noto Sans SC"/>
                <a:cs typeface="Noto Sans SC"/>
                <a:sym typeface="Noto Sans SC"/>
              </a:rPr>
              <a:t>技术栈</a:t>
            </a:r>
            <a:endParaRPr lang="en-US" sz="1800" dirty="0"/>
          </a:p>
        </p:txBody>
      </p:sp>
      <p:sp>
        <p:nvSpPr>
          <p:cNvPr id="7" name="AutoShape 7"/>
          <p:cNvSpPr/>
          <p:nvPr/>
        </p:nvSpPr>
        <p:spPr>
          <a:xfrm>
            <a:off x="1777999" y="2097818"/>
            <a:ext cx="2032001" cy="624531"/>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08000"/>
              </a:lnSpc>
              <a:defRPr/>
            </a:pPr>
            <a:r>
              <a:rPr lang="en-US" sz="1600" dirty="0">
                <a:solidFill>
                  <a:srgbClr val="555555"/>
                </a:solidFill>
                <a:latin typeface="Noto Sans SC"/>
                <a:ea typeface="Noto Sans SC"/>
                <a:cs typeface="Noto Sans SC"/>
                <a:sym typeface="Noto Sans SC"/>
              </a:rPr>
              <a:t>Python</a:t>
            </a:r>
            <a:r>
              <a:rPr lang="en-US" altLang="zh-CN" sz="1600" dirty="0">
                <a:solidFill>
                  <a:srgbClr val="555555"/>
                </a:solidFill>
                <a:latin typeface="Noto Sans SC"/>
                <a:ea typeface="Noto Sans SC"/>
                <a:cs typeface="Noto Sans SC"/>
                <a:sym typeface="Noto Sans SC"/>
              </a:rPr>
              <a:t>·</a:t>
            </a:r>
            <a:r>
              <a:rPr lang="en-US" sz="1600" dirty="0">
                <a:solidFill>
                  <a:srgbClr val="555555"/>
                </a:solidFill>
                <a:latin typeface="Noto Sans SC"/>
                <a:ea typeface="Noto Sans SC"/>
                <a:cs typeface="Noto Sans SC"/>
                <a:sym typeface="Noto Sans SC"/>
              </a:rPr>
              <a:t>Quart</a:t>
            </a:r>
          </a:p>
          <a:p>
            <a:pPr>
              <a:lnSpc>
                <a:spcPct val="108000"/>
              </a:lnSpc>
              <a:defRPr/>
            </a:pPr>
            <a:r>
              <a:rPr lang="en-US" sz="1600" dirty="0">
                <a:solidFill>
                  <a:srgbClr val="555555"/>
                </a:solidFill>
                <a:latin typeface="Noto Sans SC"/>
                <a:ea typeface="Noto Sans SC"/>
                <a:cs typeface="Noto Sans SC"/>
                <a:sym typeface="Noto Sans SC"/>
              </a:rPr>
              <a:t>Vue 3</a:t>
            </a:r>
            <a:r>
              <a:rPr lang="en-US" altLang="zh-CN" sz="1600" dirty="0">
                <a:solidFill>
                  <a:srgbClr val="555555"/>
                </a:solidFill>
                <a:latin typeface="Noto Sans SC"/>
                <a:ea typeface="Noto Sans SC"/>
                <a:cs typeface="Noto Sans SC"/>
                <a:sym typeface="Noto Sans SC"/>
              </a:rPr>
              <a:t>·</a:t>
            </a:r>
            <a:r>
              <a:rPr lang="en-US" sz="1600" dirty="0">
                <a:solidFill>
                  <a:srgbClr val="555555"/>
                </a:solidFill>
                <a:latin typeface="Noto Sans SC"/>
                <a:ea typeface="Noto Sans SC"/>
                <a:cs typeface="Noto Sans SC"/>
                <a:sym typeface="Noto Sans SC"/>
              </a:rPr>
              <a:t>Vite</a:t>
            </a:r>
          </a:p>
          <a:p>
            <a:pPr>
              <a:lnSpc>
                <a:spcPct val="108000"/>
              </a:lnSpc>
              <a:defRPr/>
            </a:pPr>
            <a:endParaRPr lang="en-US" sz="1100" dirty="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0599" y="1671938"/>
            <a:ext cx="508000" cy="508000"/>
          </a:xfrm>
          <a:prstGeom prst="rect">
            <a:avLst/>
          </a:prstGeom>
        </p:spPr>
      </p:pic>
      <p:sp>
        <p:nvSpPr>
          <p:cNvPr id="10" name="AutoShape 10"/>
          <p:cNvSpPr/>
          <p:nvPr/>
        </p:nvSpPr>
        <p:spPr>
          <a:xfrm>
            <a:off x="1778000" y="31750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zh-CN" altLang="en-US" sz="1800" b="1" dirty="0">
                <a:solidFill>
                  <a:srgbClr val="333333"/>
                </a:solidFill>
                <a:latin typeface="Noto Sans SC"/>
                <a:ea typeface="Noto Sans SC"/>
                <a:cs typeface="Noto Sans SC"/>
                <a:sym typeface="Noto Sans SC"/>
              </a:rPr>
              <a:t>隐私保护</a:t>
            </a:r>
            <a:endParaRPr lang="en-US" sz="1100" dirty="0"/>
          </a:p>
        </p:txBody>
      </p:sp>
      <p:sp>
        <p:nvSpPr>
          <p:cNvPr id="11" name="AutoShape 11"/>
          <p:cNvSpPr/>
          <p:nvPr/>
        </p:nvSpPr>
        <p:spPr>
          <a:xfrm>
            <a:off x="1778000" y="3556000"/>
            <a:ext cx="2032001" cy="889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08000"/>
              </a:lnSpc>
              <a:defRPr/>
            </a:pPr>
            <a:r>
              <a:rPr lang="zh-CN" altLang="en-US" sz="1600" dirty="0">
                <a:solidFill>
                  <a:srgbClr val="555555"/>
                </a:solidFill>
                <a:latin typeface="Noto Sans SC"/>
                <a:ea typeface="Noto Sans SC"/>
                <a:sym typeface="Noto Sans SC"/>
              </a:rPr>
              <a:t>逻辑隔离安全沙箱</a:t>
            </a:r>
            <a:endParaRPr lang="en-US" altLang="zh-CN" sz="1600" dirty="0">
              <a:solidFill>
                <a:srgbClr val="555555"/>
              </a:solidFill>
              <a:latin typeface="Noto Sans SC"/>
              <a:ea typeface="Noto Sans SC"/>
              <a:sym typeface="Noto Sans SC"/>
            </a:endParaRPr>
          </a:p>
          <a:p>
            <a:pPr>
              <a:lnSpc>
                <a:spcPct val="108000"/>
              </a:lnSpc>
              <a:defRPr/>
            </a:pPr>
            <a:r>
              <a:rPr lang="zh-CN" altLang="en-US" sz="1600" dirty="0">
                <a:solidFill>
                  <a:srgbClr val="555555"/>
                </a:solidFill>
                <a:latin typeface="Noto Sans SC"/>
                <a:ea typeface="Noto Sans SC"/>
                <a:sym typeface="Noto Sans SC"/>
              </a:rPr>
              <a:t>差分隐私</a:t>
            </a:r>
            <a:endParaRPr lang="en-US" altLang="zh-CN" sz="1600" dirty="0">
              <a:solidFill>
                <a:srgbClr val="555555"/>
              </a:solidFill>
              <a:latin typeface="Noto Sans SC"/>
              <a:ea typeface="Noto Sans SC"/>
              <a:sym typeface="Noto Sans SC"/>
            </a:endParaRPr>
          </a:p>
          <a:p>
            <a:pPr>
              <a:lnSpc>
                <a:spcPct val="108000"/>
              </a:lnSpc>
              <a:defRPr/>
            </a:pPr>
            <a:r>
              <a:rPr lang="zh-CN" altLang="en-US" sz="1600" dirty="0">
                <a:solidFill>
                  <a:srgbClr val="555555"/>
                </a:solidFill>
                <a:latin typeface="Noto Sans SC"/>
                <a:ea typeface="Noto Sans SC"/>
              </a:rPr>
              <a:t>低频隐藏</a:t>
            </a:r>
            <a:endParaRPr lang="en-US" sz="1600" dirty="0">
              <a:solidFill>
                <a:srgbClr val="555555"/>
              </a:solidFill>
              <a:latin typeface="Noto Sans SC"/>
              <a:ea typeface="Noto Sans SC"/>
            </a:endParaRPr>
          </a:p>
        </p:txBody>
      </p:sp>
      <p:sp>
        <p:nvSpPr>
          <p:cNvPr id="12" name="AutoShape 12"/>
          <p:cNvSpPr/>
          <p:nvPr/>
        </p:nvSpPr>
        <p:spPr>
          <a:xfrm>
            <a:off x="762000" y="4699000"/>
            <a:ext cx="3134497" cy="1397000"/>
          </a:xfrm>
          <a:prstGeom prst="roundRect">
            <a:avLst>
              <a:gd name="adj" fmla="val 9090"/>
            </a:avLst>
          </a:prstGeom>
          <a:solidFill>
            <a:srgbClr val="FFFFFF">
              <a:alpha val="9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016500"/>
            <a:ext cx="508000" cy="508000"/>
          </a:xfrm>
          <a:prstGeom prst="rect">
            <a:avLst/>
          </a:prstGeom>
        </p:spPr>
      </p:pic>
      <p:sp>
        <p:nvSpPr>
          <p:cNvPr id="14" name="AutoShape 14"/>
          <p:cNvSpPr/>
          <p:nvPr/>
        </p:nvSpPr>
        <p:spPr>
          <a:xfrm>
            <a:off x="1778000" y="48260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zh-CN" altLang="en-US" sz="1800" b="1" dirty="0">
                <a:solidFill>
                  <a:srgbClr val="333333"/>
                </a:solidFill>
                <a:latin typeface="Noto Sans SC"/>
                <a:ea typeface="Noto Sans SC"/>
                <a:sym typeface="Noto Sans SC"/>
              </a:rPr>
              <a:t>检测技术</a:t>
            </a:r>
            <a:endParaRPr lang="en-US" sz="1100" dirty="0"/>
          </a:p>
        </p:txBody>
      </p:sp>
      <p:sp>
        <p:nvSpPr>
          <p:cNvPr id="15" name="AutoShape 15"/>
          <p:cNvSpPr/>
          <p:nvPr/>
        </p:nvSpPr>
        <p:spPr>
          <a:xfrm>
            <a:off x="1777999" y="5213522"/>
            <a:ext cx="2032001"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dirty="0">
                <a:solidFill>
                  <a:srgbClr val="555555"/>
                </a:solidFill>
                <a:latin typeface="Noto Sans SC"/>
                <a:ea typeface="Noto Sans SC"/>
                <a:cs typeface="Noto Sans SC"/>
                <a:sym typeface="Noto Sans SC"/>
              </a:rPr>
              <a:t>YOLO26</a:t>
            </a:r>
            <a:br>
              <a:rPr lang="en-US" sz="1600" b="0" i="0" u="none" strike="noStrike" dirty="0">
                <a:solidFill>
                  <a:srgbClr val="555555"/>
                </a:solidFill>
                <a:latin typeface="Noto Sans SC"/>
                <a:ea typeface="Noto Sans SC"/>
                <a:cs typeface="Noto Sans SC"/>
                <a:sym typeface="Noto Sans SC"/>
              </a:rPr>
            </a:br>
            <a:r>
              <a:rPr lang="en-US" sz="1600" b="0" i="0" u="none" strike="noStrike" dirty="0">
                <a:solidFill>
                  <a:srgbClr val="555555"/>
                </a:solidFill>
                <a:latin typeface="Noto Sans SC"/>
                <a:ea typeface="Noto Sans SC"/>
                <a:cs typeface="Noto Sans SC"/>
                <a:sym typeface="Noto Sans SC"/>
              </a:rPr>
              <a:t>ByteTrack</a:t>
            </a:r>
          </a:p>
          <a:p>
            <a:pPr>
              <a:lnSpc>
                <a:spcPct val="108000"/>
              </a:lnSpc>
              <a:defRPr/>
            </a:pPr>
            <a:r>
              <a:rPr lang="en-US" altLang="zh-CN" sz="1600" dirty="0">
                <a:solidFill>
                  <a:srgbClr val="555555"/>
                </a:solidFill>
                <a:latin typeface="Noto Sans SC"/>
                <a:ea typeface="Noto Sans SC"/>
                <a:cs typeface="Noto Sans SC"/>
                <a:sym typeface="Noto Sans SC"/>
              </a:rPr>
              <a:t>MediaPipe</a:t>
            </a:r>
            <a:endParaRPr lang="en-US" sz="1600" dirty="0"/>
          </a:p>
        </p:txBody>
      </p:sp>
      <p:sp>
        <p:nvSpPr>
          <p:cNvPr id="24" name="AutoShape 3"/>
          <p:cNvSpPr/>
          <p:nvPr/>
        </p:nvSpPr>
        <p:spPr>
          <a:xfrm>
            <a:off x="762000" y="508000"/>
            <a:ext cx="20066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2)系统</a:t>
            </a:r>
            <a:r>
              <a:rPr lang="zh-CN" altLang="en-US" sz="3600" b="1" i="0" u="none" strike="noStrike" dirty="0">
                <a:solidFill>
                  <a:srgbClr val="333333"/>
                </a:solidFill>
                <a:latin typeface="Noto Sans SC"/>
                <a:ea typeface="Noto Sans SC"/>
                <a:cs typeface="Noto Sans SC"/>
                <a:sym typeface="Noto Sans SC"/>
              </a:rPr>
              <a:t>架构</a:t>
            </a:r>
            <a:endParaRPr lang="en-US" sz="1100" dirty="0"/>
          </a:p>
        </p:txBody>
      </p:sp>
      <p:sp>
        <p:nvSpPr>
          <p:cNvPr id="25"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p:cNvSpPr/>
          <p:nvPr/>
        </p:nvSpPr>
        <p:spPr>
          <a:xfrm>
            <a:off x="6392007" y="1396998"/>
            <a:ext cx="5037994" cy="2032001"/>
          </a:xfrm>
          <a:prstGeom prst="roundRect">
            <a:avLst>
              <a:gd name="adj" fmla="val 9090"/>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sp>
        <p:nvSpPr>
          <p:cNvPr id="4" name="AutoShape 4"/>
          <p:cNvSpPr/>
          <p:nvPr/>
        </p:nvSpPr>
        <p:spPr>
          <a:xfrm>
            <a:off x="761999" y="1396999"/>
            <a:ext cx="5251939" cy="2032001"/>
          </a:xfrm>
          <a:prstGeom prst="roundRect">
            <a:avLst>
              <a:gd name="adj" fmla="val 9090"/>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sp>
        <p:nvSpPr>
          <p:cNvPr id="6" name="AutoShape 6"/>
          <p:cNvSpPr/>
          <p:nvPr/>
        </p:nvSpPr>
        <p:spPr>
          <a:xfrm>
            <a:off x="1016000" y="1574800"/>
            <a:ext cx="4064000"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altLang="zh-CN" sz="1800" b="1" dirty="0">
                <a:solidFill>
                  <a:srgbClr val="4CAF50"/>
                </a:solidFill>
                <a:latin typeface="Noto Sans SC"/>
                <a:ea typeface="Noto Sans SC"/>
                <a:sym typeface="Noto Sans SC"/>
              </a:rPr>
              <a:t>平台用户管理</a:t>
            </a:r>
            <a:endParaRPr lang="en-US" altLang="zh-CN" sz="1800" b="1" dirty="0">
              <a:solidFill>
                <a:srgbClr val="4CAF50"/>
              </a:solidFill>
              <a:latin typeface="Noto Sans SC"/>
              <a:ea typeface="Noto Sans SC"/>
            </a:endParaRPr>
          </a:p>
        </p:txBody>
      </p:sp>
      <p:sp>
        <p:nvSpPr>
          <p:cNvPr id="7" name="AutoShape 7"/>
          <p:cNvSpPr/>
          <p:nvPr/>
        </p:nvSpPr>
        <p:spPr>
          <a:xfrm>
            <a:off x="1016000" y="2013394"/>
            <a:ext cx="4815742" cy="966177"/>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08000"/>
              </a:lnSpc>
              <a:defRPr/>
            </a:pPr>
            <a:r>
              <a:rPr lang="en-US" altLang="zh-CN" sz="1600" dirty="0">
                <a:solidFill>
                  <a:srgbClr val="555555"/>
                </a:solidFill>
                <a:latin typeface="Noto Sans SC"/>
                <a:ea typeface="Noto Sans SC"/>
                <a:cs typeface="Noto Sans SC"/>
                <a:sym typeface="Noto Sans SC"/>
              </a:rPr>
              <a:t>平台用户代表养老机构或社区服务中心，管理员可创建、编辑平台用户账号，支持组织信息、联系方式等详细配置</a:t>
            </a:r>
            <a:endParaRPr lang="en-US" sz="1600" dirty="0"/>
          </a:p>
        </p:txBody>
      </p:sp>
      <p:sp>
        <p:nvSpPr>
          <p:cNvPr id="12" name="AutoShape 12"/>
          <p:cNvSpPr/>
          <p:nvPr/>
        </p:nvSpPr>
        <p:spPr>
          <a:xfrm>
            <a:off x="761999" y="3731801"/>
            <a:ext cx="10672888" cy="2881922"/>
          </a:xfrm>
          <a:prstGeom prst="roundRect">
            <a:avLst>
              <a:gd name="adj" fmla="val 9090"/>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sp>
        <p:nvSpPr>
          <p:cNvPr id="14" name="AutoShape 14"/>
          <p:cNvSpPr/>
          <p:nvPr/>
        </p:nvSpPr>
        <p:spPr>
          <a:xfrm>
            <a:off x="1016000" y="3870525"/>
            <a:ext cx="4064000"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altLang="zh-CN" sz="1800" b="1" dirty="0">
                <a:solidFill>
                  <a:srgbClr val="4CAF50"/>
                </a:solidFill>
                <a:latin typeface="Noto Sans SC"/>
                <a:ea typeface="Noto Sans SC"/>
                <a:sym typeface="Noto Sans SC"/>
              </a:rPr>
              <a:t>用户关联体系与数据隔离</a:t>
            </a:r>
            <a:endParaRPr lang="en-US" altLang="zh-CN" sz="1800" b="1" dirty="0">
              <a:solidFill>
                <a:srgbClr val="4CAF50"/>
              </a:solidFill>
              <a:latin typeface="Noto Sans SC"/>
              <a:ea typeface="Noto Sans SC"/>
            </a:endParaRPr>
          </a:p>
        </p:txBody>
      </p:sp>
      <p:sp>
        <p:nvSpPr>
          <p:cNvPr id="17" name="AutoShape 17"/>
          <p:cNvSpPr/>
          <p:nvPr/>
        </p:nvSpPr>
        <p:spPr>
          <a:xfrm>
            <a:off x="6711217" y="1574800"/>
            <a:ext cx="4826000"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altLang="zh-CN" sz="1800" b="1" dirty="0">
                <a:solidFill>
                  <a:srgbClr val="4CAF50"/>
                </a:solidFill>
                <a:latin typeface="Noto Sans SC"/>
                <a:ea typeface="Noto Sans SC"/>
                <a:sym typeface="Noto Sans SC"/>
              </a:rPr>
              <a:t>社区组管理</a:t>
            </a:r>
            <a:endParaRPr lang="en-US" altLang="zh-CN" sz="1800" b="1" dirty="0">
              <a:solidFill>
                <a:srgbClr val="4CAF50"/>
              </a:solidFill>
              <a:latin typeface="Noto Sans SC"/>
              <a:ea typeface="Noto Sans SC"/>
            </a:endParaRPr>
          </a:p>
        </p:txBody>
      </p:sp>
      <p:sp>
        <p:nvSpPr>
          <p:cNvPr id="24" name="文本框 23"/>
          <p:cNvSpPr txBox="1"/>
          <p:nvPr/>
        </p:nvSpPr>
        <p:spPr>
          <a:xfrm>
            <a:off x="990600" y="4309119"/>
            <a:ext cx="9962662" cy="1160639"/>
          </a:xfrm>
          <a:prstGeom prst="rect">
            <a:avLst/>
          </a:prstGeom>
          <a:noFill/>
        </p:spPr>
        <p:txBody>
          <a:bodyPr wrap="square" rtlCol="0">
            <a:spAutoFit/>
          </a:bodyPr>
          <a:lstStyle/>
          <a:p>
            <a:pPr>
              <a:lnSpc>
                <a:spcPct val="117000"/>
              </a:lnSpc>
              <a:defRPr/>
            </a:pPr>
            <a:r>
              <a:rPr lang="en-US" altLang="zh-CN" sz="1600" b="1" dirty="0">
                <a:solidFill>
                  <a:srgbClr val="333333"/>
                </a:solidFill>
                <a:latin typeface="Noto Sans SC"/>
                <a:ea typeface="Noto Sans SC"/>
                <a:cs typeface="Noto Sans SC"/>
                <a:sym typeface="Noto Sans SC"/>
              </a:rPr>
              <a:t>🔹 三级用户体系：</a:t>
            </a:r>
            <a:endParaRPr lang="en-US" altLang="zh-CN" sz="1600" dirty="0"/>
          </a:p>
          <a:p>
            <a:pPr>
              <a:lnSpc>
                <a:spcPct val="108000"/>
              </a:lnSpc>
            </a:pPr>
            <a:r>
              <a:rPr lang="en-US" altLang="zh-CN" sz="1600" dirty="0">
                <a:solidFill>
                  <a:srgbClr val="555555"/>
                </a:solidFill>
                <a:latin typeface="Noto Sans SC"/>
                <a:ea typeface="Noto Sans SC"/>
                <a:cs typeface="Noto Sans SC"/>
                <a:sym typeface="Noto Sans SC"/>
              </a:rPr>
              <a:t>• 管理员(admin)：系统最高权限，管理所有平台用户；</a:t>
            </a:r>
          </a:p>
          <a:p>
            <a:pPr>
              <a:lnSpc>
                <a:spcPct val="108000"/>
              </a:lnSpc>
            </a:pPr>
            <a:r>
              <a:rPr lang="en-US" altLang="zh-CN" sz="1600" dirty="0">
                <a:solidFill>
                  <a:srgbClr val="555555"/>
                </a:solidFill>
                <a:latin typeface="Noto Sans SC"/>
                <a:ea typeface="Noto Sans SC"/>
                <a:cs typeface="Noto Sans SC"/>
                <a:sym typeface="Noto Sans SC"/>
              </a:rPr>
              <a:t>• 平台用户(platform)：机构/社区管理者，管理下属社区组和用户；</a:t>
            </a:r>
          </a:p>
          <a:p>
            <a:pPr>
              <a:lnSpc>
                <a:spcPct val="108000"/>
              </a:lnSpc>
            </a:pPr>
            <a:r>
              <a:rPr lang="en-US" altLang="zh-CN" sz="1600" dirty="0">
                <a:solidFill>
                  <a:srgbClr val="555555"/>
                </a:solidFill>
                <a:latin typeface="Noto Sans SC"/>
                <a:ea typeface="Noto Sans SC"/>
                <a:cs typeface="Noto Sans SC"/>
                <a:sym typeface="Noto Sans SC"/>
              </a:rPr>
              <a:t>• 普通用户(user)：老人账户，关联到平台用户或社区组。</a:t>
            </a:r>
          </a:p>
        </p:txBody>
      </p:sp>
      <p:sp>
        <p:nvSpPr>
          <p:cNvPr id="25" name="文本框 24"/>
          <p:cNvSpPr txBox="1"/>
          <p:nvPr/>
        </p:nvSpPr>
        <p:spPr>
          <a:xfrm>
            <a:off x="1016000" y="5593162"/>
            <a:ext cx="10032023" cy="628826"/>
          </a:xfrm>
          <a:prstGeom prst="rect">
            <a:avLst/>
          </a:prstGeom>
          <a:noFill/>
        </p:spPr>
        <p:txBody>
          <a:bodyPr wrap="square" rtlCol="0">
            <a:spAutoFit/>
          </a:bodyPr>
          <a:lstStyle/>
          <a:p>
            <a:pPr>
              <a:lnSpc>
                <a:spcPct val="117000"/>
              </a:lnSpc>
              <a:spcBef>
                <a:spcPts val="800"/>
              </a:spcBef>
            </a:pPr>
            <a:r>
              <a:rPr lang="en-US" altLang="zh-CN" sz="1600" b="1" dirty="0">
                <a:solidFill>
                  <a:srgbClr val="333333"/>
                </a:solidFill>
                <a:latin typeface="Noto Sans SC"/>
                <a:ea typeface="Noto Sans SC"/>
                <a:cs typeface="Noto Sans SC"/>
                <a:sym typeface="Noto Sans SC"/>
              </a:rPr>
              <a:t>🔹 数据隔离原则：</a:t>
            </a:r>
          </a:p>
          <a:p>
            <a:pPr>
              <a:lnSpc>
                <a:spcPct val="108000"/>
              </a:lnSpc>
            </a:pPr>
            <a:r>
              <a:rPr lang="en-US" altLang="zh-CN" sz="1600" dirty="0">
                <a:solidFill>
                  <a:srgbClr val="555555"/>
                </a:solidFill>
                <a:latin typeface="Noto Sans SC"/>
                <a:ea typeface="Noto Sans SC"/>
                <a:cs typeface="Noto Sans SC"/>
                <a:sym typeface="Noto Sans SC"/>
              </a:rPr>
              <a:t>• 平台用户只能查看和管理自己下属的用户和社区组数据，保障数据安全与管理独立性。</a:t>
            </a:r>
          </a:p>
        </p:txBody>
      </p:sp>
      <p:sp>
        <p:nvSpPr>
          <p:cNvPr id="26" name="AutoShape 7"/>
          <p:cNvSpPr/>
          <p:nvPr/>
        </p:nvSpPr>
        <p:spPr>
          <a:xfrm>
            <a:off x="6667867" y="2013394"/>
            <a:ext cx="4815742" cy="966177"/>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08000"/>
              </a:lnSpc>
              <a:defRPr/>
            </a:pPr>
            <a:r>
              <a:rPr lang="en-US" altLang="zh-CN" sz="1600" dirty="0">
                <a:solidFill>
                  <a:srgbClr val="555555"/>
                </a:solidFill>
                <a:latin typeface="Noto Sans SC"/>
                <a:ea typeface="Noto Sans SC"/>
                <a:cs typeface="Noto Sans SC"/>
                <a:sym typeface="Noto Sans SC"/>
              </a:rPr>
              <a:t>社区组是平台用户下属的具体服务单元，支持创建、编辑、挂起社区组，每个社区组可关联多名普通用户</a:t>
            </a:r>
            <a:r>
              <a:rPr lang="en-US" altLang="zh-CN" sz="1200" dirty="0">
                <a:solidFill>
                  <a:srgbClr val="555555"/>
                </a:solidFill>
                <a:latin typeface="Noto Sans SC"/>
                <a:ea typeface="Noto Sans SC"/>
                <a:cs typeface="Noto Sans SC"/>
                <a:sym typeface="Noto Sans SC"/>
              </a:rPr>
              <a:t>。</a:t>
            </a:r>
            <a:endParaRPr lang="en-US" altLang="zh-CN" sz="1200" dirty="0"/>
          </a:p>
        </p:txBody>
      </p:sp>
      <p:sp>
        <p:nvSpPr>
          <p:cNvPr id="8" name="AutoShape 3"/>
          <p:cNvSpPr/>
          <p:nvPr/>
        </p:nvSpPr>
        <p:spPr>
          <a:xfrm>
            <a:off x="762000" y="508000"/>
            <a:ext cx="4064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dirty="0">
                <a:solidFill>
                  <a:srgbClr val="333333"/>
                </a:solidFill>
                <a:latin typeface="Noto Sans SC"/>
                <a:ea typeface="Noto Sans SC"/>
                <a:cs typeface="Noto Sans SC"/>
                <a:sym typeface="Noto Sans SC"/>
              </a:rPr>
              <a:t>3</a:t>
            </a:r>
            <a:r>
              <a:rPr lang="en-US"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系统功能</a:t>
            </a:r>
            <a:endParaRPr lang="en-US" sz="1100" dirty="0"/>
          </a:p>
        </p:txBody>
      </p:sp>
      <p:sp>
        <p:nvSpPr>
          <p:cNvPr id="3"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4"/>
          <p:cNvSpPr/>
          <p:nvPr/>
        </p:nvSpPr>
        <p:spPr>
          <a:xfrm>
            <a:off x="8224468" y="1390783"/>
            <a:ext cx="3205532" cy="2211397"/>
          </a:xfrm>
          <a:prstGeom prst="roundRect">
            <a:avLst>
              <a:gd name="adj" fmla="val 9090"/>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sp>
        <p:nvSpPr>
          <p:cNvPr id="19" name="AutoShape 4"/>
          <p:cNvSpPr/>
          <p:nvPr/>
        </p:nvSpPr>
        <p:spPr>
          <a:xfrm>
            <a:off x="4493234" y="1396999"/>
            <a:ext cx="3205532" cy="2211397"/>
          </a:xfrm>
          <a:prstGeom prst="roundRect">
            <a:avLst>
              <a:gd name="adj" fmla="val 9090"/>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sp>
        <p:nvSpPr>
          <p:cNvPr id="4" name="AutoShape 4"/>
          <p:cNvSpPr/>
          <p:nvPr/>
        </p:nvSpPr>
        <p:spPr>
          <a:xfrm>
            <a:off x="762000" y="1396999"/>
            <a:ext cx="3205532" cy="2211397"/>
          </a:xfrm>
          <a:prstGeom prst="roundRect">
            <a:avLst>
              <a:gd name="adj" fmla="val 9090"/>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sp>
        <p:nvSpPr>
          <p:cNvPr id="6" name="AutoShape 6"/>
          <p:cNvSpPr/>
          <p:nvPr/>
        </p:nvSpPr>
        <p:spPr>
          <a:xfrm>
            <a:off x="1016000" y="1600199"/>
            <a:ext cx="4064000" cy="381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altLang="zh-CN" sz="1800" b="1" dirty="0">
                <a:solidFill>
                  <a:srgbClr val="4CAF50"/>
                </a:solidFill>
                <a:latin typeface="Noto Sans SC"/>
                <a:ea typeface="Noto Sans SC"/>
                <a:sym typeface="Noto Sans SC"/>
              </a:rPr>
              <a:t>一级响应（低风险）</a:t>
            </a:r>
            <a:endParaRPr lang="en-US" altLang="zh-CN" sz="1800" b="1" dirty="0">
              <a:solidFill>
                <a:srgbClr val="4CAF50"/>
              </a:solidFill>
              <a:latin typeface="Noto Sans SC"/>
              <a:ea typeface="Noto Sans SC"/>
            </a:endParaRPr>
          </a:p>
        </p:txBody>
      </p:sp>
      <p:sp>
        <p:nvSpPr>
          <p:cNvPr id="7" name="AutoShape 7"/>
          <p:cNvSpPr/>
          <p:nvPr/>
        </p:nvSpPr>
        <p:spPr>
          <a:xfrm>
            <a:off x="1016000" y="2173653"/>
            <a:ext cx="4815742" cy="966177"/>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17000"/>
              </a:lnSpc>
              <a:defRPr/>
            </a:pPr>
            <a:r>
              <a:rPr lang="en-US" altLang="zh-CN" sz="1600" b="1" dirty="0">
                <a:solidFill>
                  <a:srgbClr val="333333"/>
                </a:solidFill>
                <a:latin typeface="Noto Sans SC"/>
                <a:ea typeface="Noto Sans SC"/>
                <a:cs typeface="Noto Sans SC"/>
                <a:sym typeface="Noto Sans SC"/>
              </a:rPr>
              <a:t>触发条件：</a:t>
            </a:r>
            <a:r>
              <a:rPr lang="en-US" altLang="zh-CN" sz="1600" dirty="0">
                <a:solidFill>
                  <a:srgbClr val="555555"/>
                </a:solidFill>
                <a:latin typeface="Noto Sans SC"/>
                <a:ea typeface="Noto Sans SC"/>
                <a:cs typeface="Noto Sans SC"/>
                <a:sym typeface="Noto Sans SC"/>
              </a:rPr>
              <a:t>LOW风险等级</a:t>
            </a:r>
            <a:endParaRPr lang="en-US" altLang="zh-CN" sz="1600" dirty="0"/>
          </a:p>
          <a:p>
            <a:pPr>
              <a:lnSpc>
                <a:spcPct val="117000"/>
              </a:lnSpc>
            </a:pPr>
            <a:r>
              <a:rPr lang="en-US" altLang="zh-CN" sz="1600" b="1" dirty="0">
                <a:solidFill>
                  <a:srgbClr val="333333"/>
                </a:solidFill>
                <a:latin typeface="Noto Sans SC"/>
                <a:ea typeface="Noto Sans SC"/>
                <a:cs typeface="Noto Sans SC"/>
                <a:sym typeface="Noto Sans SC"/>
              </a:rPr>
              <a:t>响应方式：</a:t>
            </a:r>
            <a:r>
              <a:rPr lang="en-US" altLang="zh-CN" sz="1600" dirty="0">
                <a:solidFill>
                  <a:srgbClr val="555555"/>
                </a:solidFill>
                <a:latin typeface="Noto Sans SC"/>
                <a:ea typeface="Noto Sans SC"/>
                <a:cs typeface="Noto Sans SC"/>
                <a:sym typeface="Noto Sans SC"/>
              </a:rPr>
              <a:t>本地提醒</a:t>
            </a:r>
          </a:p>
          <a:p>
            <a:pPr>
              <a:lnSpc>
                <a:spcPct val="117000"/>
              </a:lnSpc>
            </a:pPr>
            <a:r>
              <a:rPr lang="en-US" altLang="zh-CN" sz="1600" b="1" dirty="0">
                <a:solidFill>
                  <a:srgbClr val="333333"/>
                </a:solidFill>
                <a:latin typeface="Noto Sans SC"/>
                <a:ea typeface="Noto Sans SC"/>
                <a:cs typeface="Noto Sans SC"/>
                <a:sym typeface="Noto Sans SC"/>
              </a:rPr>
              <a:t>告警渠道：</a:t>
            </a:r>
            <a:r>
              <a:rPr lang="en-US" altLang="zh-CN" sz="1600" dirty="0">
                <a:solidFill>
                  <a:srgbClr val="555555"/>
                </a:solidFill>
                <a:latin typeface="Noto Sans SC"/>
                <a:ea typeface="Noto Sans SC"/>
                <a:cs typeface="Noto Sans SC"/>
                <a:sym typeface="Noto Sans SC"/>
              </a:rPr>
              <a:t>应用内通知</a:t>
            </a:r>
          </a:p>
          <a:p>
            <a:pPr>
              <a:lnSpc>
                <a:spcPct val="117000"/>
              </a:lnSpc>
            </a:pPr>
            <a:r>
              <a:rPr lang="en-US" altLang="zh-CN" sz="1600" b="1" dirty="0">
                <a:solidFill>
                  <a:srgbClr val="333333"/>
                </a:solidFill>
                <a:latin typeface="Noto Sans SC"/>
                <a:ea typeface="Noto Sans SC"/>
                <a:cs typeface="Noto Sans SC"/>
                <a:sym typeface="Noto Sans SC"/>
              </a:rPr>
              <a:t>典型场景：</a:t>
            </a:r>
            <a:r>
              <a:rPr lang="en-US" altLang="zh-CN" sz="1600" dirty="0">
                <a:solidFill>
                  <a:srgbClr val="555555"/>
                </a:solidFill>
                <a:latin typeface="Noto Sans SC"/>
                <a:ea typeface="Noto Sans SC"/>
                <a:cs typeface="Noto Sans SC"/>
                <a:sym typeface="Noto Sans SC"/>
              </a:rPr>
              <a:t>短时间静止</a:t>
            </a:r>
          </a:p>
        </p:txBody>
      </p:sp>
      <p:sp>
        <p:nvSpPr>
          <p:cNvPr id="12" name="AutoShape 12"/>
          <p:cNvSpPr/>
          <p:nvPr/>
        </p:nvSpPr>
        <p:spPr>
          <a:xfrm>
            <a:off x="761999" y="4151303"/>
            <a:ext cx="10672888" cy="2462419"/>
          </a:xfrm>
          <a:prstGeom prst="roundRect">
            <a:avLst>
              <a:gd name="adj" fmla="val 9090"/>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sp>
        <p:nvSpPr>
          <p:cNvPr id="8" name="AutoShape 7"/>
          <p:cNvSpPr/>
          <p:nvPr/>
        </p:nvSpPr>
        <p:spPr>
          <a:xfrm>
            <a:off x="4681109" y="1531818"/>
            <a:ext cx="2921000" cy="381000"/>
          </a:xfrm>
          <a:prstGeom prst="rect">
            <a:avLst/>
          </a:prstGeom>
          <a:noFill/>
          <a:ln w="12700" cap="flat" cmpd="sng">
            <a:noFill/>
            <a:prstDash val="solid"/>
            <a:round/>
          </a:ln>
        </p:spPr>
        <p:txBody>
          <a:bodyPr vert="horz" wrap="square" lIns="63500" tIns="25400" rIns="63500" bIns="25400" rtlCol="0" anchor="ctr" anchorCtr="0"/>
          <a:lstStyle/>
          <a:p>
            <a:pPr indent="0" algn="l">
              <a:lnSpc>
                <a:spcPct val="125000"/>
              </a:lnSpc>
              <a:defRPr/>
            </a:pPr>
            <a:r>
              <a:rPr lang="en-US" sz="1800" b="1" dirty="0">
                <a:solidFill>
                  <a:srgbClr val="4CAF50"/>
                </a:solidFill>
                <a:latin typeface="Noto Sans SC"/>
                <a:ea typeface="Noto Sans SC"/>
                <a:sym typeface="Noto Sans SC"/>
              </a:rPr>
              <a:t>二级响应（中风险）</a:t>
            </a:r>
            <a:endParaRPr lang="en-US" sz="1800" b="1" dirty="0">
              <a:solidFill>
                <a:srgbClr val="4CAF50"/>
              </a:solidFill>
              <a:latin typeface="Noto Sans SC"/>
              <a:ea typeface="Noto Sans SC"/>
            </a:endParaRPr>
          </a:p>
        </p:txBody>
      </p:sp>
      <p:sp>
        <p:nvSpPr>
          <p:cNvPr id="9" name="AutoShape 8"/>
          <p:cNvSpPr/>
          <p:nvPr/>
        </p:nvSpPr>
        <p:spPr>
          <a:xfrm>
            <a:off x="4681109" y="1981199"/>
            <a:ext cx="2921000" cy="1905000"/>
          </a:xfrm>
          <a:prstGeom prst="rect">
            <a:avLst/>
          </a:prstGeom>
          <a:noFill/>
          <a:ln w="12700" cap="flat" cmpd="sng">
            <a:noFill/>
            <a:prstDash val="solid"/>
            <a:round/>
          </a:ln>
        </p:spPr>
        <p:txBody>
          <a:bodyPr vert="horz" wrap="square" lIns="63500" tIns="63500" rIns="63500" bIns="63500" rtlCol="0" anchor="t" anchorCtr="0"/>
          <a:lstStyle/>
          <a:p>
            <a:pPr indent="0" algn="l">
              <a:lnSpc>
                <a:spcPct val="117000"/>
              </a:lnSpc>
              <a:defRPr/>
            </a:pPr>
            <a:r>
              <a:rPr lang="en-US" sz="1600" b="1" i="0" u="none" strike="noStrike" dirty="0">
                <a:solidFill>
                  <a:srgbClr val="333333"/>
                </a:solidFill>
                <a:latin typeface="Noto Sans SC"/>
                <a:ea typeface="Noto Sans SC"/>
                <a:cs typeface="Noto Sans SC"/>
                <a:sym typeface="Noto Sans SC"/>
              </a:rPr>
              <a:t>触发条件：</a:t>
            </a:r>
            <a:r>
              <a:rPr lang="en-US" sz="1600" b="0" i="0" u="none" strike="noStrike" dirty="0">
                <a:solidFill>
                  <a:srgbClr val="555555"/>
                </a:solidFill>
                <a:latin typeface="Noto Sans SC"/>
                <a:ea typeface="Noto Sans SC"/>
                <a:cs typeface="Noto Sans SC"/>
                <a:sym typeface="Noto Sans SC"/>
              </a:rPr>
              <a:t>MEDIUM风险</a:t>
            </a:r>
            <a:endParaRPr lang="en-US" sz="1600" dirty="0"/>
          </a:p>
          <a:p>
            <a:pPr indent="0" algn="l">
              <a:lnSpc>
                <a:spcPct val="117000"/>
              </a:lnSpc>
            </a:pPr>
            <a:r>
              <a:rPr lang="en-US" sz="1600" b="1" i="0" u="none" strike="noStrike" dirty="0">
                <a:solidFill>
                  <a:srgbClr val="333333"/>
                </a:solidFill>
                <a:latin typeface="Noto Sans SC"/>
                <a:ea typeface="Noto Sans SC"/>
                <a:cs typeface="Noto Sans SC"/>
                <a:sym typeface="Noto Sans SC"/>
              </a:rPr>
              <a:t>响应方式：</a:t>
            </a:r>
            <a:r>
              <a:rPr lang="en-US" sz="1600" b="0" i="0" u="none" strike="noStrike" dirty="0">
                <a:solidFill>
                  <a:srgbClr val="555555"/>
                </a:solidFill>
                <a:latin typeface="Noto Sans SC"/>
                <a:ea typeface="Noto Sans SC"/>
                <a:cs typeface="Noto Sans SC"/>
                <a:sym typeface="Noto Sans SC"/>
              </a:rPr>
              <a:t>管理端告警</a:t>
            </a:r>
          </a:p>
          <a:p>
            <a:pPr indent="0" algn="l">
              <a:lnSpc>
                <a:spcPct val="117000"/>
              </a:lnSpc>
            </a:pPr>
            <a:r>
              <a:rPr lang="en-US" sz="1600" b="1" i="0" u="none" strike="noStrike" dirty="0">
                <a:solidFill>
                  <a:srgbClr val="333333"/>
                </a:solidFill>
                <a:latin typeface="Noto Sans SC"/>
                <a:ea typeface="Noto Sans SC"/>
                <a:cs typeface="Noto Sans SC"/>
                <a:sym typeface="Noto Sans SC"/>
              </a:rPr>
              <a:t>告警渠道：</a:t>
            </a:r>
            <a:r>
              <a:rPr lang="en-US" sz="1600" b="0" i="0" u="none" strike="noStrike" dirty="0">
                <a:solidFill>
                  <a:srgbClr val="555555"/>
                </a:solidFill>
                <a:latin typeface="Noto Sans SC"/>
                <a:ea typeface="Noto Sans SC"/>
                <a:cs typeface="Noto Sans SC"/>
                <a:sym typeface="Noto Sans SC"/>
              </a:rPr>
              <a:t>邮件+推送</a:t>
            </a:r>
          </a:p>
          <a:p>
            <a:pPr indent="0" algn="l">
              <a:lnSpc>
                <a:spcPct val="117000"/>
              </a:lnSpc>
            </a:pPr>
            <a:r>
              <a:rPr lang="en-US" sz="1600" b="1" i="0" u="none" strike="noStrike" dirty="0">
                <a:solidFill>
                  <a:srgbClr val="333333"/>
                </a:solidFill>
                <a:latin typeface="Noto Sans SC"/>
                <a:ea typeface="Noto Sans SC"/>
                <a:cs typeface="Noto Sans SC"/>
                <a:sym typeface="Noto Sans SC"/>
              </a:rPr>
              <a:t>典型场景：</a:t>
            </a:r>
            <a:r>
              <a:rPr lang="en-US" sz="1600" b="0" i="0" u="none" strike="noStrike" dirty="0">
                <a:solidFill>
                  <a:srgbClr val="555555"/>
                </a:solidFill>
                <a:latin typeface="Noto Sans SC"/>
                <a:ea typeface="Noto Sans SC"/>
                <a:cs typeface="Noto Sans SC"/>
                <a:sym typeface="Noto Sans SC"/>
              </a:rPr>
              <a:t>夜间异常活动</a:t>
            </a:r>
          </a:p>
        </p:txBody>
      </p:sp>
      <p:sp>
        <p:nvSpPr>
          <p:cNvPr id="15" name="AutoShape 10"/>
          <p:cNvSpPr/>
          <p:nvPr/>
        </p:nvSpPr>
        <p:spPr>
          <a:xfrm>
            <a:off x="8412343" y="1540251"/>
            <a:ext cx="2921000" cy="381000"/>
          </a:xfrm>
          <a:prstGeom prst="rect">
            <a:avLst/>
          </a:prstGeom>
          <a:noFill/>
          <a:ln w="12700" cap="flat" cmpd="sng">
            <a:noFill/>
            <a:prstDash val="solid"/>
            <a:round/>
          </a:ln>
        </p:spPr>
        <p:txBody>
          <a:bodyPr vert="horz" wrap="square" lIns="63500" tIns="25400" rIns="63500" bIns="25400" rtlCol="0" anchor="ctr" anchorCtr="0"/>
          <a:lstStyle/>
          <a:p>
            <a:pPr indent="0" algn="l">
              <a:lnSpc>
                <a:spcPct val="125000"/>
              </a:lnSpc>
              <a:defRPr/>
            </a:pPr>
            <a:r>
              <a:rPr lang="en-US" sz="1800" b="1" dirty="0">
                <a:solidFill>
                  <a:srgbClr val="4CAF50"/>
                </a:solidFill>
                <a:latin typeface="Noto Sans SC"/>
                <a:ea typeface="Noto Sans SC"/>
                <a:sym typeface="Noto Sans SC"/>
              </a:rPr>
              <a:t>三级响应（高风险）</a:t>
            </a:r>
            <a:endParaRPr lang="en-US" sz="1800" b="1" dirty="0">
              <a:solidFill>
                <a:srgbClr val="4CAF50"/>
              </a:solidFill>
              <a:latin typeface="Noto Sans SC"/>
              <a:ea typeface="Noto Sans SC"/>
            </a:endParaRPr>
          </a:p>
        </p:txBody>
      </p:sp>
      <p:sp>
        <p:nvSpPr>
          <p:cNvPr id="16" name="AutoShape 11"/>
          <p:cNvSpPr/>
          <p:nvPr/>
        </p:nvSpPr>
        <p:spPr>
          <a:xfrm>
            <a:off x="8412343" y="2002691"/>
            <a:ext cx="2921000" cy="1905000"/>
          </a:xfrm>
          <a:prstGeom prst="rect">
            <a:avLst/>
          </a:prstGeom>
          <a:noFill/>
          <a:ln w="12700" cap="flat" cmpd="sng">
            <a:noFill/>
            <a:prstDash val="solid"/>
            <a:round/>
          </a:ln>
        </p:spPr>
        <p:txBody>
          <a:bodyPr vert="horz" wrap="square" lIns="63500" tIns="63500" rIns="63500" bIns="63500" rtlCol="0" anchor="t" anchorCtr="0"/>
          <a:lstStyle/>
          <a:p>
            <a:pPr indent="0" algn="l">
              <a:lnSpc>
                <a:spcPct val="117000"/>
              </a:lnSpc>
              <a:defRPr/>
            </a:pPr>
            <a:r>
              <a:rPr lang="en-US" sz="1600" b="1" i="0" u="none" strike="noStrike" dirty="0">
                <a:solidFill>
                  <a:srgbClr val="333333"/>
                </a:solidFill>
                <a:latin typeface="Noto Sans SC"/>
                <a:ea typeface="Noto Sans SC"/>
                <a:cs typeface="Noto Sans SC"/>
                <a:sym typeface="Noto Sans SC"/>
              </a:rPr>
              <a:t>触发条件：</a:t>
            </a:r>
            <a:r>
              <a:rPr lang="en-US" sz="1600" b="0" i="0" u="none" strike="noStrike" dirty="0">
                <a:solidFill>
                  <a:srgbClr val="555555"/>
                </a:solidFill>
                <a:latin typeface="Noto Sans SC"/>
                <a:ea typeface="Noto Sans SC"/>
                <a:cs typeface="Noto Sans SC"/>
                <a:sym typeface="Noto Sans SC"/>
              </a:rPr>
              <a:t>HIGH风险等级</a:t>
            </a:r>
            <a:endParaRPr lang="en-US" sz="1600" dirty="0"/>
          </a:p>
          <a:p>
            <a:pPr indent="0" algn="l">
              <a:lnSpc>
                <a:spcPct val="117000"/>
              </a:lnSpc>
            </a:pPr>
            <a:r>
              <a:rPr lang="en-US" sz="1600" b="1" i="0" u="none" strike="noStrike" dirty="0">
                <a:solidFill>
                  <a:srgbClr val="333333"/>
                </a:solidFill>
                <a:latin typeface="Noto Sans SC"/>
                <a:ea typeface="Noto Sans SC"/>
                <a:cs typeface="Noto Sans SC"/>
                <a:sym typeface="Noto Sans SC"/>
              </a:rPr>
              <a:t>响应方式：</a:t>
            </a:r>
            <a:r>
              <a:rPr lang="en-US" sz="1600" b="0" i="0" u="none" strike="noStrike" dirty="0">
                <a:solidFill>
                  <a:srgbClr val="555555"/>
                </a:solidFill>
                <a:latin typeface="Noto Sans SC"/>
                <a:ea typeface="Noto Sans SC"/>
                <a:cs typeface="Noto Sans SC"/>
                <a:sym typeface="Noto Sans SC"/>
              </a:rPr>
              <a:t>紧急通知</a:t>
            </a:r>
          </a:p>
          <a:p>
            <a:pPr indent="0" algn="l">
              <a:lnSpc>
                <a:spcPct val="117000"/>
              </a:lnSpc>
            </a:pPr>
            <a:r>
              <a:rPr lang="en-US" sz="1600" b="1" i="0" u="none" strike="noStrike" dirty="0">
                <a:solidFill>
                  <a:srgbClr val="333333"/>
                </a:solidFill>
                <a:latin typeface="Noto Sans SC"/>
                <a:ea typeface="Noto Sans SC"/>
                <a:cs typeface="Noto Sans SC"/>
                <a:sym typeface="Noto Sans SC"/>
              </a:rPr>
              <a:t>告警渠道：</a:t>
            </a:r>
            <a:r>
              <a:rPr lang="en-US" sz="1600" b="0" i="0" u="none" strike="noStrike" dirty="0">
                <a:solidFill>
                  <a:srgbClr val="555555"/>
                </a:solidFill>
                <a:latin typeface="Noto Sans SC"/>
                <a:ea typeface="Noto Sans SC"/>
                <a:cs typeface="Noto Sans SC"/>
                <a:sym typeface="Noto Sans SC"/>
              </a:rPr>
              <a:t>短信+邮件+电话</a:t>
            </a:r>
          </a:p>
          <a:p>
            <a:pPr indent="0" algn="l">
              <a:lnSpc>
                <a:spcPct val="117000"/>
              </a:lnSpc>
            </a:pPr>
            <a:r>
              <a:rPr lang="en-US" sz="1600" b="1" i="0" u="none" strike="noStrike" dirty="0">
                <a:solidFill>
                  <a:srgbClr val="333333"/>
                </a:solidFill>
                <a:latin typeface="Noto Sans SC"/>
                <a:ea typeface="Noto Sans SC"/>
                <a:cs typeface="Noto Sans SC"/>
                <a:sym typeface="Noto Sans SC"/>
              </a:rPr>
              <a:t>典型场景：</a:t>
            </a:r>
            <a:r>
              <a:rPr lang="en-US" sz="1600" b="0" i="0" u="none" strike="noStrike" dirty="0">
                <a:solidFill>
                  <a:srgbClr val="555555"/>
                </a:solidFill>
                <a:latin typeface="Noto Sans SC"/>
                <a:ea typeface="Noto Sans SC"/>
                <a:cs typeface="Noto Sans SC"/>
                <a:sym typeface="Noto Sans SC"/>
              </a:rPr>
              <a:t>确认跌倒</a:t>
            </a:r>
          </a:p>
        </p:txBody>
      </p:sp>
      <p:sp>
        <p:nvSpPr>
          <p:cNvPr id="21" name="AutoShape 13"/>
          <p:cNvSpPr/>
          <p:nvPr/>
        </p:nvSpPr>
        <p:spPr>
          <a:xfrm>
            <a:off x="1016000" y="4319776"/>
            <a:ext cx="10160000" cy="381000"/>
          </a:xfrm>
          <a:prstGeom prst="rect">
            <a:avLst/>
          </a:prstGeom>
          <a:noFill/>
          <a:ln w="12700" cap="flat" cmpd="sng">
            <a:noFill/>
            <a:prstDash val="solid"/>
            <a:round/>
          </a:ln>
        </p:spPr>
        <p:txBody>
          <a:bodyPr vert="horz" wrap="square" lIns="63500" tIns="25400" rIns="63500" bIns="25400" rtlCol="0" anchor="ctr" anchorCtr="0"/>
          <a:lstStyle/>
          <a:p>
            <a:pPr indent="0" algn="l">
              <a:lnSpc>
                <a:spcPct val="125000"/>
              </a:lnSpc>
              <a:defRPr/>
            </a:pPr>
            <a:r>
              <a:rPr lang="en-US" sz="1800" b="1" dirty="0">
                <a:solidFill>
                  <a:srgbClr val="4CAF50"/>
                </a:solidFill>
                <a:latin typeface="Noto Sans SC"/>
                <a:ea typeface="Noto Sans SC"/>
                <a:sym typeface="Noto Sans SC"/>
              </a:rPr>
              <a:t>告警配置与定制</a:t>
            </a:r>
            <a:endParaRPr lang="en-US" sz="1800" b="1" dirty="0">
              <a:solidFill>
                <a:srgbClr val="4CAF50"/>
              </a:solidFill>
              <a:latin typeface="Noto Sans SC"/>
              <a:ea typeface="Noto Sans SC"/>
            </a:endParaRPr>
          </a:p>
        </p:txBody>
      </p:sp>
      <p:sp>
        <p:nvSpPr>
          <p:cNvPr id="22" name="AutoShape 14"/>
          <p:cNvSpPr/>
          <p:nvPr/>
        </p:nvSpPr>
        <p:spPr>
          <a:xfrm>
            <a:off x="1016000" y="4823382"/>
            <a:ext cx="10160000" cy="1164492"/>
          </a:xfrm>
          <a:prstGeom prst="rect">
            <a:avLst/>
          </a:prstGeom>
          <a:noFill/>
          <a:ln w="12700" cap="flat" cmpd="sng">
            <a:noFill/>
            <a:prstDash val="solid"/>
            <a:round/>
          </a:ln>
        </p:spPr>
        <p:txBody>
          <a:bodyPr vert="horz" wrap="square" lIns="63500" tIns="63500" rIns="63500" bIns="63500" rtlCol="0" anchor="t" anchorCtr="0"/>
          <a:lstStyle/>
          <a:p>
            <a:r>
              <a:rPr lang="zh-CN" altLang="en-US" sz="1600" dirty="0">
                <a:solidFill>
                  <a:srgbClr val="555555"/>
                </a:solidFill>
                <a:latin typeface="Noto Sans SC"/>
              </a:rPr>
              <a:t>免打扰时段：可设置自定义夜间免打扰时间（如 </a:t>
            </a:r>
            <a:r>
              <a:rPr lang="en-US" altLang="zh-CN" sz="1600" dirty="0">
                <a:solidFill>
                  <a:srgbClr val="555555"/>
                </a:solidFill>
                <a:latin typeface="Noto Sans SC"/>
              </a:rPr>
              <a:t>23:00-07:00</a:t>
            </a:r>
            <a:r>
              <a:rPr lang="zh-CN" altLang="en-US" sz="1600" dirty="0">
                <a:solidFill>
                  <a:srgbClr val="555555"/>
                </a:solidFill>
                <a:latin typeface="Noto Sans SC"/>
              </a:rPr>
              <a:t>）</a:t>
            </a:r>
          </a:p>
          <a:p>
            <a:r>
              <a:rPr lang="zh-CN" altLang="en-US" sz="1600" dirty="0">
                <a:solidFill>
                  <a:srgbClr val="555555"/>
                </a:solidFill>
                <a:latin typeface="Noto Sans SC"/>
              </a:rPr>
              <a:t>绕过免打扰：高风险事件可选择绕过免打扰时段</a:t>
            </a:r>
          </a:p>
          <a:p>
            <a:r>
              <a:rPr lang="zh-CN" altLang="en-US" sz="1600" dirty="0">
                <a:solidFill>
                  <a:srgbClr val="555555"/>
                </a:solidFill>
                <a:latin typeface="Noto Sans SC"/>
              </a:rPr>
              <a:t>紧急联系人：配置紧急联系电话和邮箱</a:t>
            </a:r>
          </a:p>
          <a:p>
            <a:r>
              <a:rPr lang="zh-CN" altLang="en-US" sz="1600" dirty="0">
                <a:solidFill>
                  <a:srgbClr val="555555"/>
                </a:solidFill>
                <a:latin typeface="Noto Sans SC"/>
              </a:rPr>
              <a:t>多渠道通知：支持短信、邮件、应用推送多种告警方式</a:t>
            </a:r>
          </a:p>
          <a:p>
            <a:pPr indent="0" algn="l">
              <a:lnSpc>
                <a:spcPct val="117000"/>
              </a:lnSpc>
              <a:defRPr/>
            </a:pPr>
            <a:endParaRPr lang="en-US" sz="1100" dirty="0"/>
          </a:p>
        </p:txBody>
      </p:sp>
      <p:sp>
        <p:nvSpPr>
          <p:cNvPr id="2" name="AutoShape 3"/>
          <p:cNvSpPr/>
          <p:nvPr/>
        </p:nvSpPr>
        <p:spPr>
          <a:xfrm>
            <a:off x="762000" y="508000"/>
            <a:ext cx="4064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dirty="0">
                <a:solidFill>
                  <a:srgbClr val="333333"/>
                </a:solidFill>
                <a:latin typeface="Noto Sans SC"/>
                <a:ea typeface="Noto Sans SC"/>
                <a:cs typeface="Noto Sans SC"/>
                <a:sym typeface="Noto Sans SC"/>
              </a:rPr>
              <a:t>3</a:t>
            </a:r>
            <a:r>
              <a:rPr lang="en-US"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系统功能</a:t>
            </a:r>
            <a:endParaRPr lang="en-US" sz="1100" dirty="0"/>
          </a:p>
        </p:txBody>
      </p:sp>
      <p:sp>
        <p:nvSpPr>
          <p:cNvPr id="3"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4)</a:t>
            </a:r>
            <a:r>
              <a:rPr lang="zh-CN" altLang="en-US" sz="3600" b="1" i="0" u="none" strike="noStrike" dirty="0">
                <a:solidFill>
                  <a:srgbClr val="333333"/>
                </a:solidFill>
                <a:latin typeface="Noto Sans SC"/>
                <a:ea typeface="Noto Sans SC"/>
                <a:cs typeface="Noto Sans SC"/>
                <a:sym typeface="Noto Sans SC"/>
              </a:rPr>
              <a:t>异常</a:t>
            </a:r>
            <a:r>
              <a:rPr lang="zh-CN" altLang="en-US" sz="3600" b="1" dirty="0">
                <a:solidFill>
                  <a:srgbClr val="333333"/>
                </a:solidFill>
                <a:latin typeface="Noto Sans SC"/>
                <a:ea typeface="Noto Sans SC"/>
                <a:cs typeface="Noto Sans SC"/>
                <a:sym typeface="Noto Sans SC"/>
              </a:rPr>
              <a:t>行为检测</a:t>
            </a:r>
            <a:endParaRPr lang="en-US" sz="1100" dirty="0"/>
          </a:p>
        </p:txBody>
      </p:sp>
      <p:sp>
        <p:nvSpPr>
          <p:cNvPr id="4" name="AutoShape 4"/>
          <p:cNvSpPr/>
          <p:nvPr/>
        </p:nvSpPr>
        <p:spPr>
          <a:xfrm>
            <a:off x="762000" y="1397000"/>
            <a:ext cx="5207000" cy="1651000"/>
          </a:xfrm>
          <a:prstGeom prst="roundRect">
            <a:avLst>
              <a:gd name="adj" fmla="val 7692"/>
            </a:avLst>
          </a:prstGeom>
          <a:solidFill>
            <a:srgbClr val="FFFFFF">
              <a:alpha val="90000"/>
            </a:srgbClr>
          </a:solidFill>
          <a:ln w="12700" cap="flat" cmpd="sng">
            <a:solidFill>
              <a:srgbClr val="DCDCDC">
                <a:alpha val="100000"/>
              </a:srgbClr>
            </a:solidFill>
            <a:prstDash val="solid"/>
            <a:round/>
          </a:ln>
          <a:effectLst>
            <a:outerShdw blurRad="190500" dist="50800" dir="5400000" algn="tl" rotWithShape="0">
              <a:srgbClr val="000000">
                <a:alpha val="10000"/>
              </a:srgbClr>
            </a:outerShdw>
          </a:effectLst>
        </p:spPr>
        <p:txBody>
          <a:bodyPr vert="horz" wrap="square" lIns="63500" tIns="63500" rIns="63500" bIns="63500" rtlCol="0" anchor="ctr"/>
          <a:lstStyle/>
          <a:p>
            <a:pPr algn="ctr">
              <a:defRPr/>
            </a:pPr>
            <a:endParaRPr dirty="0"/>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651000"/>
            <a:ext cx="457200" cy="457200"/>
          </a:xfrm>
          <a:prstGeom prst="rect">
            <a:avLst/>
          </a:prstGeom>
        </p:spPr>
      </p:pic>
      <p:sp>
        <p:nvSpPr>
          <p:cNvPr id="6" name="AutoShape 6"/>
          <p:cNvSpPr/>
          <p:nvPr/>
        </p:nvSpPr>
        <p:spPr>
          <a:xfrm>
            <a:off x="1651000" y="16510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核心技术方案</a:t>
            </a:r>
            <a:endParaRPr lang="en-US" sz="1100" dirty="0"/>
          </a:p>
        </p:txBody>
      </p:sp>
      <p:sp>
        <p:nvSpPr>
          <p:cNvPr id="7" name="AutoShape 7"/>
          <p:cNvSpPr/>
          <p:nvPr/>
        </p:nvSpPr>
        <p:spPr>
          <a:xfrm>
            <a:off x="1625600" y="2058086"/>
            <a:ext cx="4191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dirty="0" err="1">
                <a:solidFill>
                  <a:srgbClr val="505050"/>
                </a:solidFill>
                <a:latin typeface="Noto Sans SC"/>
                <a:ea typeface="Noto Sans SC"/>
                <a:cs typeface="Noto Sans SC"/>
                <a:sym typeface="Noto Sans SC"/>
              </a:rPr>
              <a:t>采用</a:t>
            </a:r>
            <a:r>
              <a:rPr lang="en-US" sz="1600" b="0" i="0" u="none" strike="noStrike" dirty="0">
                <a:solidFill>
                  <a:srgbClr val="505050"/>
                </a:solidFill>
                <a:latin typeface="Noto Sans SC"/>
                <a:ea typeface="Noto Sans SC"/>
                <a:cs typeface="Noto Sans SC"/>
                <a:sym typeface="Noto Sans SC"/>
              </a:rPr>
              <a:t> YOLO26 </a:t>
            </a:r>
            <a:r>
              <a:rPr lang="zh-CN" altLang="en-US" sz="1600" dirty="0">
                <a:solidFill>
                  <a:srgbClr val="505050"/>
                </a:solidFill>
                <a:latin typeface="Noto Sans SC"/>
                <a:ea typeface="Noto Sans SC"/>
                <a:cs typeface="Noto Sans SC"/>
                <a:sym typeface="Noto Sans SC"/>
              </a:rPr>
              <a:t>目标检测</a:t>
            </a:r>
            <a:r>
              <a:rPr lang="zh-CN" altLang="en-US" sz="1600" b="0" i="0" u="none" strike="noStrike" dirty="0">
                <a:solidFill>
                  <a:srgbClr val="505050"/>
                </a:solidFill>
                <a:latin typeface="Noto Sans SC"/>
                <a:ea typeface="Noto Sans SC"/>
                <a:cs typeface="Noto Sans SC"/>
                <a:sym typeface="Noto Sans SC"/>
              </a:rPr>
              <a:t>框架</a:t>
            </a:r>
            <a:r>
              <a:rPr lang="en-US" sz="1600" b="0" i="0" u="none" strike="noStrike" dirty="0">
                <a:solidFill>
                  <a:srgbClr val="505050"/>
                </a:solidFill>
                <a:latin typeface="Noto Sans SC"/>
                <a:ea typeface="Noto Sans SC"/>
                <a:cs typeface="Noto Sans SC"/>
                <a:sym typeface="Noto Sans SC"/>
              </a:rPr>
              <a:t>，实现人体目标检测与动作状态识别的一体化端到端处理</a:t>
            </a:r>
            <a:r>
              <a:rPr lang="zh-CN" altLang="en-US" sz="1600" b="0" i="0" u="none" strike="noStrike" dirty="0">
                <a:solidFill>
                  <a:srgbClr val="505050"/>
                </a:solidFill>
                <a:latin typeface="Noto Sans SC"/>
                <a:ea typeface="Noto Sans SC"/>
                <a:cs typeface="Noto Sans SC"/>
                <a:sym typeface="Noto Sans SC"/>
              </a:rPr>
              <a:t>。</a:t>
            </a:r>
            <a:endParaRPr lang="en-US" sz="1600" dirty="0"/>
          </a:p>
        </p:txBody>
      </p:sp>
      <p:sp>
        <p:nvSpPr>
          <p:cNvPr id="8" name="AutoShape 8"/>
          <p:cNvSpPr/>
          <p:nvPr/>
        </p:nvSpPr>
        <p:spPr>
          <a:xfrm>
            <a:off x="6223000" y="1397000"/>
            <a:ext cx="5207000" cy="1651000"/>
          </a:xfrm>
          <a:prstGeom prst="roundRect">
            <a:avLst>
              <a:gd name="adj" fmla="val 7692"/>
            </a:avLst>
          </a:prstGeom>
          <a:solidFill>
            <a:srgbClr val="FFFFFF">
              <a:alpha val="90000"/>
            </a:srgbClr>
          </a:solidFill>
          <a:ln w="12700" cap="flat" cmpd="sng">
            <a:solidFill>
              <a:srgbClr val="DCDCDC">
                <a:alpha val="100000"/>
              </a:srgbClr>
            </a:solidFill>
            <a:prstDash val="solid"/>
            <a:round/>
          </a:ln>
          <a:effectLst>
            <a:outerShdw blurRad="190500" dist="50800" dir="5400000" algn="tl" rotWithShape="0">
              <a:srgbClr val="000000">
                <a:alpha val="10000"/>
              </a:srgbClr>
            </a:outerShdw>
          </a:effectLst>
        </p:spPr>
        <p:txBody>
          <a:bodyPr vert="horz" wrap="square" lIns="63500" tIns="63500" rIns="63500" bIns="63500" rtlCol="0" anchor="ctr"/>
          <a:lstStyle/>
          <a:p>
            <a:pPr algn="ctr">
              <a:defRPr/>
            </a:pPr>
            <a:endParaRPr dirty="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651000"/>
            <a:ext cx="457200" cy="457200"/>
          </a:xfrm>
          <a:prstGeom prst="rect">
            <a:avLst/>
          </a:prstGeom>
        </p:spPr>
      </p:pic>
      <p:sp>
        <p:nvSpPr>
          <p:cNvPr id="10" name="AutoShape 10"/>
          <p:cNvSpPr/>
          <p:nvPr/>
        </p:nvSpPr>
        <p:spPr>
          <a:xfrm>
            <a:off x="7112000" y="16510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关键检测输出目标</a:t>
            </a:r>
            <a:endParaRPr lang="en-US" sz="1100" dirty="0"/>
          </a:p>
        </p:txBody>
      </p:sp>
      <p:sp>
        <p:nvSpPr>
          <p:cNvPr id="11" name="AutoShape 11"/>
          <p:cNvSpPr/>
          <p:nvPr/>
        </p:nvSpPr>
        <p:spPr>
          <a:xfrm>
            <a:off x="6858000" y="2057400"/>
            <a:ext cx="5084805" cy="889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dirty="0">
                <a:solidFill>
                  <a:srgbClr val="505050"/>
                </a:solidFill>
                <a:latin typeface="Noto Sans SC"/>
                <a:ea typeface="Noto Sans SC"/>
                <a:cs typeface="Noto Sans SC"/>
                <a:sym typeface="Noto Sans SC"/>
              </a:rPr>
              <a:t>• 输出精确的边界框坐标 [x1, y1, x2, y2]</a:t>
            </a:r>
            <a:br>
              <a:rPr lang="en-US" sz="1600" b="0" i="0" u="none" strike="noStrike" dirty="0">
                <a:solidFill>
                  <a:srgbClr val="505050"/>
                </a:solidFill>
                <a:latin typeface="Noto Sans SC"/>
                <a:ea typeface="Noto Sans SC"/>
                <a:cs typeface="Noto Sans SC"/>
                <a:sym typeface="Noto Sans SC"/>
              </a:rPr>
            </a:br>
            <a:r>
              <a:rPr lang="en-US" sz="1600" b="0" i="0" u="none" strike="noStrike" dirty="0">
                <a:solidFill>
                  <a:srgbClr val="505050"/>
                </a:solidFill>
                <a:latin typeface="Noto Sans SC"/>
                <a:ea typeface="Noto Sans SC"/>
                <a:cs typeface="Noto Sans SC"/>
                <a:sym typeface="Noto Sans SC"/>
              </a:rPr>
              <a:t>• 识别 normal(正常) 或 fallen(跌倒) 状态</a:t>
            </a:r>
            <a:br>
              <a:rPr lang="en-US" sz="1600" b="0" i="0" u="none" strike="noStrike" dirty="0">
                <a:solidFill>
                  <a:srgbClr val="505050"/>
                </a:solidFill>
                <a:latin typeface="Noto Sans SC"/>
                <a:ea typeface="Noto Sans SC"/>
                <a:cs typeface="Noto Sans SC"/>
                <a:sym typeface="Noto Sans SC"/>
              </a:rPr>
            </a:br>
            <a:r>
              <a:rPr lang="en-US" sz="1600" b="0" i="0" u="none" strike="noStrike" dirty="0">
                <a:solidFill>
                  <a:srgbClr val="505050"/>
                </a:solidFill>
                <a:latin typeface="Noto Sans SC"/>
                <a:ea typeface="Noto Sans SC"/>
                <a:cs typeface="Noto Sans SC"/>
                <a:sym typeface="Noto Sans SC"/>
              </a:rPr>
              <a:t>• 输出检测结果的可信度评分，过滤低</a:t>
            </a:r>
            <a:r>
              <a:rPr lang="zh-CN" altLang="en-US" sz="1600" b="0" i="0" u="none" strike="noStrike" dirty="0">
                <a:solidFill>
                  <a:srgbClr val="505050"/>
                </a:solidFill>
                <a:latin typeface="Noto Sans SC"/>
                <a:ea typeface="Noto Sans SC"/>
                <a:cs typeface="Noto Sans SC"/>
                <a:sym typeface="Noto Sans SC"/>
              </a:rPr>
              <a:t>置信度结果</a:t>
            </a:r>
            <a:endParaRPr lang="en-US" sz="1600" dirty="0"/>
          </a:p>
        </p:txBody>
      </p:sp>
      <p:sp>
        <p:nvSpPr>
          <p:cNvPr id="12" name="AutoShape 12"/>
          <p:cNvSpPr/>
          <p:nvPr/>
        </p:nvSpPr>
        <p:spPr>
          <a:xfrm>
            <a:off x="762000" y="3302000"/>
            <a:ext cx="5207000" cy="1651000"/>
          </a:xfrm>
          <a:prstGeom prst="roundRect">
            <a:avLst>
              <a:gd name="adj" fmla="val 7692"/>
            </a:avLst>
          </a:prstGeom>
          <a:solidFill>
            <a:srgbClr val="FFFFFF">
              <a:alpha val="90000"/>
            </a:srgbClr>
          </a:solidFill>
          <a:ln w="12700" cap="flat" cmpd="sng">
            <a:solidFill>
              <a:srgbClr val="DCDCDC">
                <a:alpha val="100000"/>
              </a:srgbClr>
            </a:solidFill>
            <a:prstDash val="solid"/>
            <a:round/>
          </a:ln>
          <a:effectLst>
            <a:outerShdw blurRad="190500" dist="50800" dir="5400000" algn="tl" rotWithShape="0">
              <a:srgbClr val="000000">
                <a:alpha val="10000"/>
              </a:srgbClr>
            </a:outerShdw>
          </a:effectLst>
        </p:spPr>
        <p:txBody>
          <a:bodyPr vert="horz" wrap="square" lIns="63500" tIns="63500" rIns="63500" bIns="63500" rtlCol="0" anchor="ctr"/>
          <a:lstStyle/>
          <a:p>
            <a:pPr algn="ctr">
              <a:defRPr/>
            </a:pPr>
            <a:endParaRPr dirty="0"/>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556000"/>
            <a:ext cx="457200" cy="457200"/>
          </a:xfrm>
          <a:prstGeom prst="rect">
            <a:avLst/>
          </a:prstGeom>
        </p:spPr>
      </p:pic>
      <p:sp>
        <p:nvSpPr>
          <p:cNvPr id="14" name="AutoShape 14"/>
          <p:cNvSpPr/>
          <p:nvPr/>
        </p:nvSpPr>
        <p:spPr>
          <a:xfrm>
            <a:off x="1651000" y="35560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标准算法处理流程</a:t>
            </a:r>
            <a:endParaRPr lang="en-US" sz="1100" dirty="0"/>
          </a:p>
        </p:txBody>
      </p:sp>
      <p:sp>
        <p:nvSpPr>
          <p:cNvPr id="15" name="AutoShape 15"/>
          <p:cNvSpPr/>
          <p:nvPr/>
        </p:nvSpPr>
        <p:spPr>
          <a:xfrm>
            <a:off x="1651000" y="4001186"/>
            <a:ext cx="4191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dirty="0">
                <a:solidFill>
                  <a:srgbClr val="505050"/>
                </a:solidFill>
                <a:latin typeface="Noto Sans SC"/>
                <a:ea typeface="Noto Sans SC"/>
                <a:cs typeface="Noto Sans SC"/>
                <a:sym typeface="Noto Sans SC"/>
              </a:rPr>
              <a:t>原始视频帧输入 → 图像预处理(缩放/归一化) → YOLO26 模型推理 → NMS 非极大值抑制过滤 → 最终检测结果可视化输出</a:t>
            </a:r>
            <a:r>
              <a:rPr lang="en-US" sz="1200" b="0" i="0" u="none" strike="noStrike" dirty="0">
                <a:solidFill>
                  <a:srgbClr val="505050"/>
                </a:solidFill>
                <a:latin typeface="Noto Sans SC"/>
                <a:ea typeface="Noto Sans SC"/>
                <a:cs typeface="Noto Sans SC"/>
                <a:sym typeface="Noto Sans SC"/>
              </a:rPr>
              <a:t>。</a:t>
            </a:r>
            <a:endParaRPr lang="en-US" sz="1100" dirty="0"/>
          </a:p>
        </p:txBody>
      </p:sp>
      <p:sp>
        <p:nvSpPr>
          <p:cNvPr id="16" name="AutoShape 16"/>
          <p:cNvSpPr/>
          <p:nvPr/>
        </p:nvSpPr>
        <p:spPr>
          <a:xfrm>
            <a:off x="6223000" y="3302000"/>
            <a:ext cx="5207000" cy="1651000"/>
          </a:xfrm>
          <a:prstGeom prst="roundRect">
            <a:avLst>
              <a:gd name="adj" fmla="val 7692"/>
            </a:avLst>
          </a:prstGeom>
          <a:solidFill>
            <a:srgbClr val="FFFFFF">
              <a:alpha val="90000"/>
            </a:srgbClr>
          </a:solidFill>
          <a:ln w="12700" cap="flat" cmpd="sng">
            <a:solidFill>
              <a:srgbClr val="DCDCDC">
                <a:alpha val="100000"/>
              </a:srgbClr>
            </a:solidFill>
            <a:prstDash val="solid"/>
            <a:round/>
          </a:ln>
          <a:effectLst>
            <a:outerShdw blurRad="190500" dist="50800" dir="5400000" algn="tl" rotWithShape="0">
              <a:srgbClr val="000000">
                <a:alpha val="10000"/>
              </a:srgbClr>
            </a:outerShdw>
          </a:effectLst>
        </p:spPr>
        <p:txBody>
          <a:bodyPr vert="horz" wrap="square" lIns="63500" tIns="63500" rIns="63500" bIns="63500" rtlCol="0" anchor="ctr"/>
          <a:lstStyle/>
          <a:p>
            <a:pPr algn="ctr">
              <a:defRPr/>
            </a:pPr>
            <a:endParaRPr dirty="0"/>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556000"/>
            <a:ext cx="457200" cy="457200"/>
          </a:xfrm>
          <a:prstGeom prst="rect">
            <a:avLst/>
          </a:prstGeom>
        </p:spPr>
      </p:pic>
      <p:sp>
        <p:nvSpPr>
          <p:cNvPr id="18" name="AutoShape 18"/>
          <p:cNvSpPr/>
          <p:nvPr/>
        </p:nvSpPr>
        <p:spPr>
          <a:xfrm>
            <a:off x="7112000" y="3556000"/>
            <a:ext cx="381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4CAF50"/>
                </a:solidFill>
                <a:latin typeface="Noto Sans SC"/>
                <a:ea typeface="Noto Sans SC"/>
                <a:cs typeface="Noto Sans SC"/>
                <a:sym typeface="Noto Sans SC"/>
              </a:rPr>
              <a:t>Media Pipe</a:t>
            </a:r>
            <a:endParaRPr lang="en-US" sz="1100" dirty="0"/>
          </a:p>
        </p:txBody>
      </p:sp>
      <p:sp>
        <p:nvSpPr>
          <p:cNvPr id="19" name="AutoShape 19"/>
          <p:cNvSpPr/>
          <p:nvPr/>
        </p:nvSpPr>
        <p:spPr>
          <a:xfrm>
            <a:off x="6858000" y="3911600"/>
            <a:ext cx="4572000" cy="889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08000"/>
              </a:lnSpc>
              <a:defRPr/>
            </a:pPr>
            <a:r>
              <a:rPr lang="en-US" altLang="zh-CN" sz="1600" dirty="0">
                <a:solidFill>
                  <a:srgbClr val="505050"/>
                </a:solidFill>
                <a:latin typeface="Noto Sans SC"/>
                <a:ea typeface="Noto Sans SC"/>
                <a:sym typeface="Noto Sans SC"/>
              </a:rPr>
              <a:t>·ONNX</a:t>
            </a:r>
            <a:r>
              <a:rPr lang="zh-CN" altLang="en-US" sz="1600" dirty="0">
                <a:solidFill>
                  <a:srgbClr val="505050"/>
                </a:solidFill>
                <a:latin typeface="Noto Sans SC"/>
                <a:ea typeface="Noto Sans SC"/>
                <a:sym typeface="Noto Sans SC"/>
              </a:rPr>
              <a:t>统一格式，无缝适配家用主机与边缘设备</a:t>
            </a:r>
            <a:endParaRPr lang="en-US" altLang="zh-CN" sz="1600" dirty="0">
              <a:solidFill>
                <a:srgbClr val="505050"/>
              </a:solidFill>
              <a:latin typeface="Noto Sans SC"/>
              <a:ea typeface="Noto Sans SC"/>
              <a:sym typeface="Noto Sans SC"/>
            </a:endParaRPr>
          </a:p>
          <a:p>
            <a:pPr>
              <a:lnSpc>
                <a:spcPct val="108000"/>
              </a:lnSpc>
              <a:defRPr/>
            </a:pPr>
            <a:r>
              <a:rPr lang="en-US" altLang="zh-CN" sz="1600" dirty="0">
                <a:solidFill>
                  <a:srgbClr val="505050"/>
                </a:solidFill>
                <a:latin typeface="Noto Sans SC"/>
                <a:ea typeface="Noto Sans SC"/>
              </a:rPr>
              <a:t>·</a:t>
            </a:r>
            <a:r>
              <a:rPr lang="zh-CN" altLang="en-US" sz="1600" dirty="0">
                <a:solidFill>
                  <a:srgbClr val="505050"/>
                </a:solidFill>
                <a:latin typeface="Noto Sans SC"/>
                <a:ea typeface="Noto Sans SC"/>
              </a:rPr>
              <a:t>检测模型仅</a:t>
            </a:r>
            <a:r>
              <a:rPr lang="en-US" altLang="zh-CN" sz="1600" dirty="0">
                <a:solidFill>
                  <a:srgbClr val="505050"/>
                </a:solidFill>
                <a:latin typeface="Noto Sans SC"/>
                <a:ea typeface="Noto Sans SC"/>
              </a:rPr>
              <a:t>37MB</a:t>
            </a:r>
            <a:r>
              <a:rPr lang="zh-CN" altLang="en-US" sz="1600" dirty="0">
                <a:solidFill>
                  <a:srgbClr val="505050"/>
                </a:solidFill>
                <a:latin typeface="Noto Sans SC"/>
                <a:ea typeface="Noto Sans SC"/>
              </a:rPr>
              <a:t>，低计算成本，易于部署</a:t>
            </a:r>
            <a:endParaRPr lang="en-US" altLang="zh-CN" sz="1600" dirty="0">
              <a:solidFill>
                <a:srgbClr val="505050"/>
              </a:solidFill>
              <a:latin typeface="Noto Sans SC"/>
              <a:ea typeface="Noto Sans SC"/>
            </a:endParaRPr>
          </a:p>
          <a:p>
            <a:pPr>
              <a:lnSpc>
                <a:spcPct val="108000"/>
              </a:lnSpc>
              <a:defRPr/>
            </a:pPr>
            <a:r>
              <a:rPr lang="en-US" altLang="zh-CN" sz="1600" dirty="0">
                <a:solidFill>
                  <a:srgbClr val="505050"/>
                </a:solidFill>
                <a:latin typeface="Noto Sans SC"/>
                <a:ea typeface="Noto Sans SC"/>
              </a:rPr>
              <a:t>·</a:t>
            </a:r>
            <a:r>
              <a:rPr lang="zh-CN" altLang="en-US" sz="1600" dirty="0">
                <a:solidFill>
                  <a:srgbClr val="505050"/>
                </a:solidFill>
                <a:latin typeface="Noto Sans SC"/>
                <a:ea typeface="Noto Sans SC"/>
              </a:rPr>
              <a:t>连续帧确认状态，有效过滤误报结果</a:t>
            </a:r>
            <a:endParaRPr lang="en-US" sz="1600" dirty="0">
              <a:solidFill>
                <a:srgbClr val="505050"/>
              </a:solidFill>
              <a:latin typeface="Noto Sans SC"/>
              <a:ea typeface="Noto Sans SC"/>
            </a:endParaRPr>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a:lnSpc>
                <a:spcPct val="125000"/>
              </a:lnSpc>
              <a:defRPr/>
            </a:pPr>
            <a:r>
              <a:rPr lang="en-US" sz="3600" b="1" i="0" u="none" strike="noStrike" dirty="0">
                <a:solidFill>
                  <a:srgbClr val="333333"/>
                </a:solidFill>
                <a:latin typeface="Noto Sans SC"/>
                <a:ea typeface="Noto Sans SC"/>
                <a:cs typeface="Noto Sans SC"/>
                <a:sym typeface="Noto Sans SC"/>
              </a:rPr>
              <a:t>4)</a:t>
            </a:r>
            <a:r>
              <a:rPr lang="zh-CN" altLang="en-US" sz="3600" b="1" dirty="0">
                <a:solidFill>
                  <a:srgbClr val="333333"/>
                </a:solidFill>
                <a:latin typeface="Noto Sans SC"/>
                <a:ea typeface="Noto Sans SC"/>
                <a:cs typeface="Noto Sans SC"/>
                <a:sym typeface="Noto Sans SC"/>
              </a:rPr>
              <a:t>异常行为检测</a:t>
            </a:r>
            <a:r>
              <a:rPr lang="en-US" altLang="zh-CN" sz="3600" b="1" dirty="0">
                <a:solidFill>
                  <a:srgbClr val="333333"/>
                </a:solidFill>
                <a:latin typeface="Noto Sans SC"/>
                <a:ea typeface="Noto Sans SC"/>
                <a:cs typeface="Noto Sans SC"/>
                <a:sym typeface="Noto Sans SC"/>
              </a:rPr>
              <a:t>-</a:t>
            </a:r>
            <a:r>
              <a:rPr lang="zh-CN" altLang="en-US" sz="3600" b="1" dirty="0">
                <a:solidFill>
                  <a:srgbClr val="333333"/>
                </a:solidFill>
                <a:latin typeface="Noto Sans SC"/>
                <a:ea typeface="Noto Sans SC"/>
                <a:cs typeface="Noto Sans SC"/>
                <a:sym typeface="Noto Sans SC"/>
              </a:rPr>
              <a:t>数据集构建</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2" name="AutoShape 4"/>
          <p:cNvSpPr/>
          <p:nvPr/>
        </p:nvSpPr>
        <p:spPr>
          <a:xfrm>
            <a:off x="762000" y="1397000"/>
            <a:ext cx="5202195" cy="4953000"/>
          </a:xfrm>
          <a:prstGeom prst="roundRect">
            <a:avLst>
              <a:gd name="adj" fmla="val 9090"/>
            </a:avLst>
          </a:prstGeom>
          <a:solidFill>
            <a:srgbClr val="FFFFFF">
              <a:alpha val="90000"/>
            </a:srgbClr>
          </a:solidFill>
          <a:ln w="12700" cap="flat" cmpd="sng">
            <a:solidFill>
              <a:srgbClr val="4CAF50">
                <a:alpha val="30000"/>
              </a:srgbClr>
            </a:solid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endParaRPr dirty="0"/>
          </a:p>
        </p:txBody>
      </p:sp>
      <p:sp>
        <p:nvSpPr>
          <p:cNvPr id="34" name="AutoShape 6"/>
          <p:cNvSpPr/>
          <p:nvPr/>
        </p:nvSpPr>
        <p:spPr>
          <a:xfrm>
            <a:off x="1524000" y="1549400"/>
            <a:ext cx="4064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zh-CN" altLang="en-US" sz="1800" b="1" dirty="0">
                <a:solidFill>
                  <a:srgbClr val="4CAF50"/>
                </a:solidFill>
                <a:latin typeface="Noto Sans SC"/>
                <a:ea typeface="Noto Sans SC"/>
                <a:sym typeface="Noto Sans SC"/>
              </a:rPr>
              <a:t>数据集来源</a:t>
            </a:r>
            <a:endParaRPr lang="en-US" sz="1100" dirty="0"/>
          </a:p>
        </p:txBody>
      </p:sp>
      <p:sp>
        <p:nvSpPr>
          <p:cNvPr id="35" name="AutoShape 7"/>
          <p:cNvSpPr/>
          <p:nvPr/>
        </p:nvSpPr>
        <p:spPr>
          <a:xfrm>
            <a:off x="943232" y="3987458"/>
            <a:ext cx="4898768" cy="762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08000"/>
              </a:lnSpc>
              <a:defRPr/>
            </a:pPr>
            <a:r>
              <a:rPr lang="zh-CN" altLang="zh-CN" sz="1600" dirty="0">
                <a:solidFill>
                  <a:srgbClr val="505050"/>
                </a:solidFill>
                <a:latin typeface="Noto Sans SC"/>
                <a:ea typeface="Noto Sans SC"/>
              </a:rPr>
              <a:t>系统</a:t>
            </a:r>
            <a:r>
              <a:rPr lang="zh-CN" altLang="en-US" sz="1600" dirty="0">
                <a:solidFill>
                  <a:srgbClr val="505050"/>
                </a:solidFill>
                <a:latin typeface="Noto Sans SC"/>
                <a:ea typeface="Noto Sans SC"/>
              </a:rPr>
              <a:t>主要</a:t>
            </a:r>
            <a:r>
              <a:rPr lang="zh-CN" altLang="zh-CN" sz="1600" dirty="0">
                <a:solidFill>
                  <a:srgbClr val="505050"/>
                </a:solidFill>
                <a:latin typeface="Noto Sans SC"/>
                <a:ea typeface="Noto Sans SC"/>
              </a:rPr>
              <a:t>采用</a:t>
            </a:r>
            <a:r>
              <a:rPr lang="en-US" altLang="zh-CN" sz="1600" dirty="0">
                <a:solidFill>
                  <a:srgbClr val="505050"/>
                </a:solidFill>
                <a:latin typeface="Noto Sans SC"/>
                <a:ea typeface="Noto Sans SC"/>
              </a:rPr>
              <a:t>LE2I</a:t>
            </a:r>
            <a:r>
              <a:rPr lang="zh-CN" altLang="zh-CN" sz="1600" dirty="0">
                <a:solidFill>
                  <a:srgbClr val="505050"/>
                </a:solidFill>
                <a:latin typeface="Noto Sans SC"/>
                <a:ea typeface="Noto Sans SC"/>
              </a:rPr>
              <a:t>公开跌倒检测数据集作为训练数据来源。该数据集包含多个物理场景下的跌倒视频，涵盖不同摄像头视角、光照条件和跌倒姿态。</a:t>
            </a:r>
            <a:endParaRPr lang="en-US" altLang="zh-CN" sz="1600" dirty="0">
              <a:solidFill>
                <a:srgbClr val="505050"/>
              </a:solidFill>
              <a:latin typeface="Noto Sans SC"/>
              <a:ea typeface="Noto Sans SC"/>
            </a:endParaRPr>
          </a:p>
          <a:p>
            <a:pPr>
              <a:lnSpc>
                <a:spcPct val="108000"/>
              </a:lnSpc>
              <a:defRPr/>
            </a:pPr>
            <a:endParaRPr lang="en-US" altLang="zh-CN" sz="1600" dirty="0">
              <a:solidFill>
                <a:srgbClr val="505050"/>
              </a:solidFill>
              <a:latin typeface="Noto Sans SC"/>
              <a:ea typeface="Noto Sans SC"/>
            </a:endParaRPr>
          </a:p>
          <a:p>
            <a:pPr>
              <a:lnSpc>
                <a:spcPct val="108000"/>
              </a:lnSpc>
              <a:defRPr/>
            </a:pPr>
            <a:r>
              <a:rPr lang="zh-CN" altLang="zh-CN" sz="1600" dirty="0">
                <a:solidFill>
                  <a:srgbClr val="505050"/>
                </a:solidFill>
                <a:latin typeface="Noto Sans SC"/>
                <a:ea typeface="Noto Sans SC"/>
              </a:rPr>
              <a:t>原始标注以帧号为粒度，通过</a:t>
            </a:r>
            <a:r>
              <a:rPr lang="en-US" altLang="zh-CN" sz="1600" dirty="0" err="1">
                <a:solidFill>
                  <a:srgbClr val="505050"/>
                </a:solidFill>
                <a:latin typeface="Noto Sans SC"/>
                <a:ea typeface="Noto Sans SC"/>
              </a:rPr>
              <a:t>fall_start</a:t>
            </a:r>
            <a:r>
              <a:rPr lang="zh-CN" altLang="zh-CN" sz="1600" dirty="0">
                <a:solidFill>
                  <a:srgbClr val="505050"/>
                </a:solidFill>
                <a:latin typeface="Noto Sans SC"/>
                <a:ea typeface="Noto Sans SC"/>
              </a:rPr>
              <a:t>和</a:t>
            </a:r>
            <a:r>
              <a:rPr lang="en-US" altLang="zh-CN" sz="1600" dirty="0" err="1">
                <a:solidFill>
                  <a:srgbClr val="505050"/>
                </a:solidFill>
                <a:latin typeface="Noto Sans SC"/>
                <a:ea typeface="Noto Sans SC"/>
              </a:rPr>
              <a:t>fall_end</a:t>
            </a:r>
            <a:r>
              <a:rPr lang="zh-CN" altLang="zh-CN" sz="1600" dirty="0">
                <a:solidFill>
                  <a:srgbClr val="505050"/>
                </a:solidFill>
                <a:latin typeface="Noto Sans SC"/>
                <a:ea typeface="Noto Sans SC"/>
              </a:rPr>
              <a:t>标记每段视频中跌倒事件的起止时间</a:t>
            </a:r>
            <a:r>
              <a:rPr lang="zh-CN" altLang="en-US" sz="1600" dirty="0">
                <a:solidFill>
                  <a:srgbClr val="505050"/>
                </a:solidFill>
                <a:latin typeface="Noto Sans SC"/>
                <a:ea typeface="Noto Sans SC"/>
              </a:rPr>
              <a:t>，即右下图中的前两行。故此可粗略划分为</a:t>
            </a:r>
            <a:r>
              <a:rPr lang="en-US" altLang="zh-CN" sz="1600" dirty="0">
                <a:solidFill>
                  <a:srgbClr val="505050"/>
                </a:solidFill>
                <a:latin typeface="Noto Sans SC"/>
                <a:ea typeface="Noto Sans SC"/>
              </a:rPr>
              <a:t>Normal</a:t>
            </a:r>
            <a:r>
              <a:rPr lang="zh-CN" altLang="en-US" sz="1600" dirty="0">
                <a:solidFill>
                  <a:srgbClr val="505050"/>
                </a:solidFill>
                <a:latin typeface="Noto Sans SC"/>
                <a:ea typeface="Noto Sans SC"/>
              </a:rPr>
              <a:t>、</a:t>
            </a:r>
            <a:r>
              <a:rPr lang="en-US" altLang="zh-CN" sz="1600" dirty="0">
                <a:solidFill>
                  <a:srgbClr val="505050"/>
                </a:solidFill>
                <a:latin typeface="Noto Sans SC"/>
                <a:ea typeface="Noto Sans SC"/>
              </a:rPr>
              <a:t>Falling</a:t>
            </a:r>
            <a:r>
              <a:rPr lang="zh-CN" altLang="en-US" sz="1600" dirty="0">
                <a:solidFill>
                  <a:srgbClr val="505050"/>
                </a:solidFill>
                <a:latin typeface="Noto Sans SC"/>
                <a:ea typeface="Noto Sans SC"/>
              </a:rPr>
              <a:t>、</a:t>
            </a:r>
            <a:r>
              <a:rPr lang="en-US" altLang="zh-CN" sz="1600" dirty="0">
                <a:solidFill>
                  <a:srgbClr val="505050"/>
                </a:solidFill>
                <a:latin typeface="Noto Sans SC"/>
                <a:ea typeface="Noto Sans SC"/>
              </a:rPr>
              <a:t>Fallen</a:t>
            </a:r>
            <a:r>
              <a:rPr lang="zh-CN" altLang="en-US" sz="1600" dirty="0">
                <a:solidFill>
                  <a:srgbClr val="505050"/>
                </a:solidFill>
                <a:latin typeface="Noto Sans SC"/>
                <a:ea typeface="Noto Sans SC"/>
              </a:rPr>
              <a:t>三种状态。</a:t>
            </a:r>
            <a:endParaRPr lang="en-US" altLang="zh-CN" sz="1600" dirty="0">
              <a:solidFill>
                <a:srgbClr val="505050"/>
              </a:solidFill>
              <a:latin typeface="Noto Sans SC"/>
              <a:ea typeface="Noto Sans SC"/>
            </a:endParaRPr>
          </a:p>
          <a:p>
            <a:pPr>
              <a:lnSpc>
                <a:spcPct val="108000"/>
              </a:lnSpc>
              <a:defRPr/>
            </a:pPr>
            <a:endParaRPr lang="en-US" altLang="zh-CN" sz="1600" dirty="0">
              <a:solidFill>
                <a:srgbClr val="505050"/>
              </a:solidFill>
              <a:latin typeface="Noto Sans SC"/>
              <a:ea typeface="Noto Sans SC"/>
            </a:endParaRPr>
          </a:p>
          <a:p>
            <a:pPr>
              <a:lnSpc>
                <a:spcPct val="108000"/>
              </a:lnSpc>
              <a:defRPr/>
            </a:pPr>
            <a:r>
              <a:rPr lang="zh-CN" altLang="en-US" sz="1600" dirty="0">
                <a:solidFill>
                  <a:srgbClr val="505050"/>
                </a:solidFill>
                <a:latin typeface="Noto Sans SC"/>
                <a:ea typeface="Noto Sans SC"/>
              </a:rPr>
              <a:t>然通过人工审查标签发现，其对于</a:t>
            </a:r>
            <a:r>
              <a:rPr lang="en-US" altLang="zh-CN" sz="1600" dirty="0">
                <a:solidFill>
                  <a:srgbClr val="505050"/>
                </a:solidFill>
                <a:latin typeface="Noto Sans SC"/>
                <a:ea typeface="Noto Sans SC"/>
              </a:rPr>
              <a:t>Falling</a:t>
            </a:r>
            <a:r>
              <a:rPr lang="zh-CN" altLang="en-US" sz="1600" dirty="0">
                <a:solidFill>
                  <a:srgbClr val="505050"/>
                </a:solidFill>
                <a:latin typeface="Noto Sans SC"/>
                <a:ea typeface="Noto Sans SC"/>
              </a:rPr>
              <a:t>状态的划分极其不精确，经常出现已经进入</a:t>
            </a:r>
            <a:r>
              <a:rPr lang="en-US" altLang="zh-CN" sz="1600" dirty="0">
                <a:solidFill>
                  <a:srgbClr val="505050"/>
                </a:solidFill>
                <a:latin typeface="Noto Sans SC"/>
                <a:ea typeface="Noto Sans SC"/>
              </a:rPr>
              <a:t>Falling</a:t>
            </a:r>
            <a:r>
              <a:rPr lang="zh-CN" altLang="en-US" sz="1600" dirty="0">
                <a:solidFill>
                  <a:srgbClr val="505050"/>
                </a:solidFill>
                <a:latin typeface="Noto Sans SC"/>
                <a:ea typeface="Noto Sans SC"/>
              </a:rPr>
              <a:t>状态却还标为</a:t>
            </a:r>
            <a:r>
              <a:rPr lang="en-US" altLang="zh-CN" sz="1600" dirty="0">
                <a:solidFill>
                  <a:srgbClr val="505050"/>
                </a:solidFill>
                <a:latin typeface="Noto Sans SC"/>
                <a:ea typeface="Noto Sans SC"/>
              </a:rPr>
              <a:t>Normal</a:t>
            </a:r>
            <a:r>
              <a:rPr lang="zh-CN" altLang="en-US" sz="1600" dirty="0">
                <a:solidFill>
                  <a:srgbClr val="505050"/>
                </a:solidFill>
                <a:latin typeface="Noto Sans SC"/>
                <a:ea typeface="Noto Sans SC"/>
              </a:rPr>
              <a:t>，或已经是</a:t>
            </a:r>
            <a:r>
              <a:rPr lang="en-US" altLang="zh-CN" sz="1600" dirty="0">
                <a:solidFill>
                  <a:srgbClr val="505050"/>
                </a:solidFill>
                <a:latin typeface="Noto Sans SC"/>
                <a:ea typeface="Noto Sans SC"/>
              </a:rPr>
              <a:t>Fallen</a:t>
            </a:r>
            <a:r>
              <a:rPr lang="zh-CN" altLang="en-US" sz="1600" dirty="0">
                <a:solidFill>
                  <a:srgbClr val="505050"/>
                </a:solidFill>
                <a:latin typeface="Noto Sans SC"/>
                <a:ea typeface="Noto Sans SC"/>
              </a:rPr>
              <a:t>态却仍标注为</a:t>
            </a:r>
            <a:r>
              <a:rPr lang="en-US" altLang="zh-CN" sz="1600" dirty="0">
                <a:solidFill>
                  <a:srgbClr val="505050"/>
                </a:solidFill>
                <a:latin typeface="Noto Sans SC"/>
                <a:ea typeface="Noto Sans SC"/>
              </a:rPr>
              <a:t>Falling</a:t>
            </a:r>
            <a:r>
              <a:rPr lang="zh-CN" altLang="en-US" sz="1600" dirty="0">
                <a:solidFill>
                  <a:srgbClr val="505050"/>
                </a:solidFill>
                <a:latin typeface="Noto Sans SC"/>
                <a:ea typeface="Noto Sans SC"/>
              </a:rPr>
              <a:t>，因此推翻官方给出的标注示例，</a:t>
            </a:r>
            <a:r>
              <a:rPr lang="zh-CN" altLang="zh-CN" sz="1600" dirty="0">
                <a:solidFill>
                  <a:srgbClr val="505050"/>
                </a:solidFill>
                <a:latin typeface="Noto Sans SC"/>
                <a:ea typeface="Noto Sans SC"/>
              </a:rPr>
              <a:t>提出了一种对抗长尾标注误差的动态切割策略</a:t>
            </a:r>
            <a:r>
              <a:rPr lang="zh-CN" altLang="en-US" sz="1600" dirty="0">
                <a:solidFill>
                  <a:srgbClr val="505050"/>
                </a:solidFill>
                <a:latin typeface="Noto Sans SC"/>
                <a:ea typeface="Noto Sans SC"/>
              </a:rPr>
              <a:t>，</a:t>
            </a:r>
            <a:r>
              <a:rPr lang="zh-CN" altLang="zh-CN" sz="1600" dirty="0">
                <a:solidFill>
                  <a:srgbClr val="505050"/>
                </a:solidFill>
                <a:latin typeface="Noto Sans SC"/>
                <a:ea typeface="Noto Sans SC"/>
              </a:rPr>
              <a:t>将原区间前</a:t>
            </a:r>
            <a:r>
              <a:rPr lang="en-US" altLang="zh-CN" sz="1600" dirty="0">
                <a:solidFill>
                  <a:srgbClr val="505050"/>
                </a:solidFill>
                <a:latin typeface="Noto Sans SC"/>
                <a:ea typeface="Noto Sans SC"/>
              </a:rPr>
              <a:t> 10%</a:t>
            </a:r>
            <a:r>
              <a:rPr lang="zh-CN" altLang="zh-CN" sz="1600" dirty="0">
                <a:solidFill>
                  <a:srgbClr val="505050"/>
                </a:solidFill>
                <a:latin typeface="Noto Sans SC"/>
                <a:ea typeface="Noto Sans SC"/>
              </a:rPr>
              <a:t>（身体尚处直立倾斜阶段）强制对齐至</a:t>
            </a:r>
            <a:r>
              <a:rPr lang="en-US" altLang="zh-CN" sz="1600" dirty="0">
                <a:solidFill>
                  <a:srgbClr val="505050"/>
                </a:solidFill>
                <a:latin typeface="Noto Sans SC"/>
                <a:ea typeface="Noto Sans SC"/>
              </a:rPr>
              <a:t> normal</a:t>
            </a:r>
            <a:r>
              <a:rPr lang="zh-CN" altLang="zh-CN" sz="1600" dirty="0">
                <a:solidFill>
                  <a:srgbClr val="505050"/>
                </a:solidFill>
                <a:latin typeface="Noto Sans SC"/>
                <a:ea typeface="Noto Sans SC"/>
              </a:rPr>
              <a:t>，而将后</a:t>
            </a:r>
            <a:r>
              <a:rPr lang="en-US" altLang="zh-CN" sz="1600" dirty="0">
                <a:solidFill>
                  <a:srgbClr val="505050"/>
                </a:solidFill>
                <a:latin typeface="Noto Sans SC"/>
                <a:ea typeface="Noto Sans SC"/>
              </a:rPr>
              <a:t> 90%</a:t>
            </a:r>
            <a:r>
              <a:rPr lang="zh-CN" altLang="zh-CN" sz="1600" dirty="0">
                <a:solidFill>
                  <a:srgbClr val="505050"/>
                </a:solidFill>
                <a:latin typeface="Noto Sans SC"/>
                <a:ea typeface="Noto Sans SC"/>
              </a:rPr>
              <a:t>（质心已剧烈下坠失去姿态平衡）统一归集为</a:t>
            </a:r>
            <a:r>
              <a:rPr lang="en-US" altLang="zh-CN" sz="1600" dirty="0">
                <a:solidFill>
                  <a:srgbClr val="505050"/>
                </a:solidFill>
                <a:latin typeface="Noto Sans SC"/>
                <a:ea typeface="Noto Sans SC"/>
              </a:rPr>
              <a:t> fallen</a:t>
            </a:r>
            <a:r>
              <a:rPr lang="zh-CN" altLang="zh-CN" sz="1600" dirty="0">
                <a:solidFill>
                  <a:srgbClr val="505050"/>
                </a:solidFill>
                <a:latin typeface="Noto Sans SC"/>
                <a:ea typeface="Noto Sans SC"/>
              </a:rPr>
              <a:t>。</a:t>
            </a:r>
            <a:endParaRPr lang="en-US" sz="1600" dirty="0">
              <a:solidFill>
                <a:srgbClr val="505050"/>
              </a:solidFill>
              <a:latin typeface="Noto Sans SC"/>
              <a:ea typeface="Noto Sans SC"/>
            </a:endParaRPr>
          </a:p>
          <a:p>
            <a:pPr>
              <a:lnSpc>
                <a:spcPct val="108000"/>
              </a:lnSpc>
              <a:defRPr/>
            </a:pPr>
            <a:endParaRPr lang="en-US" sz="1600" dirty="0">
              <a:solidFill>
                <a:srgbClr val="505050"/>
              </a:solidFill>
              <a:latin typeface="Noto Sans SC"/>
              <a:ea typeface="Noto Sans SC"/>
            </a:endParaRPr>
          </a:p>
          <a:p>
            <a:pPr>
              <a:lnSpc>
                <a:spcPct val="108000"/>
              </a:lnSpc>
              <a:defRPr/>
            </a:pPr>
            <a:endParaRPr lang="en-US" sz="1600" dirty="0">
              <a:solidFill>
                <a:srgbClr val="505050"/>
              </a:solidFill>
              <a:latin typeface="Noto Sans SC"/>
              <a:ea typeface="Noto Sans SC"/>
            </a:endParaRPr>
          </a:p>
        </p:txBody>
      </p:sp>
      <p:pic>
        <p:nvPicPr>
          <p:cNvPr id="37" name="Picture 9"/>
          <p:cNvPicPr>
            <a:picLocks noChangeAspect="1"/>
          </p:cNvPicPr>
          <p:nvPr/>
        </p:nvPicPr>
        <p:blipFill>
          <a:blip r:embed="rId3"/>
          <a:srcRect/>
          <a:stretch>
            <a:fillRect/>
          </a:stretch>
        </p:blipFill>
        <p:spPr>
          <a:xfrm>
            <a:off x="1016000" y="1553176"/>
            <a:ext cx="406400" cy="406400"/>
          </a:xfrm>
          <a:prstGeom prst="rect">
            <a:avLst/>
          </a:prstGeom>
          <a:noFill/>
          <a:ln w="25400" cap="flat" cmpd="sng">
            <a:noFill/>
            <a:prstDash val="solid"/>
            <a:round/>
          </a:ln>
        </p:spPr>
      </p:pic>
      <p:pic>
        <p:nvPicPr>
          <p:cNvPr id="45" name="图片 44"/>
          <p:cNvPicPr>
            <a:picLocks noChangeAspect="1"/>
          </p:cNvPicPr>
          <p:nvPr/>
        </p:nvPicPr>
        <p:blipFill>
          <a:blip r:embed="rId4"/>
          <a:stretch>
            <a:fillRect/>
          </a:stretch>
        </p:blipFill>
        <p:spPr>
          <a:xfrm>
            <a:off x="7179276" y="1397000"/>
            <a:ext cx="3258066" cy="2443549"/>
          </a:xfrm>
          <a:prstGeom prst="rect">
            <a:avLst/>
          </a:prstGeom>
        </p:spPr>
      </p:pic>
      <p:pic>
        <p:nvPicPr>
          <p:cNvPr id="49" name="图片 48"/>
          <p:cNvPicPr>
            <a:picLocks noChangeAspect="1"/>
          </p:cNvPicPr>
          <p:nvPr/>
        </p:nvPicPr>
        <p:blipFill>
          <a:blip r:embed="rId5"/>
          <a:stretch>
            <a:fillRect/>
          </a:stretch>
        </p:blipFill>
        <p:spPr>
          <a:xfrm>
            <a:off x="6825435" y="4094549"/>
            <a:ext cx="4139128" cy="208883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8"/>
          <p:cNvSpPr/>
          <p:nvPr/>
        </p:nvSpPr>
        <p:spPr>
          <a:xfrm>
            <a:off x="7133967" y="1634525"/>
            <a:ext cx="3683000" cy="4318000"/>
          </a:xfrm>
          <a:prstGeom prst="roundRect">
            <a:avLst>
              <a:gd name="adj" fmla="val 3448"/>
            </a:avLst>
          </a:prstGeom>
          <a:solidFill>
            <a:srgbClr val="FFFFFF">
              <a:alpha val="100000"/>
            </a:srgbClr>
          </a:solidFill>
          <a:ln w="12700" cap="flat" cmpd="sng">
            <a:solidFill>
              <a:srgbClr val="4CAF50">
                <a:alpha val="30000"/>
              </a:srgbClr>
            </a:solid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87967" y="1888525"/>
            <a:ext cx="457200" cy="457200"/>
          </a:xfrm>
          <a:prstGeom prst="rect">
            <a:avLst/>
          </a:prstGeom>
        </p:spPr>
      </p:pic>
      <p:sp>
        <p:nvSpPr>
          <p:cNvPr id="10" name="AutoShape 10"/>
          <p:cNvSpPr/>
          <p:nvPr/>
        </p:nvSpPr>
        <p:spPr>
          <a:xfrm>
            <a:off x="8022967" y="1913925"/>
            <a:ext cx="2794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F2329"/>
                </a:solidFill>
                <a:latin typeface="Noto Sans SC"/>
                <a:ea typeface="Noto Sans SC"/>
                <a:cs typeface="Noto Sans SC"/>
                <a:sym typeface="Noto Sans SC"/>
              </a:rPr>
              <a:t>ONNX</a:t>
            </a:r>
            <a:r>
              <a:rPr lang="zh-CN" altLang="en-US" sz="1800" b="1" i="0" u="none" strike="noStrike" dirty="0">
                <a:solidFill>
                  <a:srgbClr val="1F2329"/>
                </a:solidFill>
                <a:latin typeface="Noto Sans SC"/>
                <a:ea typeface="Noto Sans SC"/>
                <a:cs typeface="Noto Sans SC"/>
                <a:sym typeface="Noto Sans SC"/>
              </a:rPr>
              <a:t>导出</a:t>
            </a:r>
            <a:endParaRPr lang="en-US" sz="1100" dirty="0"/>
          </a:p>
        </p:txBody>
      </p:sp>
      <p:sp>
        <p:nvSpPr>
          <p:cNvPr id="11" name="AutoShape 11"/>
          <p:cNvSpPr/>
          <p:nvPr/>
        </p:nvSpPr>
        <p:spPr>
          <a:xfrm>
            <a:off x="7387967" y="2523525"/>
            <a:ext cx="3175000" cy="292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4CAF50"/>
                </a:solidFill>
                <a:latin typeface="Noto Sans SC"/>
                <a:ea typeface="Noto Sans SC"/>
                <a:cs typeface="Noto Sans SC"/>
                <a:sym typeface="Noto Sans SC"/>
              </a:rPr>
              <a:t>格式：</a:t>
            </a:r>
            <a:r>
              <a:rPr lang="en-US" sz="1600" b="0" i="0" u="none" strike="noStrike" dirty="0">
                <a:solidFill>
                  <a:srgbClr val="555555"/>
                </a:solidFill>
                <a:latin typeface="Noto Sans SC"/>
                <a:ea typeface="Noto Sans SC"/>
                <a:cs typeface="Noto Sans SC"/>
                <a:sym typeface="Noto Sans SC"/>
              </a:rPr>
              <a:t>统一转换为ONNX跨平台模型格式，实现一次导出多端运行</a:t>
            </a:r>
            <a:endParaRPr lang="en-US" sz="1600" dirty="0"/>
          </a:p>
          <a:p>
            <a:pPr indent="0" algn="l">
              <a:lnSpc>
                <a:spcPct val="125000"/>
              </a:lnSpc>
            </a:pPr>
            <a:r>
              <a:rPr lang="en-US" sz="1600" b="1" i="0" u="none" strike="noStrike" dirty="0">
                <a:solidFill>
                  <a:srgbClr val="4CAF50"/>
                </a:solidFill>
                <a:latin typeface="Noto Sans SC"/>
                <a:ea typeface="Noto Sans SC"/>
                <a:cs typeface="Noto Sans SC"/>
                <a:sym typeface="Noto Sans SC"/>
              </a:rPr>
              <a:t>框架：</a:t>
            </a:r>
            <a:r>
              <a:rPr lang="en-US" sz="1600" b="0" i="0" u="none" strike="noStrike" dirty="0">
                <a:solidFill>
                  <a:srgbClr val="555555"/>
                </a:solidFill>
                <a:latin typeface="Noto Sans SC"/>
                <a:ea typeface="Noto Sans SC"/>
                <a:cs typeface="Noto Sans SC"/>
                <a:sym typeface="Noto Sans SC"/>
              </a:rPr>
              <a:t>基于ONNX Runtime部署，支持CUDA加速与CPU通用计算</a:t>
            </a:r>
          </a:p>
          <a:p>
            <a:pPr indent="0" algn="l">
              <a:lnSpc>
                <a:spcPct val="125000"/>
              </a:lnSpc>
            </a:pPr>
            <a:r>
              <a:rPr lang="en-US" sz="1600" b="1" i="0" u="none" strike="noStrike" dirty="0">
                <a:solidFill>
                  <a:srgbClr val="4CAF50"/>
                </a:solidFill>
                <a:latin typeface="Noto Sans SC"/>
                <a:ea typeface="Noto Sans SC"/>
                <a:cs typeface="Noto Sans SC"/>
                <a:sym typeface="Noto Sans SC"/>
              </a:rPr>
              <a:t>优势：</a:t>
            </a:r>
            <a:r>
              <a:rPr lang="en-US" sz="1600" b="0" i="0" u="none" strike="noStrike" dirty="0">
                <a:solidFill>
                  <a:srgbClr val="555555"/>
                </a:solidFill>
                <a:latin typeface="Noto Sans SC"/>
                <a:ea typeface="Noto Sans SC"/>
                <a:cs typeface="Noto Sans SC"/>
                <a:sym typeface="Noto Sans SC"/>
              </a:rPr>
              <a:t>完美适配居家边缘计算设备，大幅降低系统部署门槛</a:t>
            </a:r>
          </a:p>
          <a:p>
            <a:pPr indent="0" algn="l">
              <a:lnSpc>
                <a:spcPct val="125000"/>
              </a:lnSpc>
            </a:pPr>
            <a:r>
              <a:rPr lang="en-US" sz="1600" b="1" i="0" u="none" strike="noStrike" dirty="0">
                <a:solidFill>
                  <a:srgbClr val="4CAF50"/>
                </a:solidFill>
                <a:latin typeface="Noto Sans SC"/>
                <a:ea typeface="Noto Sans SC"/>
                <a:cs typeface="Noto Sans SC"/>
                <a:sym typeface="Noto Sans SC"/>
              </a:rPr>
              <a:t>性能：</a:t>
            </a:r>
            <a:r>
              <a:rPr lang="en-US" sz="1600" b="0" i="0" u="none" strike="noStrike" dirty="0">
                <a:solidFill>
                  <a:srgbClr val="555555"/>
                </a:solidFill>
                <a:latin typeface="Noto Sans SC"/>
                <a:ea typeface="Noto Sans SC"/>
                <a:cs typeface="Noto Sans SC"/>
                <a:sym typeface="Noto Sans SC"/>
              </a:rPr>
              <a:t>在低功耗设备上也能稳定支持约25 FPS的实时检测</a:t>
            </a:r>
          </a:p>
        </p:txBody>
      </p:sp>
      <p:sp>
        <p:nvSpPr>
          <p:cNvPr id="16"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a:lnSpc>
                <a:spcPct val="125000"/>
              </a:lnSpc>
              <a:defRPr/>
            </a:pPr>
            <a:r>
              <a:rPr lang="en-US" sz="3600" b="1" i="0" u="none" strike="noStrike" dirty="0">
                <a:solidFill>
                  <a:srgbClr val="333333"/>
                </a:solidFill>
                <a:latin typeface="Noto Sans SC"/>
                <a:ea typeface="Noto Sans SC"/>
                <a:cs typeface="Noto Sans SC"/>
                <a:sym typeface="Noto Sans SC"/>
              </a:rPr>
              <a:t>4)</a:t>
            </a:r>
            <a:r>
              <a:rPr lang="zh-CN" altLang="en-US" sz="3600" b="1" dirty="0">
                <a:solidFill>
                  <a:srgbClr val="333333"/>
                </a:solidFill>
                <a:latin typeface="Noto Sans SC"/>
                <a:ea typeface="Noto Sans SC"/>
                <a:cs typeface="Noto Sans SC"/>
                <a:sym typeface="Noto Sans SC"/>
              </a:rPr>
              <a:t>异常行为检测</a:t>
            </a:r>
            <a:r>
              <a:rPr lang="en-US" altLang="zh-CN" sz="3600" b="1" dirty="0">
                <a:solidFill>
                  <a:srgbClr val="333333"/>
                </a:solidFill>
                <a:latin typeface="Noto Sans SC"/>
                <a:ea typeface="Noto Sans SC"/>
                <a:cs typeface="Noto Sans SC"/>
                <a:sym typeface="Noto Sans SC"/>
              </a:rPr>
              <a:t>-</a:t>
            </a:r>
            <a:r>
              <a:rPr lang="zh-CN" altLang="en-US" sz="3600" b="1" dirty="0">
                <a:solidFill>
                  <a:srgbClr val="333333"/>
                </a:solidFill>
                <a:latin typeface="Noto Sans SC"/>
                <a:ea typeface="Noto Sans SC"/>
                <a:cs typeface="Noto Sans SC"/>
                <a:sym typeface="Noto Sans SC"/>
              </a:rPr>
              <a:t>模型训练导出</a:t>
            </a:r>
            <a:endParaRPr lang="en-US" sz="1100" dirty="0"/>
          </a:p>
        </p:txBody>
      </p:sp>
      <p:pic>
        <p:nvPicPr>
          <p:cNvPr id="22" name="图片 21"/>
          <p:cNvPicPr>
            <a:picLocks noChangeAspect="1"/>
          </p:cNvPicPr>
          <p:nvPr/>
        </p:nvPicPr>
        <p:blipFill>
          <a:blip r:embed="rId4"/>
          <a:stretch>
            <a:fillRect/>
          </a:stretch>
        </p:blipFill>
        <p:spPr>
          <a:xfrm>
            <a:off x="1053756" y="4313560"/>
            <a:ext cx="4737445" cy="2432577"/>
          </a:xfrm>
          <a:prstGeom prst="rect">
            <a:avLst/>
          </a:prstGeom>
        </p:spPr>
      </p:pic>
      <p:pic>
        <p:nvPicPr>
          <p:cNvPr id="24" name="图片 23"/>
          <p:cNvPicPr>
            <a:picLocks noChangeAspect="1"/>
          </p:cNvPicPr>
          <p:nvPr/>
        </p:nvPicPr>
        <p:blipFill>
          <a:blip r:embed="rId5"/>
          <a:stretch>
            <a:fillRect/>
          </a:stretch>
        </p:blipFill>
        <p:spPr>
          <a:xfrm>
            <a:off x="1053756" y="1226688"/>
            <a:ext cx="4737445" cy="3118080"/>
          </a:xfrm>
          <a:prstGeom prst="rect">
            <a:avLst/>
          </a:prstGeom>
        </p:spPr>
      </p:pic>
      <p:sp>
        <p:nvSpPr>
          <p:cNvPr id="25"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a:lnSpc>
                <a:spcPct val="125000"/>
              </a:lnSpc>
              <a:defRPr/>
            </a:pPr>
            <a:r>
              <a:rPr lang="en-US" sz="3600" b="1" i="0" u="none" strike="noStrike" dirty="0">
                <a:solidFill>
                  <a:srgbClr val="333333"/>
                </a:solidFill>
                <a:latin typeface="Noto Sans SC"/>
                <a:ea typeface="Noto Sans SC"/>
                <a:cs typeface="Noto Sans SC"/>
                <a:sym typeface="Noto Sans SC"/>
              </a:rPr>
              <a:t>4)</a:t>
            </a:r>
            <a:r>
              <a:rPr lang="zh-CN" altLang="en-US" sz="3600" b="1" dirty="0">
                <a:solidFill>
                  <a:srgbClr val="333333"/>
                </a:solidFill>
                <a:latin typeface="Noto Sans SC"/>
                <a:ea typeface="Noto Sans SC"/>
                <a:cs typeface="Noto Sans SC"/>
                <a:sym typeface="Noto Sans SC"/>
              </a:rPr>
              <a:t>异常行为检测</a:t>
            </a:r>
            <a:r>
              <a:rPr lang="en-US" altLang="zh-CN" sz="3600" b="1" dirty="0">
                <a:solidFill>
                  <a:srgbClr val="333333"/>
                </a:solidFill>
                <a:latin typeface="Noto Sans SC"/>
                <a:ea typeface="Noto Sans SC"/>
                <a:cs typeface="Noto Sans SC"/>
                <a:sym typeface="Noto Sans SC"/>
              </a:rPr>
              <a:t>-</a:t>
            </a:r>
            <a:r>
              <a:rPr lang="zh-CN" altLang="en-US" sz="3600" b="1" dirty="0">
                <a:solidFill>
                  <a:srgbClr val="333333"/>
                </a:solidFill>
                <a:latin typeface="Noto Sans SC"/>
                <a:ea typeface="Noto Sans SC"/>
                <a:cs typeface="Noto Sans SC"/>
                <a:sym typeface="Noto Sans SC"/>
              </a:rPr>
              <a:t>风险判定引擎</a:t>
            </a:r>
            <a:endParaRPr lang="en-US" sz="1100" dirty="0"/>
          </a:p>
        </p:txBody>
      </p:sp>
      <p:sp>
        <p:nvSpPr>
          <p:cNvPr id="17"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7" name="图片 6">
            <a:extLst>
              <a:ext uri="{FF2B5EF4-FFF2-40B4-BE49-F238E27FC236}">
                <a16:creationId xmlns:a16="http://schemas.microsoft.com/office/drawing/2014/main" id="{7C101195-FF2A-B823-2FA7-5BD9963251A9}"/>
              </a:ext>
            </a:extLst>
          </p:cNvPr>
          <p:cNvPicPr>
            <a:picLocks noChangeAspect="1"/>
          </p:cNvPicPr>
          <p:nvPr/>
        </p:nvPicPr>
        <p:blipFill>
          <a:blip r:embed="rId3"/>
          <a:stretch>
            <a:fillRect/>
          </a:stretch>
        </p:blipFill>
        <p:spPr>
          <a:xfrm>
            <a:off x="1421938" y="1236406"/>
            <a:ext cx="9348123" cy="521755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3556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dirty="0">
                <a:solidFill>
                  <a:srgbClr val="333333"/>
                </a:solidFill>
                <a:latin typeface="Noto Sans SC"/>
                <a:ea typeface="Noto Sans SC"/>
                <a:cs typeface="Noto Sans SC"/>
                <a:sym typeface="Noto Sans SC"/>
              </a:rPr>
              <a:t>5</a:t>
            </a:r>
            <a:r>
              <a:rPr lang="en-US" sz="3600" b="1" i="0" u="none" strike="noStrike" dirty="0">
                <a:solidFill>
                  <a:srgbClr val="333333"/>
                </a:solidFill>
                <a:latin typeface="Noto Sans SC"/>
                <a:ea typeface="Noto Sans SC"/>
                <a:cs typeface="Noto Sans SC"/>
                <a:sym typeface="Noto Sans SC"/>
              </a:rPr>
              <a:t>)隐私保护</a:t>
            </a:r>
            <a:r>
              <a:rPr lang="zh-CN" altLang="en-US" sz="3600" b="1" i="0" u="none" strike="noStrike" dirty="0">
                <a:solidFill>
                  <a:srgbClr val="333333"/>
                </a:solidFill>
                <a:latin typeface="Noto Sans SC"/>
                <a:ea typeface="Noto Sans SC"/>
                <a:cs typeface="Noto Sans SC"/>
                <a:sym typeface="Noto Sans SC"/>
              </a:rPr>
              <a:t>设计</a:t>
            </a:r>
            <a:endParaRPr lang="en-US" sz="1100" dirty="0"/>
          </a:p>
        </p:txBody>
      </p:sp>
      <p:sp>
        <p:nvSpPr>
          <p:cNvPr id="4" name="AutoShape 4"/>
          <p:cNvSpPr/>
          <p:nvPr/>
        </p:nvSpPr>
        <p:spPr>
          <a:xfrm>
            <a:off x="762000" y="1905000"/>
            <a:ext cx="3302000" cy="1524000"/>
          </a:xfrm>
          <a:prstGeom prst="roundRect">
            <a:avLst>
              <a:gd name="adj" fmla="val 8333"/>
            </a:avLst>
          </a:prstGeom>
          <a:solidFill>
            <a:srgbClr val="FEF2F2">
              <a:alpha val="100000"/>
            </a:srgbClr>
          </a:solidFill>
          <a:ln w="12700" cap="flat" cmpd="sng">
            <a:solidFill>
              <a:srgbClr val="FCA5A5">
                <a:alpha val="100000"/>
              </a:srgbClr>
            </a:solidFill>
            <a:prstDash val="solid"/>
            <a:round/>
          </a:ln>
        </p:spPr>
        <p:txBody>
          <a:bodyPr vert="horz" wrap="square" lIns="63500" tIns="63500" rIns="63500" bIns="63500" rtlCol="0" anchor="ctr"/>
          <a:lstStyle/>
          <a:p>
            <a:pPr algn="ctr">
              <a:defRPr/>
            </a:pPr>
            <a:endParaRPr dirty="0"/>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2095500"/>
            <a:ext cx="406400" cy="406400"/>
          </a:xfrm>
          <a:prstGeom prst="rect">
            <a:avLst/>
          </a:prstGeom>
        </p:spPr>
      </p:pic>
      <p:sp>
        <p:nvSpPr>
          <p:cNvPr id="6" name="AutoShape 6"/>
          <p:cNvSpPr/>
          <p:nvPr/>
        </p:nvSpPr>
        <p:spPr>
          <a:xfrm>
            <a:off x="1524000" y="21082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隐私挑战</a:t>
            </a:r>
            <a:endParaRPr lang="en-US" sz="1100" dirty="0"/>
          </a:p>
        </p:txBody>
      </p:sp>
      <p:sp>
        <p:nvSpPr>
          <p:cNvPr id="7" name="AutoShape 7"/>
          <p:cNvSpPr/>
          <p:nvPr/>
        </p:nvSpPr>
        <p:spPr>
          <a:xfrm>
            <a:off x="952500" y="2603500"/>
            <a:ext cx="2921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a:solidFill>
                  <a:srgbClr val="525252"/>
                </a:solidFill>
                <a:latin typeface="Noto Sans SC"/>
                <a:ea typeface="Noto Sans SC"/>
                <a:cs typeface="Noto Sans SC"/>
                <a:sym typeface="Noto Sans SC"/>
              </a:rPr>
              <a:t>传统监控存在全天候录像、数据存储隐患及内容易被滥用等风险，亟待技术升级。</a:t>
            </a:r>
            <a:endParaRPr lang="en-US" sz="1100" dirty="0"/>
          </a:p>
        </p:txBody>
      </p:sp>
      <p:sp>
        <p:nvSpPr>
          <p:cNvPr id="8" name="AutoShape 8"/>
          <p:cNvSpPr/>
          <p:nvPr/>
        </p:nvSpPr>
        <p:spPr>
          <a:xfrm>
            <a:off x="762000" y="3683000"/>
            <a:ext cx="3302000" cy="1524000"/>
          </a:xfrm>
          <a:prstGeom prst="roundRect">
            <a:avLst>
              <a:gd name="adj" fmla="val 8333"/>
            </a:avLst>
          </a:prstGeom>
          <a:solidFill>
            <a:srgbClr val="F0FDF4">
              <a:alpha val="100000"/>
            </a:srgbClr>
          </a:solidFill>
          <a:ln w="12700" cap="flat" cmpd="sng">
            <a:solidFill>
              <a:srgbClr val="86EFAC">
                <a:alpha val="100000"/>
              </a:srgbClr>
            </a:solidFill>
            <a:prstDash val="solid"/>
            <a:round/>
          </a:ln>
        </p:spPr>
        <p:txBody>
          <a:bodyPr vert="horz" wrap="square" lIns="63500" tIns="63500" rIns="63500" bIns="63500" rtlCol="0" anchor="ctr"/>
          <a:lstStyle/>
          <a:p>
            <a:pPr algn="ctr">
              <a:defRPr/>
            </a:pPr>
            <a:endParaRPr dirty="0"/>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873500"/>
            <a:ext cx="406400" cy="406400"/>
          </a:xfrm>
          <a:prstGeom prst="rect">
            <a:avLst/>
          </a:prstGeom>
        </p:spPr>
      </p:pic>
      <p:sp>
        <p:nvSpPr>
          <p:cNvPr id="10" name="AutoShape 10"/>
          <p:cNvSpPr/>
          <p:nvPr/>
        </p:nvSpPr>
        <p:spPr>
          <a:xfrm>
            <a:off x="1524000" y="38862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33333"/>
                </a:solidFill>
                <a:latin typeface="Noto Sans SC"/>
                <a:ea typeface="Noto Sans SC"/>
                <a:cs typeface="Noto Sans SC"/>
                <a:sym typeface="Noto Sans SC"/>
              </a:rPr>
              <a:t>核心优势</a:t>
            </a:r>
            <a:endParaRPr lang="en-US" sz="1100" dirty="0"/>
          </a:p>
        </p:txBody>
      </p:sp>
      <p:sp>
        <p:nvSpPr>
          <p:cNvPr id="11" name="AutoShape 11"/>
          <p:cNvSpPr/>
          <p:nvPr/>
        </p:nvSpPr>
        <p:spPr>
          <a:xfrm>
            <a:off x="952500" y="4381500"/>
            <a:ext cx="2921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dirty="0">
                <a:solidFill>
                  <a:srgbClr val="525252"/>
                </a:solidFill>
                <a:latin typeface="Noto Sans SC"/>
                <a:ea typeface="Noto Sans SC"/>
                <a:cs typeface="Noto Sans SC"/>
                <a:sym typeface="Noto Sans SC"/>
              </a:rPr>
              <a:t>通过技术手段实现法规合规，显著提升用户接受度，构建全方位的数据安全体系。</a:t>
            </a:r>
            <a:endParaRPr lang="en-US" sz="1100" dirty="0"/>
          </a:p>
        </p:txBody>
      </p:sp>
      <p:sp>
        <p:nvSpPr>
          <p:cNvPr id="12" name="AutoShape 12"/>
          <p:cNvSpPr/>
          <p:nvPr/>
        </p:nvSpPr>
        <p:spPr>
          <a:xfrm>
            <a:off x="4572000" y="1270000"/>
            <a:ext cx="685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16A34A"/>
                </a:solidFill>
                <a:latin typeface="Noto Sans SC"/>
                <a:ea typeface="Noto Sans SC"/>
                <a:cs typeface="Noto Sans SC"/>
                <a:sym typeface="Noto Sans SC"/>
              </a:rPr>
              <a:t>解决方案：三大核心策略</a:t>
            </a:r>
            <a:endParaRPr lang="en-US" sz="1100" dirty="0"/>
          </a:p>
        </p:txBody>
      </p:sp>
      <p:sp>
        <p:nvSpPr>
          <p:cNvPr id="13" name="AutoShape 13"/>
          <p:cNvSpPr/>
          <p:nvPr/>
        </p:nvSpPr>
        <p:spPr>
          <a:xfrm>
            <a:off x="4572000" y="1841500"/>
            <a:ext cx="6858000" cy="1524000"/>
          </a:xfrm>
          <a:prstGeom prst="roundRect">
            <a:avLst>
              <a:gd name="adj" fmla="val 8333"/>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26000" y="2095500"/>
            <a:ext cx="508000" cy="508000"/>
          </a:xfrm>
          <a:prstGeom prst="rect">
            <a:avLst/>
          </a:prstGeom>
        </p:spPr>
      </p:pic>
      <p:sp>
        <p:nvSpPr>
          <p:cNvPr id="15" name="AutoShape 15"/>
          <p:cNvSpPr/>
          <p:nvPr/>
        </p:nvSpPr>
        <p:spPr>
          <a:xfrm>
            <a:off x="5588000" y="2032000"/>
            <a:ext cx="558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a:ea typeface="Noto Sans SC"/>
                <a:cs typeface="Noto Sans SC"/>
                <a:sym typeface="Noto Sans SC"/>
              </a:rPr>
              <a:t>人脸模糊技术</a:t>
            </a:r>
            <a:endParaRPr lang="en-US" sz="1100" dirty="0"/>
          </a:p>
        </p:txBody>
      </p:sp>
      <p:sp>
        <p:nvSpPr>
          <p:cNvPr id="16" name="AutoShape 16"/>
          <p:cNvSpPr/>
          <p:nvPr/>
        </p:nvSpPr>
        <p:spPr>
          <a:xfrm>
            <a:off x="5588000" y="2481826"/>
            <a:ext cx="5461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b="0" i="0" u="none" strike="noStrike" dirty="0">
                <a:solidFill>
                  <a:srgbClr val="666666"/>
                </a:solidFill>
                <a:latin typeface="Noto Sans SC"/>
                <a:ea typeface="Noto Sans SC"/>
                <a:cs typeface="Noto Sans SC"/>
                <a:sym typeface="Noto Sans SC"/>
              </a:rPr>
              <a:t>技术方案：MediaPipe 全脸模型 + 高斯模糊（51px）。支持0.5米远距离人脸检测，基于深度学习，准确率高且性能轻量，适应不同摄像头布局。</a:t>
            </a:r>
            <a:endParaRPr lang="en-US" dirty="0"/>
          </a:p>
        </p:txBody>
      </p:sp>
      <p:sp>
        <p:nvSpPr>
          <p:cNvPr id="17" name="AutoShape 17"/>
          <p:cNvSpPr/>
          <p:nvPr/>
        </p:nvSpPr>
        <p:spPr>
          <a:xfrm>
            <a:off x="4572000" y="3556000"/>
            <a:ext cx="6858000" cy="1397000"/>
          </a:xfrm>
          <a:prstGeom prst="roundRect">
            <a:avLst>
              <a:gd name="adj" fmla="val 909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26000" y="3810000"/>
            <a:ext cx="508000" cy="508000"/>
          </a:xfrm>
          <a:prstGeom prst="rect">
            <a:avLst/>
          </a:prstGeom>
        </p:spPr>
      </p:pic>
      <p:sp>
        <p:nvSpPr>
          <p:cNvPr id="19" name="AutoShape 19"/>
          <p:cNvSpPr/>
          <p:nvPr/>
        </p:nvSpPr>
        <p:spPr>
          <a:xfrm>
            <a:off x="5588000" y="3746500"/>
            <a:ext cx="558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a:ea typeface="Noto Sans SC"/>
                <a:cs typeface="Noto Sans SC"/>
                <a:sym typeface="Noto Sans SC"/>
              </a:rPr>
              <a:t>数据最小化原则</a:t>
            </a:r>
            <a:endParaRPr lang="en-US" sz="1100" dirty="0"/>
          </a:p>
        </p:txBody>
      </p:sp>
      <p:sp>
        <p:nvSpPr>
          <p:cNvPr id="20" name="AutoShape 20"/>
          <p:cNvSpPr/>
          <p:nvPr/>
        </p:nvSpPr>
        <p:spPr>
          <a:xfrm>
            <a:off x="5588000" y="4190590"/>
            <a:ext cx="5461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b="0" i="0" u="none" strike="noStrike" dirty="0">
                <a:solidFill>
                  <a:srgbClr val="666666"/>
                </a:solidFill>
                <a:latin typeface="Noto Sans SC"/>
                <a:ea typeface="Noto Sans SC"/>
                <a:cs typeface="Noto Sans SC"/>
                <a:sym typeface="Noto Sans SC"/>
              </a:rPr>
              <a:t>仅保存事件摘要、检测参数和配置，严禁存储原始视频和未模糊帧，大幅减少数据攻击面，降低隐私泄露风险。</a:t>
            </a:r>
            <a:endParaRPr lang="en-US" dirty="0"/>
          </a:p>
        </p:txBody>
      </p:sp>
      <p:sp>
        <p:nvSpPr>
          <p:cNvPr id="21" name="AutoShape 21"/>
          <p:cNvSpPr/>
          <p:nvPr/>
        </p:nvSpPr>
        <p:spPr>
          <a:xfrm>
            <a:off x="4572000" y="5080000"/>
            <a:ext cx="6858000" cy="1397000"/>
          </a:xfrm>
          <a:prstGeom prst="roundRect">
            <a:avLst>
              <a:gd name="adj" fmla="val 9090"/>
            </a:avLst>
          </a:prstGeom>
          <a:solidFill>
            <a:srgbClr val="FFFFFF">
              <a:alpha val="100000"/>
            </a:srgbClr>
          </a:solidFill>
          <a:ln w="25400" cap="flat" cmpd="sng">
            <a:noFill/>
            <a:prstDash val="solid"/>
            <a:round/>
          </a:ln>
          <a:effectLst>
            <a:outerShdw blurRad="190500" dist="50800" dir="5400000" algn="tl" rotWithShape="0">
              <a:srgbClr val="000000">
                <a:alpha val="8000"/>
              </a:srgbClr>
            </a:outerShdw>
          </a:effectLst>
        </p:spPr>
        <p:txBody>
          <a:bodyPr vert="horz" wrap="square" lIns="63500" tIns="63500" rIns="63500" bIns="63500" rtlCol="0" anchor="ctr"/>
          <a:lstStyle/>
          <a:p>
            <a:pPr algn="ctr">
              <a:defRPr/>
            </a:pPr>
            <a:endParaRPr dirty="0"/>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26000" y="5334000"/>
            <a:ext cx="508000" cy="508000"/>
          </a:xfrm>
          <a:prstGeom prst="rect">
            <a:avLst/>
          </a:prstGeom>
        </p:spPr>
      </p:pic>
      <p:sp>
        <p:nvSpPr>
          <p:cNvPr id="23" name="AutoShape 23"/>
          <p:cNvSpPr/>
          <p:nvPr/>
        </p:nvSpPr>
        <p:spPr>
          <a:xfrm>
            <a:off x="5588000" y="5270500"/>
            <a:ext cx="5588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333333"/>
                </a:solidFill>
                <a:latin typeface="Noto Sans SC"/>
                <a:ea typeface="Noto Sans SC"/>
                <a:cs typeface="Noto Sans SC"/>
                <a:sym typeface="Noto Sans SC"/>
              </a:rPr>
              <a:t>本地化处理机制</a:t>
            </a:r>
            <a:endParaRPr lang="en-US" sz="1100" dirty="0"/>
          </a:p>
        </p:txBody>
      </p:sp>
      <p:sp>
        <p:nvSpPr>
          <p:cNvPr id="24" name="AutoShape 24"/>
          <p:cNvSpPr/>
          <p:nvPr/>
        </p:nvSpPr>
        <p:spPr>
          <a:xfrm>
            <a:off x="5588000" y="5651500"/>
            <a:ext cx="5461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b="0" i="0" u="none" strike="noStrike" dirty="0">
                <a:solidFill>
                  <a:srgbClr val="666666"/>
                </a:solidFill>
                <a:latin typeface="Noto Sans SC"/>
                <a:ea typeface="Noto Sans SC"/>
                <a:cs typeface="Noto Sans SC"/>
                <a:sym typeface="Noto Sans SC"/>
              </a:rPr>
              <a:t>视频数据在本地服务器闭环处理，仅传输脱敏后的模糊帧，完全规避云端传输风险，实现数据处理的物理隔离。</a:t>
            </a:r>
            <a:endParaRPr lang="en-US" dirty="0"/>
          </a:p>
        </p:txBody>
      </p:sp>
      <p:sp>
        <p:nvSpPr>
          <p:cNvPr id="25"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 name="AutoShape 4"/>
          <p:cNvSpPr/>
          <p:nvPr/>
        </p:nvSpPr>
        <p:spPr>
          <a:xfrm>
            <a:off x="762000" y="1397000"/>
            <a:ext cx="5207000" cy="4826000"/>
          </a:xfrm>
          <a:prstGeom prst="roundRect">
            <a:avLst>
              <a:gd name="adj" fmla="val 3157"/>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5" name="AutoShape 5"/>
          <p:cNvSpPr/>
          <p:nvPr/>
        </p:nvSpPr>
        <p:spPr>
          <a:xfrm>
            <a:off x="1016000" y="1651000"/>
            <a:ext cx="4699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20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核心原则 | Core Principles</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6" name="AutoShape 6"/>
          <p:cNvSpPr/>
          <p:nvPr/>
        </p:nvSpPr>
        <p:spPr>
          <a:xfrm>
            <a:off x="1016000" y="2286000"/>
            <a:ext cx="2349500" cy="1651000"/>
          </a:xfrm>
          <a:prstGeom prst="roundRect">
            <a:avLst>
              <a:gd name="adj" fmla="val 6153"/>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06500" y="2476500"/>
            <a:ext cx="457200" cy="457200"/>
          </a:xfrm>
          <a:prstGeom prst="rect">
            <a:avLst/>
          </a:prstGeom>
        </p:spPr>
      </p:pic>
      <p:sp>
        <p:nvSpPr>
          <p:cNvPr id="8" name="AutoShape 8"/>
          <p:cNvSpPr/>
          <p:nvPr/>
        </p:nvSpPr>
        <p:spPr>
          <a:xfrm>
            <a:off x="1778000" y="2476500"/>
            <a:ext cx="1524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500" b="1" i="0" u="none" strike="noStrike" kern="0" cap="none" spc="0" normalizeH="0" baseline="0" noProof="0" dirty="0">
                <a:ln>
                  <a:noFill/>
                </a:ln>
                <a:solidFill>
                  <a:srgbClr val="1F2937"/>
                </a:solidFill>
                <a:effectLst/>
                <a:uLnTx/>
                <a:uFillTx/>
                <a:latin typeface="Noto Sans SC"/>
                <a:ea typeface="Noto Sans SC"/>
                <a:cs typeface="Noto Sans SC"/>
                <a:sym typeface="Noto Sans SC"/>
              </a:rPr>
              <a:t>数据最小化</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9" name="AutoShape 9"/>
          <p:cNvSpPr/>
          <p:nvPr/>
        </p:nvSpPr>
        <p:spPr>
          <a:xfrm>
            <a:off x="1206500" y="3048000"/>
            <a:ext cx="2032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仅采集行为分析必需数据，杜绝无关信息收集，从源头减少风险。</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0" name="AutoShape 10"/>
          <p:cNvSpPr/>
          <p:nvPr/>
        </p:nvSpPr>
        <p:spPr>
          <a:xfrm>
            <a:off x="3492500" y="2286000"/>
            <a:ext cx="2349500" cy="1651000"/>
          </a:xfrm>
          <a:prstGeom prst="roundRect">
            <a:avLst>
              <a:gd name="adj" fmla="val 6153"/>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83000" y="2476500"/>
            <a:ext cx="457200" cy="457200"/>
          </a:xfrm>
          <a:prstGeom prst="rect">
            <a:avLst/>
          </a:prstGeom>
        </p:spPr>
      </p:pic>
      <p:sp>
        <p:nvSpPr>
          <p:cNvPr id="12" name="AutoShape 12"/>
          <p:cNvSpPr/>
          <p:nvPr/>
        </p:nvSpPr>
        <p:spPr>
          <a:xfrm>
            <a:off x="4254500" y="2476500"/>
            <a:ext cx="1524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500" b="1" i="0" u="none" strike="noStrike" kern="0" cap="none" spc="0" normalizeH="0" baseline="0" noProof="0" dirty="0">
                <a:ln>
                  <a:noFill/>
                </a:ln>
                <a:solidFill>
                  <a:srgbClr val="1F2937"/>
                </a:solidFill>
                <a:effectLst/>
                <a:uLnTx/>
                <a:uFillTx/>
                <a:latin typeface="Noto Sans SC"/>
                <a:ea typeface="Noto Sans SC"/>
                <a:cs typeface="Noto Sans SC"/>
                <a:sym typeface="Noto Sans SC"/>
              </a:rPr>
              <a:t>数据匿名化</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3" name="AutoShape 13"/>
          <p:cNvSpPr/>
          <p:nvPr/>
        </p:nvSpPr>
        <p:spPr>
          <a:xfrm>
            <a:off x="3683000" y="3048000"/>
            <a:ext cx="2032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704020202020204"/>
              <a:buNone/>
              <a:defRPr/>
            </a:pPr>
            <a:r>
              <a:rPr kumimoji="0" lang="zh-CN" alt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在</a:t>
            </a:r>
            <a:r>
              <a:rPr kumimoji="0" lang="en-US" altLang="zh-CN"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 SecureCore </a:t>
            </a:r>
            <a:r>
              <a:rPr kumimoji="0" lang="zh-CN" alt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逻辑隔离边界内对人脸等敏感区域进行模糊处理，切断身份关联，降低个体可识别性</a:t>
            </a: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4" name="AutoShape 14"/>
          <p:cNvSpPr/>
          <p:nvPr/>
        </p:nvSpPr>
        <p:spPr>
          <a:xfrm>
            <a:off x="1016000" y="4191000"/>
            <a:ext cx="2349500" cy="1651000"/>
          </a:xfrm>
          <a:prstGeom prst="roundRect">
            <a:avLst>
              <a:gd name="adj" fmla="val 6153"/>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06500" y="4381500"/>
            <a:ext cx="457200" cy="457200"/>
          </a:xfrm>
          <a:prstGeom prst="rect">
            <a:avLst/>
          </a:prstGeom>
        </p:spPr>
      </p:pic>
      <p:sp>
        <p:nvSpPr>
          <p:cNvPr id="16" name="AutoShape 16"/>
          <p:cNvSpPr/>
          <p:nvPr/>
        </p:nvSpPr>
        <p:spPr>
          <a:xfrm>
            <a:off x="1778000" y="4381500"/>
            <a:ext cx="1524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500" b="1" i="0" u="none" strike="noStrike" kern="0" cap="none" spc="0" normalizeH="0" baseline="0" noProof="0" dirty="0">
                <a:ln>
                  <a:noFill/>
                </a:ln>
                <a:solidFill>
                  <a:srgbClr val="1F2937"/>
                </a:solidFill>
                <a:effectLst/>
                <a:uLnTx/>
                <a:uFillTx/>
                <a:latin typeface="Noto Sans SC"/>
                <a:ea typeface="Noto Sans SC"/>
                <a:cs typeface="Noto Sans SC"/>
                <a:sym typeface="Noto Sans SC"/>
              </a:rPr>
              <a:t>本地化闭环</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7" name="AutoShape 17"/>
          <p:cNvSpPr/>
          <p:nvPr/>
        </p:nvSpPr>
        <p:spPr>
          <a:xfrm>
            <a:off x="1206500" y="4953000"/>
            <a:ext cx="2032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704020202020204"/>
              <a:buNone/>
              <a:defRPr/>
            </a:pPr>
            <a:r>
              <a:rPr lang="zh-CN" altLang="en-US" sz="1100" dirty="0">
                <a:solidFill>
                  <a:srgbClr val="6B7280"/>
                </a:solidFill>
                <a:latin typeface="Noto Sans SC"/>
                <a:ea typeface="Noto Sans SC"/>
              </a:rPr>
              <a:t>敏感视频优先在本地受控环境中完成处理，当前采用</a:t>
            </a:r>
            <a:r>
              <a:rPr lang="en-US" altLang="zh-CN" sz="1100" dirty="0">
                <a:solidFill>
                  <a:srgbClr val="6B7280"/>
                </a:solidFill>
                <a:latin typeface="Noto Sans SC"/>
                <a:ea typeface="Noto Sans SC"/>
              </a:rPr>
              <a:t> TEE-compatible </a:t>
            </a:r>
            <a:r>
              <a:rPr lang="zh-CN" altLang="en-US" sz="1100" dirty="0">
                <a:solidFill>
                  <a:srgbClr val="6B7280"/>
                </a:solidFill>
                <a:latin typeface="Noto Sans SC"/>
                <a:ea typeface="Noto Sans SC"/>
              </a:rPr>
              <a:t>的</a:t>
            </a:r>
            <a:r>
              <a:rPr lang="en-US" altLang="zh-CN" sz="1100" dirty="0">
                <a:solidFill>
                  <a:srgbClr val="6B7280"/>
                </a:solidFill>
                <a:latin typeface="Noto Sans SC"/>
                <a:ea typeface="Noto Sans SC"/>
              </a:rPr>
              <a:t> SecureCore </a:t>
            </a:r>
            <a:r>
              <a:rPr lang="zh-CN" altLang="en-US" sz="1100" dirty="0">
                <a:solidFill>
                  <a:srgbClr val="6B7280"/>
                </a:solidFill>
                <a:latin typeface="Noto Sans SC"/>
                <a:ea typeface="Noto Sans SC"/>
              </a:rPr>
              <a:t>原型设计，减少上云传输带来的泄露风险。</a:t>
            </a:r>
          </a:p>
        </p:txBody>
      </p:sp>
      <p:sp>
        <p:nvSpPr>
          <p:cNvPr id="18" name="AutoShape 18"/>
          <p:cNvSpPr/>
          <p:nvPr/>
        </p:nvSpPr>
        <p:spPr>
          <a:xfrm>
            <a:off x="3492500" y="4191000"/>
            <a:ext cx="2349500" cy="1651000"/>
          </a:xfrm>
          <a:prstGeom prst="roundRect">
            <a:avLst>
              <a:gd name="adj" fmla="val 6153"/>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83000" y="4381500"/>
            <a:ext cx="457200" cy="457200"/>
          </a:xfrm>
          <a:prstGeom prst="rect">
            <a:avLst/>
          </a:prstGeom>
        </p:spPr>
      </p:pic>
      <p:sp>
        <p:nvSpPr>
          <p:cNvPr id="20" name="AutoShape 20"/>
          <p:cNvSpPr/>
          <p:nvPr/>
        </p:nvSpPr>
        <p:spPr>
          <a:xfrm>
            <a:off x="4254500" y="4381500"/>
            <a:ext cx="1524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500" b="1" i="0" u="none" strike="noStrike" kern="0" cap="none" spc="0" normalizeH="0" baseline="0" noProof="0" dirty="0">
                <a:ln>
                  <a:noFill/>
                </a:ln>
                <a:solidFill>
                  <a:srgbClr val="1F2937"/>
                </a:solidFill>
                <a:effectLst/>
                <a:uLnTx/>
                <a:uFillTx/>
                <a:latin typeface="Noto Sans SC"/>
                <a:ea typeface="Noto Sans SC"/>
                <a:cs typeface="Noto Sans SC"/>
                <a:sym typeface="Noto Sans SC"/>
              </a:rPr>
              <a:t>安全存储</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1" name="AutoShape 21"/>
          <p:cNvSpPr/>
          <p:nvPr/>
        </p:nvSpPr>
        <p:spPr>
          <a:xfrm>
            <a:off x="3683000" y="4953000"/>
            <a:ext cx="2032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704020202020204"/>
              <a:buNone/>
              <a:defRPr/>
            </a:pPr>
            <a:r>
              <a:rPr kumimoji="0" lang="zh-CN" alt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仅保存事件摘要和脱敏结果，原始视频默认不长期落盘；当前通过完整性校验与受控加载机制增强数据安全性。</a:t>
            </a: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2" name="AutoShape 22"/>
          <p:cNvSpPr/>
          <p:nvPr/>
        </p:nvSpPr>
        <p:spPr>
          <a:xfrm>
            <a:off x="6223000" y="1397000"/>
            <a:ext cx="5207000" cy="4826000"/>
          </a:xfrm>
          <a:prstGeom prst="roundRect">
            <a:avLst>
              <a:gd name="adj" fmla="val 3157"/>
            </a:avLst>
          </a:prstGeom>
          <a:solidFill>
            <a:srgbClr val="FFFFFF">
              <a:alpha val="95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3" name="AutoShape 23"/>
          <p:cNvSpPr/>
          <p:nvPr/>
        </p:nvSpPr>
        <p:spPr>
          <a:xfrm>
            <a:off x="6477000" y="1651000"/>
            <a:ext cx="4699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2000" b="1" i="0" u="none" strike="noStrike" kern="0" cap="none" spc="0" normalizeH="0" baseline="0" noProof="0" dirty="0">
                <a:ln>
                  <a:noFill/>
                </a:ln>
                <a:solidFill>
                  <a:srgbClr val="F97316"/>
                </a:solidFill>
                <a:effectLst/>
                <a:uLnTx/>
                <a:uFillTx/>
                <a:latin typeface="Noto Sans SC"/>
                <a:ea typeface="Noto Sans SC"/>
                <a:cs typeface="Noto Sans SC"/>
                <a:sym typeface="Noto Sans SC"/>
              </a:rPr>
              <a:t>传统监控隐私风险 | Potential Risks</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4" name="AutoShape 24"/>
          <p:cNvSpPr/>
          <p:nvPr/>
        </p:nvSpPr>
        <p:spPr>
          <a:xfrm>
            <a:off x="6477000" y="2286000"/>
            <a:ext cx="4699000" cy="1524000"/>
          </a:xfrm>
          <a:prstGeom prst="roundRect">
            <a:avLst>
              <a:gd name="adj" fmla="val 6666"/>
            </a:avLst>
          </a:prstGeom>
          <a:solidFill>
            <a:srgbClr val="FFF7ED">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1000" y="2667000"/>
            <a:ext cx="609600" cy="609600"/>
          </a:xfrm>
          <a:prstGeom prst="rect">
            <a:avLst/>
          </a:prstGeom>
        </p:spPr>
      </p:pic>
      <p:sp>
        <p:nvSpPr>
          <p:cNvPr id="26" name="AutoShape 26"/>
          <p:cNvSpPr/>
          <p:nvPr/>
        </p:nvSpPr>
        <p:spPr>
          <a:xfrm>
            <a:off x="7493000" y="2540000"/>
            <a:ext cx="3556000" cy="355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600" b="1" i="0" u="none" strike="noStrike" kern="0" cap="none" spc="0" normalizeH="0" baseline="0" noProof="0" dirty="0">
                <a:ln>
                  <a:noFill/>
                </a:ln>
                <a:solidFill>
                  <a:srgbClr val="1F2937"/>
                </a:solidFill>
                <a:effectLst/>
                <a:uLnTx/>
                <a:uFillTx/>
                <a:latin typeface="Noto Sans SC"/>
                <a:ea typeface="Noto Sans SC"/>
                <a:cs typeface="Noto Sans SC"/>
                <a:sym typeface="Noto Sans SC"/>
              </a:rPr>
              <a:t>隐私易暴露风险</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7" name="AutoShape 27"/>
          <p:cNvSpPr/>
          <p:nvPr/>
        </p:nvSpPr>
        <p:spPr>
          <a:xfrm>
            <a:off x="7493000" y="2984500"/>
            <a:ext cx="3429000" cy="7620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zh-CN" altLang="en-US" sz="1200" dirty="0">
                <a:solidFill>
                  <a:srgbClr val="6B7280"/>
                </a:solidFill>
                <a:latin typeface="Noto Sans SC"/>
                <a:ea typeface="Noto Sans SC"/>
              </a:rPr>
              <a:t>原始视频中包含人脸、居住环境和日常行为细节，一旦缺乏有效隔离与脱敏处理，极易造成个人隐私泄露，影响用户接受度。</a:t>
            </a:r>
          </a:p>
        </p:txBody>
      </p:sp>
      <p:sp>
        <p:nvSpPr>
          <p:cNvPr id="28" name="AutoShape 28"/>
          <p:cNvSpPr/>
          <p:nvPr/>
        </p:nvSpPr>
        <p:spPr>
          <a:xfrm>
            <a:off x="6477000" y="4191000"/>
            <a:ext cx="4699000" cy="1524000"/>
          </a:xfrm>
          <a:prstGeom prst="roundRect">
            <a:avLst>
              <a:gd name="adj" fmla="val 6666"/>
            </a:avLst>
          </a:prstGeom>
          <a:solidFill>
            <a:srgbClr val="FFF7ED">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31000" y="4572000"/>
            <a:ext cx="609600" cy="609600"/>
          </a:xfrm>
          <a:prstGeom prst="rect">
            <a:avLst/>
          </a:prstGeom>
        </p:spPr>
      </p:pic>
      <p:sp>
        <p:nvSpPr>
          <p:cNvPr id="30" name="AutoShape 30"/>
          <p:cNvSpPr/>
          <p:nvPr/>
        </p:nvSpPr>
        <p:spPr>
          <a:xfrm>
            <a:off x="7493000" y="4445000"/>
            <a:ext cx="3556000" cy="355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600" b="1" i="0" u="none" strike="noStrike" kern="0" cap="none" spc="0" normalizeH="0" baseline="0" noProof="0" dirty="0">
                <a:ln>
                  <a:noFill/>
                </a:ln>
                <a:solidFill>
                  <a:srgbClr val="1F2937"/>
                </a:solidFill>
                <a:effectLst/>
                <a:uLnTx/>
                <a:uFillTx/>
                <a:latin typeface="Noto Sans SC"/>
                <a:ea typeface="Noto Sans SC"/>
                <a:cs typeface="Noto Sans SC"/>
                <a:sym typeface="Noto Sans SC"/>
              </a:rPr>
              <a:t>云端传输与存储隐患</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1" name="AutoShape 31"/>
          <p:cNvSpPr/>
          <p:nvPr/>
        </p:nvSpPr>
        <p:spPr>
          <a:xfrm>
            <a:off x="7493000" y="4889500"/>
            <a:ext cx="3429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704020202020204"/>
              <a:buNone/>
              <a:defRPr/>
            </a:pPr>
            <a:r>
              <a:rPr kumimoji="0" lang="zh-CN" altLang="en-US" sz="12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若将高保真原始视频持续上传至云端并长期存储，链路更长、节点更多，数据在传输、存储与调用过程中面临持续暴露风险</a:t>
            </a:r>
            <a:r>
              <a:rPr kumimoji="0" lang="en-US" sz="12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2" name="AutoShape 3"/>
          <p:cNvSpPr/>
          <p:nvPr/>
        </p:nvSpPr>
        <p:spPr>
          <a:xfrm>
            <a:off x="762000" y="508000"/>
            <a:ext cx="3556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dirty="0">
                <a:solidFill>
                  <a:srgbClr val="333333"/>
                </a:solidFill>
                <a:latin typeface="Noto Sans SC"/>
                <a:ea typeface="Noto Sans SC"/>
                <a:cs typeface="Noto Sans SC"/>
                <a:sym typeface="Noto Sans SC"/>
              </a:rPr>
              <a:t>5</a:t>
            </a:r>
            <a:r>
              <a:rPr lang="en-US" sz="3600" b="1" i="0" u="none" strike="noStrike" dirty="0">
                <a:solidFill>
                  <a:srgbClr val="333333"/>
                </a:solidFill>
                <a:latin typeface="Noto Sans SC"/>
                <a:ea typeface="Noto Sans SC"/>
                <a:cs typeface="Noto Sans SC"/>
                <a:sym typeface="Noto Sans SC"/>
              </a:rPr>
              <a:t>)隐私保护</a:t>
            </a:r>
            <a:r>
              <a:rPr lang="zh-CN" altLang="en-US" sz="3600" b="1" i="0" u="none" strike="noStrike" dirty="0">
                <a:solidFill>
                  <a:srgbClr val="333333"/>
                </a:solidFill>
                <a:latin typeface="Noto Sans SC"/>
                <a:ea typeface="Noto Sans SC"/>
                <a:cs typeface="Noto Sans SC"/>
                <a:sym typeface="Noto Sans SC"/>
              </a:rPr>
              <a:t>设计</a:t>
            </a:r>
            <a:endParaRPr lang="en-US" sz="1100" dirty="0"/>
          </a:p>
        </p:txBody>
      </p:sp>
      <p:sp>
        <p:nvSpPr>
          <p:cNvPr id="35"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4762500" y="603250"/>
            <a:ext cx="254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 name="AutoShape 4"/>
          <p:cNvSpPr/>
          <p:nvPr/>
        </p:nvSpPr>
        <p:spPr>
          <a:xfrm>
            <a:off x="762000" y="1393567"/>
            <a:ext cx="5207000" cy="1778000"/>
          </a:xfrm>
          <a:prstGeom prst="roundRect">
            <a:avLst>
              <a:gd name="adj" fmla="val 8571"/>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5" name="AutoShape 5"/>
          <p:cNvSpPr/>
          <p:nvPr/>
        </p:nvSpPr>
        <p:spPr>
          <a:xfrm>
            <a:off x="1016000" y="1584067"/>
            <a:ext cx="4699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DESIGN PHILOSOPHY · 设计理念</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6" name="AutoShape 6"/>
          <p:cNvSpPr/>
          <p:nvPr/>
        </p:nvSpPr>
        <p:spPr>
          <a:xfrm>
            <a:off x="1016000" y="1901567"/>
            <a:ext cx="4699000" cy="355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6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隐私优先的非接触式监测</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7" name="AutoShape 7"/>
          <p:cNvSpPr/>
          <p:nvPr/>
        </p:nvSpPr>
        <p:spPr>
          <a:xfrm>
            <a:off x="1016000" y="2346067"/>
            <a:ext cx="4699000" cy="635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704020202020204"/>
              <a:buNone/>
              <a:defRPr/>
            </a:pPr>
            <a:r>
              <a:rPr kumimoji="0" lang="en-US" sz="12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技术发展不应以牺牲个人隐私为代价。我们将隐私保护作为最高优先级，在不接触、不识别、不存储任何可关联到个人身份的原始敏感信息的前提下，实现有效监测。</a:t>
            </a:r>
            <a:endParaRPr kumimoji="0" lang="en-US" sz="12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8" name="AutoShape 8"/>
          <p:cNvSpPr/>
          <p:nvPr/>
        </p:nvSpPr>
        <p:spPr>
          <a:xfrm>
            <a:off x="6223000" y="1393567"/>
            <a:ext cx="5207000" cy="1778000"/>
          </a:xfrm>
          <a:prstGeom prst="roundRect">
            <a:avLst>
              <a:gd name="adj" fmla="val 8571"/>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9" name="AutoShape 9"/>
          <p:cNvSpPr/>
          <p:nvPr/>
        </p:nvSpPr>
        <p:spPr>
          <a:xfrm>
            <a:off x="6477000" y="1584067"/>
            <a:ext cx="4699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POSITIONING · 核心定位</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0" name="AutoShape 10"/>
          <p:cNvSpPr/>
          <p:nvPr/>
        </p:nvSpPr>
        <p:spPr>
          <a:xfrm>
            <a:off x="6477000" y="1901567"/>
            <a:ext cx="4699000" cy="3556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6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全链路隐私安全、可验证的智能视频监测</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1" name="AutoShape 11"/>
          <p:cNvSpPr/>
          <p:nvPr/>
        </p:nvSpPr>
        <p:spPr>
          <a:xfrm>
            <a:off x="6477000" y="2346067"/>
            <a:ext cx="4699000" cy="635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704020202020204"/>
              <a:buNone/>
              <a:defRPr/>
            </a:pPr>
            <a:r>
              <a:rPr lang="zh-CN" altLang="en-US" sz="1200" dirty="0">
                <a:solidFill>
                  <a:srgbClr val="6B7280"/>
                </a:solidFill>
                <a:latin typeface="Noto Sans SC"/>
                <a:ea typeface="Noto Sans SC"/>
              </a:rPr>
              <a:t>系统围绕敏感数据受控处理、事件摘要最小暴露和统计发布保护进行设计，当前原型具备完整性校验能力，并支持后续向真实</a:t>
            </a:r>
            <a:r>
              <a:rPr lang="en-US" altLang="zh-CN" sz="1200" dirty="0">
                <a:solidFill>
                  <a:srgbClr val="6B7280"/>
                </a:solidFill>
                <a:latin typeface="Noto Sans SC"/>
                <a:ea typeface="Noto Sans SC"/>
              </a:rPr>
              <a:t>TEE/</a:t>
            </a:r>
            <a:r>
              <a:rPr lang="zh-CN" altLang="en-US" sz="1200" dirty="0">
                <a:solidFill>
                  <a:srgbClr val="6B7280"/>
                </a:solidFill>
                <a:latin typeface="Noto Sans SC"/>
                <a:ea typeface="Noto Sans SC"/>
              </a:rPr>
              <a:t>机密容器环境平滑迁移。</a:t>
            </a:r>
          </a:p>
        </p:txBody>
      </p:sp>
      <p:sp>
        <p:nvSpPr>
          <p:cNvPr id="12" name="AutoShape 12"/>
          <p:cNvSpPr/>
          <p:nvPr>
            <p:custDataLst>
              <p:tags r:id="rId1"/>
            </p:custDataLst>
          </p:nvPr>
        </p:nvSpPr>
        <p:spPr>
          <a:xfrm>
            <a:off x="762000" y="3425567"/>
            <a:ext cx="2540000" cy="1651000"/>
          </a:xfrm>
          <a:prstGeom prst="roundRect">
            <a:avLst>
              <a:gd name="adj" fmla="val 923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13" name="Picture 13"/>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52500" y="3616067"/>
            <a:ext cx="457200" cy="457200"/>
          </a:xfrm>
          <a:prstGeom prst="rect">
            <a:avLst/>
          </a:prstGeom>
        </p:spPr>
      </p:pic>
      <p:sp>
        <p:nvSpPr>
          <p:cNvPr id="14" name="AutoShape 14"/>
          <p:cNvSpPr/>
          <p:nvPr>
            <p:custDataLst>
              <p:tags r:id="rId3"/>
            </p:custDataLst>
          </p:nvPr>
        </p:nvSpPr>
        <p:spPr>
          <a:xfrm>
            <a:off x="1524000" y="3616067"/>
            <a:ext cx="1651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4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原始数据不出域</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5" name="AutoShape 15"/>
          <p:cNvSpPr/>
          <p:nvPr>
            <p:custDataLst>
              <p:tags r:id="rId4"/>
            </p:custDataLst>
          </p:nvPr>
        </p:nvSpPr>
        <p:spPr>
          <a:xfrm>
            <a:off x="952500" y="4187567"/>
            <a:ext cx="2159000" cy="7620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zh-CN" altLang="en-US" sz="1100" dirty="0">
                <a:solidFill>
                  <a:srgbClr val="4B5563"/>
                </a:solidFill>
                <a:latin typeface="Noto Sans SC"/>
                <a:ea typeface="Noto Sans SC"/>
              </a:rPr>
              <a:t>所有原始视频帧数据优先在</a:t>
            </a:r>
            <a:r>
              <a:rPr lang="en-US" altLang="zh-CN" sz="1100" dirty="0">
                <a:solidFill>
                  <a:srgbClr val="4B5563"/>
                </a:solidFill>
                <a:latin typeface="Noto Sans SC"/>
                <a:ea typeface="Noto Sans SC"/>
              </a:rPr>
              <a:t> SecureCore </a:t>
            </a:r>
            <a:r>
              <a:rPr lang="zh-CN" altLang="en-US" sz="1100" dirty="0">
                <a:solidFill>
                  <a:srgbClr val="4B5563"/>
                </a:solidFill>
                <a:latin typeface="Noto Sans SC"/>
                <a:ea typeface="Noto Sans SC"/>
              </a:rPr>
              <a:t>逻辑隔离边界内完成处理，当前原型采用</a:t>
            </a:r>
            <a:r>
              <a:rPr lang="en-US" altLang="zh-CN" sz="1100" dirty="0">
                <a:solidFill>
                  <a:srgbClr val="4B5563"/>
                </a:solidFill>
                <a:latin typeface="Noto Sans SC"/>
                <a:ea typeface="Noto Sans SC"/>
              </a:rPr>
              <a:t> TEE-compatible </a:t>
            </a:r>
            <a:r>
              <a:rPr lang="zh-CN" altLang="en-US" sz="1100" dirty="0">
                <a:solidFill>
                  <a:srgbClr val="4B5563"/>
                </a:solidFill>
                <a:latin typeface="Noto Sans SC"/>
                <a:ea typeface="Noto Sans SC"/>
              </a:rPr>
              <a:t>安全核心设计，从源头降低数据外泄风险。</a:t>
            </a:r>
          </a:p>
        </p:txBody>
      </p:sp>
      <p:sp>
        <p:nvSpPr>
          <p:cNvPr id="16" name="AutoShape 16"/>
          <p:cNvSpPr/>
          <p:nvPr>
            <p:custDataLst>
              <p:tags r:id="rId5"/>
            </p:custDataLst>
          </p:nvPr>
        </p:nvSpPr>
        <p:spPr>
          <a:xfrm>
            <a:off x="3429000" y="3425567"/>
            <a:ext cx="2540000" cy="1651000"/>
          </a:xfrm>
          <a:prstGeom prst="roundRect">
            <a:avLst>
              <a:gd name="adj" fmla="val 923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17" name="Picture 17"/>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3619500" y="3616067"/>
            <a:ext cx="457200" cy="457200"/>
          </a:xfrm>
          <a:prstGeom prst="rect">
            <a:avLst/>
          </a:prstGeom>
        </p:spPr>
      </p:pic>
      <p:sp>
        <p:nvSpPr>
          <p:cNvPr id="18" name="AutoShape 18"/>
          <p:cNvSpPr/>
          <p:nvPr>
            <p:custDataLst>
              <p:tags r:id="rId7"/>
            </p:custDataLst>
          </p:nvPr>
        </p:nvSpPr>
        <p:spPr>
          <a:xfrm>
            <a:off x="4191000" y="3616067"/>
            <a:ext cx="1651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4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身份匿名化处理</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9" name="AutoShape 19"/>
          <p:cNvSpPr/>
          <p:nvPr>
            <p:custDataLst>
              <p:tags r:id="rId8"/>
            </p:custDataLst>
          </p:nvPr>
        </p:nvSpPr>
        <p:spPr>
          <a:xfrm>
            <a:off x="3619500" y="4187567"/>
            <a:ext cx="2159000" cy="762000"/>
          </a:xfrm>
          <a:prstGeom prst="rect">
            <a:avLst/>
          </a:prstGeom>
          <a:noFill/>
          <a:ln w="12700" cap="flat" cmpd="sng">
            <a:noFill/>
            <a:prstDash val="solid"/>
            <a:round/>
          </a:ln>
        </p:spPr>
        <p:txBody>
          <a:bodyPr vert="horz" wrap="square" lIns="0" tIns="0" rIns="0" bIns="0" rtlCol="0" anchor="ctr" anchorCtr="0"/>
          <a:lstStyle/>
          <a:p>
            <a:pPr marL="0" lvl="0" indent="0" defTabSz="914400" eaLnBrk="1" fontAlgn="auto" latinLnBrk="0" hangingPunct="1">
              <a:lnSpc>
                <a:spcPct val="108000"/>
              </a:lnSpc>
              <a:buSzTx/>
              <a:buFont typeface="Arial" panose="020B0704020202020204"/>
              <a:buNone/>
              <a:defRPr/>
            </a:pPr>
            <a:r>
              <a:rPr lang="zh-CN" altLang="en-US" sz="1100" dirty="0">
                <a:solidFill>
                  <a:srgbClr val="4B5563"/>
                </a:solidFill>
                <a:latin typeface="Noto Sans SC"/>
                <a:ea typeface="Noto Sans SC"/>
              </a:rPr>
              <a:t>在</a:t>
            </a:r>
            <a:r>
              <a:rPr lang="en-US" altLang="zh-CN" sz="1100" dirty="0">
                <a:solidFill>
                  <a:srgbClr val="4B5563"/>
                </a:solidFill>
                <a:latin typeface="Noto Sans SC"/>
                <a:ea typeface="Noto Sans SC"/>
              </a:rPr>
              <a:t> SecureCore </a:t>
            </a:r>
            <a:r>
              <a:rPr lang="zh-CN" altLang="en-US" sz="1100" dirty="0">
                <a:solidFill>
                  <a:srgbClr val="4B5563"/>
                </a:solidFill>
                <a:latin typeface="Noto Sans SC"/>
                <a:ea typeface="Noto Sans SC"/>
              </a:rPr>
              <a:t>受控处理链路内对人脸等敏感区域进行实时模糊与脱敏，并为对象分配临时匿名标识，降低身份关联风险。</a:t>
            </a:r>
          </a:p>
        </p:txBody>
      </p:sp>
      <p:sp>
        <p:nvSpPr>
          <p:cNvPr id="20" name="AutoShape 20"/>
          <p:cNvSpPr/>
          <p:nvPr>
            <p:custDataLst>
              <p:tags r:id="rId9"/>
            </p:custDataLst>
          </p:nvPr>
        </p:nvSpPr>
        <p:spPr>
          <a:xfrm>
            <a:off x="6096000" y="3425567"/>
            <a:ext cx="2540000" cy="1651000"/>
          </a:xfrm>
          <a:prstGeom prst="roundRect">
            <a:avLst>
              <a:gd name="adj" fmla="val 923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1" name="Picture 21"/>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286500" y="3616067"/>
            <a:ext cx="457200" cy="457200"/>
          </a:xfrm>
          <a:prstGeom prst="rect">
            <a:avLst/>
          </a:prstGeom>
        </p:spPr>
      </p:pic>
      <p:sp>
        <p:nvSpPr>
          <p:cNvPr id="22" name="AutoShape 22"/>
          <p:cNvSpPr/>
          <p:nvPr>
            <p:custDataLst>
              <p:tags r:id="rId11"/>
            </p:custDataLst>
          </p:nvPr>
        </p:nvSpPr>
        <p:spPr>
          <a:xfrm>
            <a:off x="6858000" y="3616067"/>
            <a:ext cx="1651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4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统计隐私保护</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3" name="AutoShape 23"/>
          <p:cNvSpPr/>
          <p:nvPr>
            <p:custDataLst>
              <p:tags r:id="rId12"/>
            </p:custDataLst>
          </p:nvPr>
        </p:nvSpPr>
        <p:spPr>
          <a:xfrm>
            <a:off x="6286500" y="4096951"/>
            <a:ext cx="2159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704020202020204"/>
              <a:buNone/>
              <a:defRPr/>
            </a:pPr>
            <a:r>
              <a:rPr lang="en-US" sz="1100" dirty="0" err="1">
                <a:solidFill>
                  <a:srgbClr val="4B5563"/>
                </a:solidFill>
                <a:latin typeface="Noto Sans SC"/>
                <a:ea typeface="Noto Sans SC"/>
                <a:sym typeface="Noto Sans SC"/>
              </a:rPr>
              <a:t>在生成统计性结果数据时加入差分隐私噪声，有效防止攻击者通过聚合数据进行逆向推导</a:t>
            </a:r>
            <a:r>
              <a:rPr lang="en-US" sz="1100" dirty="0">
                <a:solidFill>
                  <a:srgbClr val="4B5563"/>
                </a:solidFill>
                <a:latin typeface="Noto Sans SC"/>
                <a:ea typeface="Noto Sans SC"/>
                <a:sym typeface="Noto Sans SC"/>
              </a:rPr>
              <a:t>。</a:t>
            </a:r>
            <a:endParaRPr lang="en-US" sz="1100" dirty="0">
              <a:solidFill>
                <a:srgbClr val="4B5563"/>
              </a:solidFill>
              <a:latin typeface="Noto Sans SC"/>
              <a:ea typeface="Noto Sans SC"/>
            </a:endParaRPr>
          </a:p>
        </p:txBody>
      </p:sp>
      <p:sp>
        <p:nvSpPr>
          <p:cNvPr id="24" name="AutoShape 24"/>
          <p:cNvSpPr/>
          <p:nvPr>
            <p:custDataLst>
              <p:tags r:id="rId13"/>
            </p:custDataLst>
          </p:nvPr>
        </p:nvSpPr>
        <p:spPr>
          <a:xfrm>
            <a:off x="8763000" y="3425567"/>
            <a:ext cx="2540000" cy="1651000"/>
          </a:xfrm>
          <a:prstGeom prst="roundRect">
            <a:avLst>
              <a:gd name="adj" fmla="val 923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5" name="Picture 25"/>
          <p:cNvPicPr>
            <a:picLocks noChangeAspect="1"/>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953500" y="3616067"/>
            <a:ext cx="457200" cy="457200"/>
          </a:xfrm>
          <a:prstGeom prst="rect">
            <a:avLst/>
          </a:prstGeom>
        </p:spPr>
      </p:pic>
      <p:sp>
        <p:nvSpPr>
          <p:cNvPr id="26" name="AutoShape 26"/>
          <p:cNvSpPr/>
          <p:nvPr>
            <p:custDataLst>
              <p:tags r:id="rId15"/>
            </p:custDataLst>
          </p:nvPr>
        </p:nvSpPr>
        <p:spPr>
          <a:xfrm>
            <a:off x="9525000" y="3616067"/>
            <a:ext cx="1651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4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完整性可验证</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7" name="AutoShape 27"/>
          <p:cNvSpPr/>
          <p:nvPr>
            <p:custDataLst>
              <p:tags r:id="rId16"/>
            </p:custDataLst>
          </p:nvPr>
        </p:nvSpPr>
        <p:spPr>
          <a:xfrm>
            <a:off x="8953500" y="4187567"/>
            <a:ext cx="2159000" cy="7620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zh-CN" altLang="en-US" sz="1100" dirty="0">
                <a:solidFill>
                  <a:srgbClr val="4B5563"/>
                </a:solidFill>
                <a:latin typeface="Noto Sans SC"/>
                <a:ea typeface="Noto Sans SC"/>
              </a:rPr>
              <a:t>当前原型通过关键代码与模型文件的哈希校验增强完整性可核验能力，并为后续接入标准远程证明服务预留迁移接口。</a:t>
            </a:r>
          </a:p>
        </p:txBody>
      </p:sp>
      <p:sp>
        <p:nvSpPr>
          <p:cNvPr id="28" name="AutoShape 28"/>
          <p:cNvSpPr/>
          <p:nvPr/>
        </p:nvSpPr>
        <p:spPr>
          <a:xfrm>
            <a:off x="762000" y="5330567"/>
            <a:ext cx="10668000" cy="1143000"/>
          </a:xfrm>
          <a:prstGeom prst="roundRect">
            <a:avLst>
              <a:gd name="adj" fmla="val 13333"/>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016000" y="5584567"/>
            <a:ext cx="609600" cy="609600"/>
          </a:xfrm>
          <a:prstGeom prst="rect">
            <a:avLst/>
          </a:prstGeom>
        </p:spPr>
      </p:pic>
      <p:sp>
        <p:nvSpPr>
          <p:cNvPr id="30" name="AutoShape 30"/>
          <p:cNvSpPr/>
          <p:nvPr/>
        </p:nvSpPr>
        <p:spPr>
          <a:xfrm>
            <a:off x="1905000" y="5521067"/>
            <a:ext cx="8890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4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适用场景 SCENARIOS</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1" name="AutoShape 31"/>
          <p:cNvSpPr/>
          <p:nvPr/>
        </p:nvSpPr>
        <p:spPr>
          <a:xfrm>
            <a:off x="1905000" y="5902067"/>
            <a:ext cx="9144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4B5563"/>
                </a:solidFill>
                <a:effectLst/>
                <a:uLnTx/>
                <a:uFillTx/>
                <a:latin typeface="Noto Sans SC"/>
                <a:ea typeface="Noto Sans SC"/>
                <a:cs typeface="Noto Sans SC"/>
                <a:sym typeface="Noto Sans SC"/>
              </a:rPr>
              <a:t>聚焦于养老院、病房、居家照护等对个人隐私极其敏感的场所，利用隐私计算技术提供安全、全程、无感知的智能监测与照护服务，实现技术与伦理的平衡。</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 name="AutoShape 3"/>
          <p:cNvSpPr/>
          <p:nvPr/>
        </p:nvSpPr>
        <p:spPr>
          <a:xfrm>
            <a:off x="762000" y="508000"/>
            <a:ext cx="3556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dirty="0">
                <a:solidFill>
                  <a:srgbClr val="333333"/>
                </a:solidFill>
                <a:latin typeface="Noto Sans SC"/>
                <a:ea typeface="Noto Sans SC"/>
                <a:cs typeface="Noto Sans SC"/>
                <a:sym typeface="Noto Sans SC"/>
              </a:rPr>
              <a:t>5</a:t>
            </a:r>
            <a:r>
              <a:rPr lang="en-US" sz="3600" b="1" i="0" u="none" strike="noStrike" dirty="0">
                <a:solidFill>
                  <a:srgbClr val="333333"/>
                </a:solidFill>
                <a:latin typeface="Noto Sans SC"/>
                <a:ea typeface="Noto Sans SC"/>
                <a:cs typeface="Noto Sans SC"/>
                <a:sym typeface="Noto Sans SC"/>
              </a:rPr>
              <a:t>)隐私保护</a:t>
            </a:r>
            <a:r>
              <a:rPr lang="zh-CN" altLang="en-US" sz="3600" b="1" i="0" u="none" strike="noStrike" dirty="0">
                <a:solidFill>
                  <a:srgbClr val="333333"/>
                </a:solidFill>
                <a:latin typeface="Noto Sans SC"/>
                <a:ea typeface="Noto Sans SC"/>
                <a:cs typeface="Noto Sans SC"/>
                <a:sym typeface="Noto Sans SC"/>
              </a:rPr>
              <a:t>设计</a:t>
            </a:r>
            <a:endParaRPr lang="en-US" sz="1100" dirty="0"/>
          </a:p>
        </p:txBody>
      </p:sp>
      <p:sp>
        <p:nvSpPr>
          <p:cNvPr id="32"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1397000"/>
            <a:ext cx="3302000" cy="4826000"/>
          </a:xfrm>
          <a:prstGeom prst="roundRect">
            <a:avLst>
              <a:gd name="adj" fmla="val 4615"/>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5" name="AutoShape 5"/>
          <p:cNvSpPr/>
          <p:nvPr/>
        </p:nvSpPr>
        <p:spPr>
          <a:xfrm>
            <a:off x="1016000" y="1651000"/>
            <a:ext cx="609600" cy="609600"/>
          </a:xfrm>
          <a:prstGeom prst="ellipse">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1778000"/>
            <a:ext cx="355600" cy="355600"/>
          </a:xfrm>
          <a:prstGeom prst="rect">
            <a:avLst/>
          </a:prstGeom>
        </p:spPr>
      </p:pic>
      <p:sp>
        <p:nvSpPr>
          <p:cNvPr id="7" name="AutoShape 7"/>
          <p:cNvSpPr/>
          <p:nvPr/>
        </p:nvSpPr>
        <p:spPr>
          <a:xfrm>
            <a:off x="1778000" y="1752600"/>
            <a:ext cx="2032000" cy="406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altLang="zh-CN" sz="1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SecureCore </a:t>
            </a:r>
            <a:r>
              <a:rPr kumimoji="0" lang="zh-CN" altLang="en-US" sz="1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数据流转</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cxnSp>
        <p:nvCxnSpPr>
          <p:cNvPr id="8" name="Connector 8"/>
          <p:cNvCxnSpPr/>
          <p:nvPr/>
        </p:nvCxnSpPr>
        <p:spPr>
          <a:xfrm rot="-15626">
            <a:off x="1016014" y="24066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1016000" y="2667000"/>
            <a:ext cx="2794000" cy="762000"/>
          </a:xfrm>
          <a:prstGeom prst="roundRect">
            <a:avLst>
              <a:gd name="adj" fmla="val 10000"/>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0" name="AutoShape 10"/>
          <p:cNvSpPr/>
          <p:nvPr/>
        </p:nvSpPr>
        <p:spPr>
          <a:xfrm>
            <a:off x="1143000" y="2730500"/>
            <a:ext cx="2540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01. 帧校验 (Validation)</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1" name="AutoShape 11"/>
          <p:cNvSpPr/>
          <p:nvPr/>
        </p:nvSpPr>
        <p:spPr>
          <a:xfrm>
            <a:off x="1143000" y="3048000"/>
            <a:ext cx="2540000" cy="317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验证视频帧的完整性与真实性，确保源头可信。</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2" name="AutoShape 12"/>
          <p:cNvSpPr/>
          <p:nvPr/>
        </p:nvSpPr>
        <p:spPr>
          <a:xfrm>
            <a:off x="1016000" y="3556000"/>
            <a:ext cx="2794000" cy="762000"/>
          </a:xfrm>
          <a:prstGeom prst="roundRect">
            <a:avLst>
              <a:gd name="adj" fmla="val 10000"/>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3" name="AutoShape 13"/>
          <p:cNvSpPr/>
          <p:nvPr/>
        </p:nvSpPr>
        <p:spPr>
          <a:xfrm>
            <a:off x="1143000" y="3619500"/>
            <a:ext cx="2540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02. 人体检测 (Detection)</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4" name="AutoShape 14"/>
          <p:cNvSpPr/>
          <p:nvPr/>
        </p:nvSpPr>
        <p:spPr>
          <a:xfrm>
            <a:off x="1143000" y="3937000"/>
            <a:ext cx="2540000" cy="317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定位人体目标，仅提取轮廓特征，不识别身份。</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5" name="AutoShape 15"/>
          <p:cNvSpPr/>
          <p:nvPr/>
        </p:nvSpPr>
        <p:spPr>
          <a:xfrm>
            <a:off x="1016000" y="4445000"/>
            <a:ext cx="2794000" cy="762000"/>
          </a:xfrm>
          <a:prstGeom prst="roundRect">
            <a:avLst>
              <a:gd name="adj" fmla="val 10000"/>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6" name="AutoShape 16"/>
          <p:cNvSpPr/>
          <p:nvPr/>
        </p:nvSpPr>
        <p:spPr>
          <a:xfrm>
            <a:off x="1143000" y="4508500"/>
            <a:ext cx="2540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03. 人脸模糊 (Obfuscation)</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7" name="AutoShape 17"/>
          <p:cNvSpPr/>
          <p:nvPr/>
        </p:nvSpPr>
        <p:spPr>
          <a:xfrm>
            <a:off x="1143000" y="4826000"/>
            <a:ext cx="2540000" cy="317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zh-CN" alt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在</a:t>
            </a:r>
            <a:r>
              <a:rPr kumimoji="0" lang="en-US" altLang="zh-CN"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 SecureCore </a:t>
            </a:r>
            <a:r>
              <a:rPr kumimoji="0" lang="zh-CN" alt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逻辑隔离边界内执行高强度实时模糊，降低身份可识别性</a:t>
            </a: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8" name="AutoShape 18"/>
          <p:cNvSpPr/>
          <p:nvPr/>
        </p:nvSpPr>
        <p:spPr>
          <a:xfrm>
            <a:off x="1016000" y="5334000"/>
            <a:ext cx="2794000" cy="635000"/>
          </a:xfrm>
          <a:prstGeom prst="roundRect">
            <a:avLst>
              <a:gd name="adj" fmla="val 12000"/>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9" name="AutoShape 19"/>
          <p:cNvSpPr/>
          <p:nvPr/>
        </p:nvSpPr>
        <p:spPr>
          <a:xfrm>
            <a:off x="1143000" y="5397500"/>
            <a:ext cx="254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生成仅含事件类型的匿名摘要，输出脱敏数据。</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0" name="AutoShape 20"/>
          <p:cNvSpPr/>
          <p:nvPr/>
        </p:nvSpPr>
        <p:spPr>
          <a:xfrm>
            <a:off x="4445000" y="1397000"/>
            <a:ext cx="3302000" cy="4826000"/>
          </a:xfrm>
          <a:prstGeom prst="roundRect">
            <a:avLst>
              <a:gd name="adj" fmla="val 4615"/>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1" name="AutoShape 21"/>
          <p:cNvSpPr/>
          <p:nvPr/>
        </p:nvSpPr>
        <p:spPr>
          <a:xfrm>
            <a:off x="4699000" y="1651000"/>
            <a:ext cx="609600" cy="609600"/>
          </a:xfrm>
          <a:prstGeom prst="ellipse">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26000" y="1778000"/>
            <a:ext cx="355600" cy="355600"/>
          </a:xfrm>
          <a:prstGeom prst="rect">
            <a:avLst/>
          </a:prstGeom>
        </p:spPr>
      </p:pic>
      <p:sp>
        <p:nvSpPr>
          <p:cNvPr id="23" name="AutoShape 23"/>
          <p:cNvSpPr/>
          <p:nvPr/>
        </p:nvSpPr>
        <p:spPr>
          <a:xfrm>
            <a:off x="5461000" y="1752600"/>
            <a:ext cx="2159000" cy="406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隐私保护技术栈</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cxnSp>
        <p:nvCxnSpPr>
          <p:cNvPr id="24" name="Connector 24"/>
          <p:cNvCxnSpPr/>
          <p:nvPr/>
        </p:nvCxnSpPr>
        <p:spPr>
          <a:xfrm rot="-15626">
            <a:off x="4699014" y="24066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5" name="AutoShape 25"/>
          <p:cNvSpPr/>
          <p:nvPr/>
        </p:nvSpPr>
        <p:spPr>
          <a:xfrm>
            <a:off x="4699000" y="2667000"/>
            <a:ext cx="2794000" cy="1016000"/>
          </a:xfrm>
          <a:prstGeom prst="roundRect">
            <a:avLst>
              <a:gd name="adj" fmla="val 7500"/>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6" name="AutoShape 26"/>
          <p:cNvSpPr/>
          <p:nvPr/>
        </p:nvSpPr>
        <p:spPr>
          <a:xfrm>
            <a:off x="4826000" y="2768600"/>
            <a:ext cx="2540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高精度人脸检测与模糊</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7" name="AutoShape 27"/>
          <p:cNvSpPr/>
          <p:nvPr/>
        </p:nvSpPr>
        <p:spPr>
          <a:xfrm>
            <a:off x="4826000" y="3111500"/>
            <a:ext cx="254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基于 BlazeFace 检测，应用 51x51 像素高斯模糊，确保特征完全不可辨认。</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8" name="AutoShape 28"/>
          <p:cNvSpPr/>
          <p:nvPr/>
        </p:nvSpPr>
        <p:spPr>
          <a:xfrm>
            <a:off x="4699000" y="3810000"/>
            <a:ext cx="2794000" cy="1016000"/>
          </a:xfrm>
          <a:prstGeom prst="roundRect">
            <a:avLst>
              <a:gd name="adj" fmla="val 7500"/>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29" name="AutoShape 29"/>
          <p:cNvSpPr/>
          <p:nvPr/>
        </p:nvSpPr>
        <p:spPr>
          <a:xfrm>
            <a:off x="4826000" y="3911600"/>
            <a:ext cx="2540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动态 ID 匿名化映射</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0" name="AutoShape 30"/>
          <p:cNvSpPr/>
          <p:nvPr/>
        </p:nvSpPr>
        <p:spPr>
          <a:xfrm>
            <a:off x="4826000" y="4254500"/>
            <a:ext cx="254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为新目标生成随机匿名ID（如p03），映射关系内存临时存储，会话结束即销毁。</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1" name="AutoShape 31"/>
          <p:cNvSpPr/>
          <p:nvPr/>
        </p:nvSpPr>
        <p:spPr>
          <a:xfrm>
            <a:off x="4699000" y="4953000"/>
            <a:ext cx="2794000" cy="1016000"/>
          </a:xfrm>
          <a:prstGeom prst="roundRect">
            <a:avLst>
              <a:gd name="adj" fmla="val 7500"/>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2" name="AutoShape 32"/>
          <p:cNvSpPr/>
          <p:nvPr/>
        </p:nvSpPr>
        <p:spPr>
          <a:xfrm>
            <a:off x="4826000" y="5054600"/>
            <a:ext cx="2540000" cy="279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差分隐私噪声注入</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3" name="AutoShape 33"/>
          <p:cNvSpPr/>
          <p:nvPr/>
        </p:nvSpPr>
        <p:spPr>
          <a:xfrm>
            <a:off x="4826000" y="5397500"/>
            <a:ext cx="254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采用拉普拉斯机制向统计结果添加随机噪声，有效防止通过聚合数据反推个体。</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4" name="AutoShape 34"/>
          <p:cNvSpPr/>
          <p:nvPr/>
        </p:nvSpPr>
        <p:spPr>
          <a:xfrm>
            <a:off x="8128000" y="1397000"/>
            <a:ext cx="3302000" cy="4826000"/>
          </a:xfrm>
          <a:prstGeom prst="roundRect">
            <a:avLst>
              <a:gd name="adj" fmla="val 4615"/>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5" name="AutoShape 35"/>
          <p:cNvSpPr/>
          <p:nvPr/>
        </p:nvSpPr>
        <p:spPr>
          <a:xfrm>
            <a:off x="8382000" y="1651000"/>
            <a:ext cx="609600" cy="609600"/>
          </a:xfrm>
          <a:prstGeom prst="ellipse">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09000" y="1778000"/>
            <a:ext cx="355600" cy="355600"/>
          </a:xfrm>
          <a:prstGeom prst="rect">
            <a:avLst/>
          </a:prstGeom>
        </p:spPr>
      </p:pic>
      <p:sp>
        <p:nvSpPr>
          <p:cNvPr id="37" name="AutoShape 37"/>
          <p:cNvSpPr/>
          <p:nvPr/>
        </p:nvSpPr>
        <p:spPr>
          <a:xfrm>
            <a:off x="9144000" y="1752600"/>
            <a:ext cx="2032000" cy="4064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落地方案与原则</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cxnSp>
        <p:nvCxnSpPr>
          <p:cNvPr id="38" name="Connector 38"/>
          <p:cNvCxnSpPr/>
          <p:nvPr/>
        </p:nvCxnSpPr>
        <p:spPr>
          <a:xfrm rot="-15626">
            <a:off x="8382014" y="2406650"/>
            <a:ext cx="279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39" name="AutoShape 39"/>
          <p:cNvSpPr/>
          <p:nvPr/>
        </p:nvSpPr>
        <p:spPr>
          <a:xfrm>
            <a:off x="8382000" y="2667000"/>
            <a:ext cx="2794000" cy="1270000"/>
          </a:xfrm>
          <a:prstGeom prst="roundRect">
            <a:avLst>
              <a:gd name="adj" fmla="val 6000"/>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0" name="AutoShape 40"/>
          <p:cNvSpPr/>
          <p:nvPr/>
        </p:nvSpPr>
        <p:spPr>
          <a:xfrm>
            <a:off x="8509000" y="2794000"/>
            <a:ext cx="2540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4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平滑迁移的架构方案</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1" name="AutoShape 41"/>
          <p:cNvSpPr/>
          <p:nvPr/>
        </p:nvSpPr>
        <p:spPr>
          <a:xfrm>
            <a:off x="8509000" y="3175000"/>
            <a:ext cx="2540000" cy="635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08000"/>
              </a:lnSpc>
              <a:spcBef>
                <a:spcPts val="0"/>
              </a:spcBef>
              <a:spcAft>
                <a:spcPts val="0"/>
              </a:spcAft>
              <a:buClr>
                <a:srgbClr val="000000"/>
              </a:buClr>
              <a:buSzTx/>
              <a:buFont typeface="Arial" panose="020B0704020202020204"/>
              <a:buNone/>
              <a:defRPr/>
            </a:pPr>
            <a:r>
              <a:rPr lang="zh-CN" altLang="en-US" sz="1100" dirty="0">
                <a:solidFill>
                  <a:srgbClr val="6B7280"/>
                </a:solidFill>
                <a:latin typeface="Noto Sans SC"/>
                <a:ea typeface="Noto Sans SC"/>
              </a:rPr>
              <a:t>当前基于软件级原型验证，后续可平滑迁移至</a:t>
            </a:r>
            <a:r>
              <a:rPr lang="en-US" altLang="zh-CN" sz="1100" dirty="0">
                <a:solidFill>
                  <a:srgbClr val="6B7280"/>
                </a:solidFill>
                <a:latin typeface="Noto Sans SC"/>
                <a:ea typeface="Noto Sans SC"/>
              </a:rPr>
              <a:t> Intel SGX</a:t>
            </a:r>
            <a:r>
              <a:rPr lang="zh-CN" altLang="en-US" sz="1100" dirty="0">
                <a:solidFill>
                  <a:srgbClr val="6B7280"/>
                </a:solidFill>
                <a:latin typeface="Noto Sans SC"/>
                <a:ea typeface="Noto Sans SC"/>
              </a:rPr>
              <a:t>、</a:t>
            </a:r>
            <a:r>
              <a:rPr lang="en-US" altLang="zh-CN" sz="1100" dirty="0">
                <a:solidFill>
                  <a:srgbClr val="6B7280"/>
                </a:solidFill>
                <a:latin typeface="Noto Sans SC"/>
                <a:ea typeface="Noto Sans SC"/>
              </a:rPr>
              <a:t>ARM TrustZone </a:t>
            </a:r>
            <a:r>
              <a:rPr lang="zh-CN" altLang="en-US" sz="1100" dirty="0">
                <a:solidFill>
                  <a:srgbClr val="6B7280"/>
                </a:solidFill>
                <a:latin typeface="Noto Sans SC"/>
                <a:ea typeface="Noto Sans SC"/>
              </a:rPr>
              <a:t>或机密容器等可信执行环境。</a:t>
            </a:r>
          </a:p>
        </p:txBody>
      </p:sp>
      <p:sp>
        <p:nvSpPr>
          <p:cNvPr id="42" name="AutoShape 42"/>
          <p:cNvSpPr/>
          <p:nvPr/>
        </p:nvSpPr>
        <p:spPr>
          <a:xfrm>
            <a:off x="8382000" y="4191000"/>
            <a:ext cx="2794000" cy="1270000"/>
          </a:xfrm>
          <a:prstGeom prst="roundRect">
            <a:avLst>
              <a:gd name="adj" fmla="val 6000"/>
            </a:avLst>
          </a:prstGeom>
          <a:solidFill>
            <a:srgbClr val="F9FAFB">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3" name="AutoShape 43"/>
          <p:cNvSpPr/>
          <p:nvPr/>
        </p:nvSpPr>
        <p:spPr>
          <a:xfrm>
            <a:off x="8509000" y="4318000"/>
            <a:ext cx="254000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4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数据安全核心铁律</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4" name="AutoShape 44"/>
          <p:cNvSpPr/>
          <p:nvPr/>
        </p:nvSpPr>
        <p:spPr>
          <a:xfrm>
            <a:off x="8509000" y="4699000"/>
            <a:ext cx="2540000" cy="7620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zh-CN" altLang="en-US" sz="1100" dirty="0">
                <a:solidFill>
                  <a:srgbClr val="6B7280"/>
                </a:solidFill>
                <a:latin typeface="Noto Sans SC"/>
                <a:ea typeface="Noto Sans SC"/>
              </a:rPr>
              <a:t>原始视频优先在本地受控环境内闭环处理，默认不长期落盘，不作为普通业务数据对外输出。</a:t>
            </a:r>
          </a:p>
        </p:txBody>
      </p:sp>
      <p:sp>
        <p:nvSpPr>
          <p:cNvPr id="46" name="AutoShape 3"/>
          <p:cNvSpPr/>
          <p:nvPr/>
        </p:nvSpPr>
        <p:spPr>
          <a:xfrm>
            <a:off x="762000" y="508000"/>
            <a:ext cx="3556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dirty="0">
                <a:solidFill>
                  <a:srgbClr val="333333"/>
                </a:solidFill>
                <a:latin typeface="Noto Sans SC"/>
                <a:ea typeface="Noto Sans SC"/>
                <a:cs typeface="Noto Sans SC"/>
                <a:sym typeface="Noto Sans SC"/>
              </a:rPr>
              <a:t>5</a:t>
            </a:r>
            <a:r>
              <a:rPr lang="en-US" sz="3600" b="1" i="0" u="none" strike="noStrike" dirty="0">
                <a:solidFill>
                  <a:srgbClr val="333333"/>
                </a:solidFill>
                <a:latin typeface="Noto Sans SC"/>
                <a:ea typeface="Noto Sans SC"/>
                <a:cs typeface="Noto Sans SC"/>
                <a:sym typeface="Noto Sans SC"/>
              </a:rPr>
              <a:t>)隐私保护</a:t>
            </a:r>
            <a:r>
              <a:rPr lang="zh-CN" altLang="en-US" sz="3600" b="1" i="0" u="none" strike="noStrike" dirty="0">
                <a:solidFill>
                  <a:srgbClr val="333333"/>
                </a:solidFill>
                <a:latin typeface="Noto Sans SC"/>
                <a:ea typeface="Noto Sans SC"/>
                <a:cs typeface="Noto Sans SC"/>
                <a:sym typeface="Noto Sans SC"/>
              </a:rPr>
              <a:t>设计</a:t>
            </a:r>
            <a:endParaRPr lang="en-US" sz="1100" dirty="0"/>
          </a:p>
        </p:txBody>
      </p:sp>
      <p:sp>
        <p:nvSpPr>
          <p:cNvPr id="47"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4847624" y="635000"/>
            <a:ext cx="6264876"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 name="AutoShape 4"/>
          <p:cNvSpPr/>
          <p:nvPr/>
        </p:nvSpPr>
        <p:spPr>
          <a:xfrm>
            <a:off x="762000" y="1397000"/>
            <a:ext cx="3302000" cy="4064000"/>
          </a:xfrm>
          <a:prstGeom prst="roundRect">
            <a:avLst>
              <a:gd name="adj" fmla="val 4615"/>
            </a:avLst>
          </a:prstGeom>
          <a:solidFill>
            <a:srgbClr val="FFFFFF">
              <a:alpha val="100000"/>
            </a:srgbClr>
          </a:solidFill>
          <a:ln w="25400" cap="flat" cmpd="sng">
            <a:noFill/>
            <a:prstDash val="solid"/>
            <a:round/>
          </a:ln>
          <a:effectLst>
            <a:outerShdw blurRad="254000" dist="50800" dir="2700000" algn="tl" rotWithShape="0">
              <a:srgbClr val="000000">
                <a:alpha val="9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5" name="AutoShape 5"/>
          <p:cNvSpPr/>
          <p:nvPr/>
        </p:nvSpPr>
        <p:spPr>
          <a:xfrm>
            <a:off x="952500" y="1651000"/>
            <a:ext cx="2921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VS 传统监控系统</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6" name="AutoShape 6"/>
          <p:cNvSpPr/>
          <p:nvPr/>
        </p:nvSpPr>
        <p:spPr>
          <a:xfrm>
            <a:off x="952500" y="2286000"/>
            <a:ext cx="2921000" cy="635000"/>
          </a:xfrm>
          <a:prstGeom prst="roundRect">
            <a:avLst>
              <a:gd name="adj" fmla="val 16000"/>
            </a:avLst>
          </a:prstGeom>
          <a:solidFill>
            <a:srgbClr val="F3F4F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7" name="AutoShape 7"/>
          <p:cNvSpPr/>
          <p:nvPr/>
        </p:nvSpPr>
        <p:spPr>
          <a:xfrm>
            <a:off x="1079500" y="2349500"/>
            <a:ext cx="1016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数据存储</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8" name="AutoShape 8"/>
          <p:cNvSpPr/>
          <p:nvPr/>
        </p:nvSpPr>
        <p:spPr>
          <a:xfrm>
            <a:off x="2159000" y="2387600"/>
            <a:ext cx="1524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zh-CN" altLang="en-US" sz="12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默认不长期</a:t>
            </a:r>
            <a:r>
              <a:rPr kumimoji="0" lang="en-US" sz="12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存储原始视频帧</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9" name="AutoShape 9"/>
          <p:cNvSpPr/>
          <p:nvPr/>
        </p:nvSpPr>
        <p:spPr>
          <a:xfrm>
            <a:off x="952500" y="3048000"/>
            <a:ext cx="2921000" cy="635000"/>
          </a:xfrm>
          <a:prstGeom prst="roundRect">
            <a:avLst>
              <a:gd name="adj" fmla="val 16000"/>
            </a:avLst>
          </a:prstGeom>
          <a:solidFill>
            <a:srgbClr val="F3F4F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0" name="AutoShape 10"/>
          <p:cNvSpPr/>
          <p:nvPr/>
        </p:nvSpPr>
        <p:spPr>
          <a:xfrm>
            <a:off x="1079500" y="3111500"/>
            <a:ext cx="1016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隐私处理</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1" name="AutoShape 11"/>
          <p:cNvSpPr/>
          <p:nvPr/>
        </p:nvSpPr>
        <p:spPr>
          <a:xfrm>
            <a:off x="2159000" y="3149600"/>
            <a:ext cx="1524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zh-CN" altLang="en-US" sz="12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在</a:t>
            </a:r>
            <a:r>
              <a:rPr kumimoji="0" lang="en-US" altLang="zh-CN" sz="12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SecureCore</a:t>
            </a:r>
            <a:r>
              <a:rPr kumimoji="0" lang="zh-CN" altLang="en-US" sz="12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边界内执行实时脱敏处理</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2" name="AutoShape 12"/>
          <p:cNvSpPr/>
          <p:nvPr/>
        </p:nvSpPr>
        <p:spPr>
          <a:xfrm>
            <a:off x="952500" y="3810000"/>
            <a:ext cx="2921000" cy="635000"/>
          </a:xfrm>
          <a:prstGeom prst="roundRect">
            <a:avLst>
              <a:gd name="adj" fmla="val 16000"/>
            </a:avLst>
          </a:prstGeom>
          <a:solidFill>
            <a:srgbClr val="F3F4F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3" name="AutoShape 13"/>
          <p:cNvSpPr/>
          <p:nvPr/>
        </p:nvSpPr>
        <p:spPr>
          <a:xfrm>
            <a:off x="1079500" y="3873500"/>
            <a:ext cx="1016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身份识别</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4" name="AutoShape 14"/>
          <p:cNvSpPr/>
          <p:nvPr/>
        </p:nvSpPr>
        <p:spPr>
          <a:xfrm>
            <a:off x="2159000" y="3911600"/>
            <a:ext cx="1524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zh-CN" altLang="en-US" sz="12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使用临时匿名</a:t>
            </a:r>
            <a:r>
              <a:rPr kumimoji="0" lang="en-US" altLang="zh-CN" sz="12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ID</a:t>
            </a:r>
            <a:r>
              <a:rPr kumimoji="0" lang="zh-CN" altLang="en-US" sz="12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降低身份关联风险</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5" name="AutoShape 15"/>
          <p:cNvSpPr/>
          <p:nvPr/>
        </p:nvSpPr>
        <p:spPr>
          <a:xfrm>
            <a:off x="952500" y="4572000"/>
            <a:ext cx="2921000" cy="635000"/>
          </a:xfrm>
          <a:prstGeom prst="roundRect">
            <a:avLst>
              <a:gd name="adj" fmla="val 16000"/>
            </a:avLst>
          </a:prstGeom>
          <a:solidFill>
            <a:srgbClr val="F3F4F6">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6" name="AutoShape 16"/>
          <p:cNvSpPr/>
          <p:nvPr/>
        </p:nvSpPr>
        <p:spPr>
          <a:xfrm>
            <a:off x="1079500" y="4635500"/>
            <a:ext cx="1016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统计安全</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7" name="AutoShape 17"/>
          <p:cNvSpPr/>
          <p:nvPr/>
        </p:nvSpPr>
        <p:spPr>
          <a:xfrm>
            <a:off x="2159000" y="4673600"/>
            <a:ext cx="1524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zh-CN" altLang="en-US" sz="12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在聚合统计发布中引入差分隐私保护</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8" name="AutoShape 18"/>
          <p:cNvSpPr/>
          <p:nvPr/>
        </p:nvSpPr>
        <p:spPr>
          <a:xfrm>
            <a:off x="4191000" y="1397000"/>
            <a:ext cx="3302000" cy="4064000"/>
          </a:xfrm>
          <a:prstGeom prst="roundRect">
            <a:avLst>
              <a:gd name="adj" fmla="val 4615"/>
            </a:avLst>
          </a:prstGeom>
          <a:solidFill>
            <a:srgbClr val="FFFFFF">
              <a:alpha val="100000"/>
            </a:srgbClr>
          </a:solidFill>
          <a:ln w="25400" cap="flat" cmpd="sng">
            <a:noFill/>
            <a:prstDash val="solid"/>
            <a:round/>
          </a:ln>
          <a:effectLst>
            <a:outerShdw blurRad="254000" dist="50800" dir="2700000" algn="tl" rotWithShape="0">
              <a:srgbClr val="000000">
                <a:alpha val="9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19" name="AutoShape 19"/>
          <p:cNvSpPr/>
          <p:nvPr/>
        </p:nvSpPr>
        <p:spPr>
          <a:xfrm>
            <a:off x="4508500" y="1651000"/>
            <a:ext cx="2921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五层全链路保护体系</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08500" y="2286000"/>
            <a:ext cx="304800" cy="304800"/>
          </a:xfrm>
          <a:prstGeom prst="rect">
            <a:avLst/>
          </a:prstGeom>
        </p:spPr>
      </p:pic>
      <p:sp>
        <p:nvSpPr>
          <p:cNvPr id="21" name="AutoShape 21"/>
          <p:cNvSpPr/>
          <p:nvPr/>
        </p:nvSpPr>
        <p:spPr>
          <a:xfrm>
            <a:off x="4953000" y="2260600"/>
            <a:ext cx="254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zh-CN" alt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软件级逻辑隔离执行（面向</a:t>
            </a:r>
            <a:r>
              <a:rPr kumimoji="0" lang="en-US" altLang="zh-CN"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TEE</a:t>
            </a:r>
            <a:r>
              <a:rPr kumimoji="0" lang="zh-CN" alt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迁移）</a:t>
            </a:r>
            <a:r>
              <a:rPr kumimoji="0" lang="en-US" sz="12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(边界安全)</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8500" y="2921000"/>
            <a:ext cx="304800" cy="304800"/>
          </a:xfrm>
          <a:prstGeom prst="rect">
            <a:avLst/>
          </a:prstGeom>
        </p:spPr>
      </p:pic>
      <p:sp>
        <p:nvSpPr>
          <p:cNvPr id="23" name="AutoShape 23"/>
          <p:cNvSpPr/>
          <p:nvPr/>
        </p:nvSpPr>
        <p:spPr>
          <a:xfrm>
            <a:off x="4953000" y="2895600"/>
            <a:ext cx="254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人脸实时动态模糊</a:t>
            </a:r>
            <a:r>
              <a:rPr kumimoji="0" lang="en-US" sz="12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(视觉脱敏)</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08500" y="3556000"/>
            <a:ext cx="304800" cy="304800"/>
          </a:xfrm>
          <a:prstGeom prst="rect">
            <a:avLst/>
          </a:prstGeom>
        </p:spPr>
      </p:pic>
      <p:sp>
        <p:nvSpPr>
          <p:cNvPr id="25" name="AutoShape 25"/>
          <p:cNvSpPr/>
          <p:nvPr/>
        </p:nvSpPr>
        <p:spPr>
          <a:xfrm>
            <a:off x="4953000" y="3530600"/>
            <a:ext cx="254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用户ID动态匿名化</a:t>
            </a:r>
            <a:r>
              <a:rPr kumimoji="0" lang="en-US" sz="12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(关联阻断)</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08500" y="4191000"/>
            <a:ext cx="304800" cy="304800"/>
          </a:xfrm>
          <a:prstGeom prst="rect">
            <a:avLst/>
          </a:prstGeom>
        </p:spPr>
      </p:pic>
      <p:sp>
        <p:nvSpPr>
          <p:cNvPr id="27" name="AutoShape 27"/>
          <p:cNvSpPr/>
          <p:nvPr/>
        </p:nvSpPr>
        <p:spPr>
          <a:xfrm>
            <a:off x="4953000" y="4165600"/>
            <a:ext cx="254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数据最小化存储</a:t>
            </a:r>
            <a:r>
              <a:rPr kumimoji="0" lang="en-US" sz="12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(留存合规)</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08500" y="4826000"/>
            <a:ext cx="304800" cy="304800"/>
          </a:xfrm>
          <a:prstGeom prst="rect">
            <a:avLst/>
          </a:prstGeom>
        </p:spPr>
      </p:pic>
      <p:sp>
        <p:nvSpPr>
          <p:cNvPr id="29" name="AutoShape 29"/>
          <p:cNvSpPr/>
          <p:nvPr/>
        </p:nvSpPr>
        <p:spPr>
          <a:xfrm>
            <a:off x="4953000" y="4800600"/>
            <a:ext cx="2540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300" b="1" i="0" u="none" strike="noStrike" kern="0" cap="none" spc="0" normalizeH="0" baseline="0" noProof="0" dirty="0">
                <a:ln>
                  <a:noFill/>
                </a:ln>
                <a:solidFill>
                  <a:srgbClr val="374151"/>
                </a:solidFill>
                <a:effectLst/>
                <a:uLnTx/>
                <a:uFillTx/>
                <a:latin typeface="Noto Sans SC"/>
                <a:ea typeface="Noto Sans SC"/>
                <a:cs typeface="Noto Sans SC"/>
                <a:sym typeface="Noto Sans SC"/>
              </a:rPr>
              <a:t>统计数据隐私增强</a:t>
            </a:r>
            <a:r>
              <a:rPr kumimoji="0" lang="en-US" sz="12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(结果可用)</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0" name="AutoShape 30"/>
          <p:cNvSpPr/>
          <p:nvPr/>
        </p:nvSpPr>
        <p:spPr>
          <a:xfrm>
            <a:off x="7874000" y="1397000"/>
            <a:ext cx="3302000" cy="4064000"/>
          </a:xfrm>
          <a:prstGeom prst="roundRect">
            <a:avLst>
              <a:gd name="adj" fmla="val 4615"/>
            </a:avLst>
          </a:prstGeom>
          <a:solidFill>
            <a:srgbClr val="FFFFFF">
              <a:alpha val="100000"/>
            </a:srgbClr>
          </a:solidFill>
          <a:ln w="25400" cap="flat" cmpd="sng">
            <a:noFill/>
            <a:prstDash val="solid"/>
            <a:round/>
          </a:ln>
          <a:effectLst>
            <a:outerShdw blurRad="254000" dist="50800" dir="2700000" algn="tl" rotWithShape="0">
              <a:srgbClr val="000000">
                <a:alpha val="9000"/>
              </a:srgbClr>
            </a:outerShdw>
          </a:effectLst>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1" name="AutoShape 31"/>
          <p:cNvSpPr/>
          <p:nvPr/>
        </p:nvSpPr>
        <p:spPr>
          <a:xfrm>
            <a:off x="8064500" y="1651000"/>
            <a:ext cx="2921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核心技术性能指标</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2" name="AutoShape 32"/>
          <p:cNvSpPr/>
          <p:nvPr/>
        </p:nvSpPr>
        <p:spPr>
          <a:xfrm>
            <a:off x="8064500" y="2286000"/>
            <a:ext cx="1460500" cy="1143000"/>
          </a:xfrm>
          <a:prstGeom prst="roundRect">
            <a:avLst>
              <a:gd name="adj" fmla="val 11111"/>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3" name="AutoShape 33"/>
          <p:cNvSpPr/>
          <p:nvPr/>
        </p:nvSpPr>
        <p:spPr>
          <a:xfrm>
            <a:off x="8064500" y="2413000"/>
            <a:ext cx="1460500" cy="4445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2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&gt;90%</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4" name="AutoShape 34"/>
          <p:cNvSpPr/>
          <p:nvPr/>
        </p:nvSpPr>
        <p:spPr>
          <a:xfrm>
            <a:off x="8064500" y="2984500"/>
            <a:ext cx="14605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err="1">
                <a:ln>
                  <a:noFill/>
                </a:ln>
                <a:solidFill>
                  <a:srgbClr val="6B7280"/>
                </a:solidFill>
                <a:effectLst/>
                <a:uLnTx/>
                <a:uFillTx/>
                <a:latin typeface="Noto Sans SC"/>
                <a:ea typeface="Noto Sans SC"/>
                <a:cs typeface="Noto Sans SC"/>
                <a:sym typeface="Noto Sans SC"/>
              </a:rPr>
              <a:t>目标检测</a:t>
            </a:r>
            <a:r>
              <a:rPr kumimoji="0" lang="zh-CN" alt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识别</a:t>
            </a: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率</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5" name="AutoShape 35"/>
          <p:cNvSpPr/>
          <p:nvPr/>
        </p:nvSpPr>
        <p:spPr>
          <a:xfrm>
            <a:off x="9652000" y="2286000"/>
            <a:ext cx="1460500" cy="1143000"/>
          </a:xfrm>
          <a:prstGeom prst="roundRect">
            <a:avLst>
              <a:gd name="adj" fmla="val 11111"/>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6" name="AutoShape 36"/>
          <p:cNvSpPr/>
          <p:nvPr/>
        </p:nvSpPr>
        <p:spPr>
          <a:xfrm>
            <a:off x="9652000" y="2413000"/>
            <a:ext cx="1460500" cy="4445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2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&lt;5ms</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7" name="AutoShape 37"/>
          <p:cNvSpPr/>
          <p:nvPr/>
        </p:nvSpPr>
        <p:spPr>
          <a:xfrm>
            <a:off x="9652000" y="2984500"/>
            <a:ext cx="14605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单帧模糊处理延迟</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8" name="AutoShape 38"/>
          <p:cNvSpPr/>
          <p:nvPr/>
        </p:nvSpPr>
        <p:spPr>
          <a:xfrm>
            <a:off x="8064500" y="3683000"/>
            <a:ext cx="1460500" cy="1143000"/>
          </a:xfrm>
          <a:prstGeom prst="roundRect">
            <a:avLst>
              <a:gd name="adj" fmla="val 11111"/>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39" name="AutoShape 39"/>
          <p:cNvSpPr/>
          <p:nvPr/>
        </p:nvSpPr>
        <p:spPr>
          <a:xfrm>
            <a:off x="8064500" y="3810000"/>
            <a:ext cx="1460500" cy="4445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2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ε=0.8</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0" name="AutoShape 40"/>
          <p:cNvSpPr/>
          <p:nvPr/>
        </p:nvSpPr>
        <p:spPr>
          <a:xfrm>
            <a:off x="8064500" y="4381500"/>
            <a:ext cx="14605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默认隐私预算设定</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1" name="AutoShape 41"/>
          <p:cNvSpPr/>
          <p:nvPr/>
        </p:nvSpPr>
        <p:spPr>
          <a:xfrm>
            <a:off x="9652000" y="3683000"/>
            <a:ext cx="1460500" cy="1143000"/>
          </a:xfrm>
          <a:prstGeom prst="roundRect">
            <a:avLst>
              <a:gd name="adj" fmla="val 11111"/>
            </a:avLst>
          </a:prstGeom>
          <a:solidFill>
            <a:srgbClr val="ECFDF5">
              <a:alpha val="10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2" name="AutoShape 42"/>
          <p:cNvSpPr/>
          <p:nvPr/>
        </p:nvSpPr>
        <p:spPr>
          <a:xfrm>
            <a:off x="9652000" y="3810000"/>
            <a:ext cx="1460500" cy="4445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2800" b="1" i="0" u="none" strike="noStrike" kern="0" cap="none" spc="0" normalizeH="0" baseline="0" noProof="0" dirty="0">
                <a:ln>
                  <a:noFill/>
                </a:ln>
                <a:solidFill>
                  <a:srgbClr val="10B981"/>
                </a:solidFill>
                <a:effectLst/>
                <a:uLnTx/>
                <a:uFillTx/>
                <a:latin typeface="Noto Sans SC"/>
                <a:ea typeface="Noto Sans SC"/>
                <a:cs typeface="Noto Sans SC"/>
                <a:sym typeface="Noto Sans SC"/>
              </a:rPr>
              <a:t>±3%</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3" name="AutoShape 43"/>
          <p:cNvSpPr/>
          <p:nvPr/>
        </p:nvSpPr>
        <p:spPr>
          <a:xfrm>
            <a:off x="9652000" y="4381500"/>
            <a:ext cx="1460500" cy="381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100" b="0" i="0" u="none" strike="noStrike" kern="0" cap="none" spc="0" normalizeH="0" baseline="0" noProof="0" dirty="0">
                <a:ln>
                  <a:noFill/>
                </a:ln>
                <a:solidFill>
                  <a:srgbClr val="6B7280"/>
                </a:solidFill>
                <a:effectLst/>
                <a:uLnTx/>
                <a:uFillTx/>
                <a:latin typeface="Noto Sans SC"/>
                <a:ea typeface="Noto Sans SC"/>
                <a:cs typeface="Noto Sans SC"/>
                <a:sym typeface="Noto Sans SC"/>
              </a:rPr>
              <a:t>统计数据相对误差</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4" name="AutoShape 44"/>
          <p:cNvSpPr/>
          <p:nvPr/>
        </p:nvSpPr>
        <p:spPr>
          <a:xfrm>
            <a:off x="762000" y="5715000"/>
            <a:ext cx="10668000" cy="762000"/>
          </a:xfrm>
          <a:prstGeom prst="roundRect">
            <a:avLst>
              <a:gd name="adj" fmla="val 20000"/>
            </a:avLst>
          </a:prstGeom>
          <a:solidFill>
            <a:srgbClr val="10B981">
              <a:alpha val="15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704020202020204"/>
              <a:buNone/>
              <a:defRPr/>
            </a:pPr>
            <a:endParaRPr kumimoji="0" sz="14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5" name="AutoShape 45"/>
          <p:cNvSpPr/>
          <p:nvPr/>
        </p:nvSpPr>
        <p:spPr>
          <a:xfrm>
            <a:off x="762000" y="5867400"/>
            <a:ext cx="10668000" cy="5080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704020202020204"/>
              <a:buNone/>
              <a:defRPr/>
            </a:pPr>
            <a:r>
              <a:rPr kumimoji="0" lang="en-US" sz="1500" b="1" i="0" u="none" strike="noStrike" kern="0" cap="none" spc="0" normalizeH="0" baseline="0" noProof="0" dirty="0">
                <a:ln>
                  <a:noFill/>
                </a:ln>
                <a:solidFill>
                  <a:srgbClr val="1F2937"/>
                </a:solidFill>
                <a:effectLst/>
                <a:uLnTx/>
                <a:uFillTx/>
                <a:latin typeface="Noto Sans SC"/>
                <a:ea typeface="Noto Sans SC"/>
                <a:cs typeface="Noto Sans SC"/>
                <a:sym typeface="Noto Sans SC"/>
              </a:rPr>
              <a:t>总结：</a:t>
            </a:r>
            <a:r>
              <a:rPr kumimoji="0" lang="zh-CN" altLang="en-US" sz="1500" b="1" i="0" u="none" strike="noStrike" kern="0" cap="none" spc="0" normalizeH="0" baseline="0" noProof="0" dirty="0">
                <a:ln>
                  <a:noFill/>
                </a:ln>
                <a:solidFill>
                  <a:srgbClr val="1F2937"/>
                </a:solidFill>
                <a:effectLst/>
                <a:uLnTx/>
                <a:uFillTx/>
                <a:latin typeface="Noto Sans SC"/>
                <a:ea typeface="Noto Sans SC"/>
                <a:cs typeface="Noto Sans SC"/>
                <a:sym typeface="Noto Sans SC"/>
              </a:rPr>
              <a:t>在当前原型条件下，实现了隐私保护、监测效果与工程可落地性的平衡</a:t>
            </a:r>
            <a:endParaRPr kumimoji="0" lang="en-US" sz="1100" b="0" i="0" u="none" strike="noStrike" kern="0" cap="none" spc="0" normalizeH="0" baseline="0" noProof="0" dirty="0">
              <a:ln>
                <a:noFill/>
              </a:ln>
              <a:solidFill>
                <a:srgbClr val="000000"/>
              </a:solidFill>
              <a:effectLst/>
              <a:uLnTx/>
              <a:uFillTx/>
              <a:latin typeface="Arial" panose="020B0704020202020204"/>
              <a:cs typeface="Arial" panose="020B0704020202020204"/>
              <a:sym typeface="Arial" panose="020B0704020202020204"/>
            </a:endParaRPr>
          </a:p>
        </p:txBody>
      </p:sp>
      <p:sp>
        <p:nvSpPr>
          <p:cNvPr id="46" name="AutoShape 3"/>
          <p:cNvSpPr/>
          <p:nvPr/>
        </p:nvSpPr>
        <p:spPr>
          <a:xfrm>
            <a:off x="762000" y="508000"/>
            <a:ext cx="3556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dirty="0">
                <a:solidFill>
                  <a:srgbClr val="333333"/>
                </a:solidFill>
                <a:latin typeface="Noto Sans SC"/>
                <a:ea typeface="Noto Sans SC"/>
                <a:cs typeface="Noto Sans SC"/>
                <a:sym typeface="Noto Sans SC"/>
              </a:rPr>
              <a:t>5</a:t>
            </a:r>
            <a:r>
              <a:rPr lang="en-US" sz="3600" b="1" i="0" u="none" strike="noStrike" dirty="0">
                <a:solidFill>
                  <a:srgbClr val="333333"/>
                </a:solidFill>
                <a:latin typeface="Noto Sans SC"/>
                <a:ea typeface="Noto Sans SC"/>
                <a:cs typeface="Noto Sans SC"/>
                <a:sym typeface="Noto Sans SC"/>
              </a:rPr>
              <a:t>)隐私保护</a:t>
            </a:r>
            <a:r>
              <a:rPr lang="zh-CN" altLang="en-US" sz="3600" b="1" i="0" u="none" strike="noStrike" dirty="0">
                <a:solidFill>
                  <a:srgbClr val="333333"/>
                </a:solidFill>
                <a:latin typeface="Noto Sans SC"/>
                <a:ea typeface="Noto Sans SC"/>
                <a:cs typeface="Noto Sans SC"/>
                <a:sym typeface="Noto Sans SC"/>
              </a:rPr>
              <a:t>设计</a:t>
            </a:r>
            <a:endParaRPr lang="en-US" sz="1100" dirty="0"/>
          </a:p>
        </p:txBody>
      </p:sp>
      <p:sp>
        <p:nvSpPr>
          <p:cNvPr id="47"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dirty="0">
                <a:solidFill>
                  <a:srgbClr val="333333"/>
                </a:solidFill>
                <a:latin typeface="Noto Sans SC"/>
                <a:ea typeface="Noto Sans SC"/>
                <a:cs typeface="Noto Sans SC"/>
                <a:sym typeface="Noto Sans SC"/>
              </a:rPr>
              <a:t>登录页</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6" name="图片 5"/>
          <p:cNvPicPr>
            <a:picLocks noChangeAspect="1"/>
          </p:cNvPicPr>
          <p:nvPr/>
        </p:nvPicPr>
        <p:blipFill>
          <a:blip r:embed="rId3"/>
          <a:stretch>
            <a:fillRect/>
          </a:stretch>
        </p:blipFill>
        <p:spPr>
          <a:xfrm>
            <a:off x="1202724" y="1351664"/>
            <a:ext cx="9588843" cy="519607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1202724" y="1345640"/>
            <a:ext cx="9587191" cy="5208120"/>
          </a:xfrm>
          <a:prstGeom prst="rect">
            <a:avLst/>
          </a:prstGeom>
        </p:spPr>
      </p:pic>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用户</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事件看板</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202724" y="1351663"/>
            <a:ext cx="9588843" cy="5212527"/>
          </a:xfrm>
          <a:prstGeom prst="rect">
            <a:avLst/>
          </a:prstGeom>
        </p:spPr>
      </p:pic>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用户</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统计分析</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202724" y="1351664"/>
            <a:ext cx="9588843" cy="5208649"/>
          </a:xfrm>
          <a:prstGeom prst="rect">
            <a:avLst/>
          </a:prstGeom>
        </p:spPr>
      </p:pic>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用户</a:t>
            </a:r>
            <a:r>
              <a:rPr lang="en-US" altLang="zh-CN" sz="3600" b="1" i="0" u="none" strike="noStrike" dirty="0">
                <a:solidFill>
                  <a:srgbClr val="333333"/>
                </a:solidFill>
                <a:latin typeface="Noto Sans SC"/>
                <a:ea typeface="Noto Sans SC"/>
                <a:cs typeface="Noto Sans SC"/>
                <a:sym typeface="Noto Sans SC"/>
              </a:rPr>
              <a:t>-</a:t>
            </a:r>
            <a:r>
              <a:rPr lang="zh-CN" altLang="en-US" sz="3600" b="1" dirty="0">
                <a:solidFill>
                  <a:srgbClr val="333333"/>
                </a:solidFill>
                <a:latin typeface="Noto Sans SC"/>
                <a:ea typeface="Noto Sans SC"/>
                <a:cs typeface="Noto Sans SC"/>
                <a:sym typeface="Noto Sans SC"/>
              </a:rPr>
              <a:t>实时监控</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202724" y="1351664"/>
            <a:ext cx="9588842" cy="5211327"/>
          </a:xfrm>
          <a:prstGeom prst="rect">
            <a:avLst/>
          </a:prstGeom>
        </p:spPr>
      </p:pic>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用户</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视频检测</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202724" y="1351664"/>
            <a:ext cx="9588843" cy="5246967"/>
          </a:xfrm>
          <a:prstGeom prst="rect">
            <a:avLst/>
          </a:prstGeom>
        </p:spPr>
      </p:pic>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用户</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可视化大屏</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202723" y="1351664"/>
            <a:ext cx="9588843" cy="5226026"/>
          </a:xfrm>
          <a:prstGeom prst="rect">
            <a:avLst/>
          </a:prstGeom>
        </p:spPr>
      </p:pic>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用户</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系统设置</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1202724" y="1351664"/>
            <a:ext cx="9588843" cy="5204765"/>
          </a:xfrm>
          <a:prstGeom prst="rect">
            <a:avLst/>
          </a:prstGeom>
        </p:spPr>
      </p:pic>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用户</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系统设置</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1202724" y="1351664"/>
            <a:ext cx="9588843" cy="5218707"/>
          </a:xfrm>
          <a:prstGeom prst="rect">
            <a:avLst/>
          </a:prstGeom>
        </p:spPr>
      </p:pic>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用户</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系统设置</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202724" y="1351664"/>
            <a:ext cx="9586221" cy="5196071"/>
          </a:xfrm>
          <a:prstGeom prst="rect">
            <a:avLst/>
          </a:prstGeom>
        </p:spPr>
      </p:pic>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平台</a:t>
            </a:r>
            <a:r>
              <a:rPr lang="en-US" altLang="zh-CN"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平台分析</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202724" y="1351664"/>
            <a:ext cx="9565009" cy="5196070"/>
          </a:xfrm>
          <a:prstGeom prst="rect">
            <a:avLst/>
          </a:prstGeom>
        </p:spPr>
      </p:pic>
      <p:sp>
        <p:nvSpPr>
          <p:cNvPr id="3"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6)</a:t>
            </a:r>
            <a:r>
              <a:rPr lang="zh-CN" altLang="en-US" sz="3600" b="1" i="0" u="none" strike="noStrike" dirty="0">
                <a:solidFill>
                  <a:srgbClr val="333333"/>
                </a:solidFill>
                <a:latin typeface="Noto Sans SC"/>
                <a:ea typeface="Noto Sans SC"/>
                <a:cs typeface="Noto Sans SC"/>
                <a:sym typeface="Noto Sans SC"/>
              </a:rPr>
              <a:t>系统展示</a:t>
            </a:r>
            <a:r>
              <a:rPr lang="en-US" altLang="zh-CN" sz="3600" b="1" i="0" u="none" strike="noStrike" dirty="0">
                <a:solidFill>
                  <a:srgbClr val="333333"/>
                </a:solidFill>
                <a:latin typeface="Noto Sans SC"/>
                <a:ea typeface="Noto Sans SC"/>
                <a:cs typeface="Noto Sans SC"/>
                <a:sym typeface="Noto Sans SC"/>
              </a:rPr>
              <a:t>-</a:t>
            </a:r>
            <a:r>
              <a:rPr lang="zh-CN" altLang="en-US" sz="3600" b="1" dirty="0">
                <a:solidFill>
                  <a:srgbClr val="333333"/>
                </a:solidFill>
                <a:latin typeface="Noto Sans SC"/>
                <a:ea typeface="Noto Sans SC"/>
                <a:cs typeface="Noto Sans SC"/>
                <a:sym typeface="Noto Sans SC"/>
              </a:rPr>
              <a:t>管理员</a:t>
            </a:r>
            <a:r>
              <a:rPr lang="en-US" altLang="zh-CN" sz="3600" b="1" dirty="0">
                <a:solidFill>
                  <a:srgbClr val="333333"/>
                </a:solidFill>
                <a:latin typeface="Noto Sans SC"/>
                <a:ea typeface="Noto Sans SC"/>
                <a:cs typeface="Noto Sans SC"/>
                <a:sym typeface="Noto Sans SC"/>
              </a:rPr>
              <a:t>-</a:t>
            </a:r>
            <a:r>
              <a:rPr lang="zh-CN" altLang="en-US" sz="3600" b="1" dirty="0">
                <a:solidFill>
                  <a:srgbClr val="333333"/>
                </a:solidFill>
                <a:latin typeface="Noto Sans SC"/>
                <a:ea typeface="Noto Sans SC"/>
                <a:cs typeface="Noto Sans SC"/>
                <a:sym typeface="Noto Sans SC"/>
              </a:rPr>
              <a:t>平台管理</a:t>
            </a:r>
            <a:endParaRPr lang="en-US" sz="1100" dirty="0"/>
          </a:p>
        </p:txBody>
      </p:sp>
      <p:sp>
        <p:nvSpPr>
          <p:cNvPr id="20" name="AutoShape 20"/>
          <p:cNvSpPr/>
          <p:nvPr/>
        </p:nvSpPr>
        <p:spPr>
          <a:xfrm>
            <a:off x="0" y="6756400"/>
            <a:ext cx="12192000" cy="101600"/>
          </a:xfrm>
          <a:prstGeom prst="roundRect">
            <a:avLst>
              <a:gd name="adj" fmla="val 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1397000"/>
            <a:ext cx="3302000" cy="4064000"/>
          </a:xfrm>
          <a:prstGeom prst="roundRect">
            <a:avLst>
              <a:gd name="adj" fmla="val 4615"/>
            </a:avLst>
          </a:prstGeom>
          <a:solidFill>
            <a:srgbClr val="FFFFFF">
              <a:alpha val="100000"/>
            </a:srgbClr>
          </a:solidFill>
          <a:ln w="25400" cap="flat" cmpd="sng">
            <a:noFill/>
            <a:prstDash val="solid"/>
            <a:round/>
          </a:ln>
          <a:effectLst>
            <a:outerShdw blurRad="254000" dist="50800" dir="2700000" algn="tl" rotWithShape="0">
              <a:srgbClr val="000000">
                <a:alpha val="9000"/>
              </a:srgbClr>
            </a:outerShdw>
          </a:effectLst>
        </p:spPr>
        <p:txBody>
          <a:bodyPr vert="horz" wrap="square" lIns="63500" tIns="63500" rIns="63500" bIns="63500" rtlCol="0" anchor="ctr"/>
          <a:lstStyle/>
          <a:p>
            <a:pPr algn="ctr">
              <a:defRPr/>
            </a:pPr>
            <a:endParaRPr dirty="0"/>
          </a:p>
        </p:txBody>
      </p:sp>
      <p:sp>
        <p:nvSpPr>
          <p:cNvPr id="5" name="AutoShape 5"/>
          <p:cNvSpPr/>
          <p:nvPr/>
        </p:nvSpPr>
        <p:spPr>
          <a:xfrm>
            <a:off x="952500" y="1651000"/>
            <a:ext cx="292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0B981"/>
                </a:solidFill>
                <a:latin typeface="Noto Sans SC"/>
                <a:ea typeface="Noto Sans SC"/>
                <a:cs typeface="Noto Sans SC"/>
                <a:sym typeface="Noto Sans SC"/>
              </a:rPr>
              <a:t>隐私保护技术开销</a:t>
            </a:r>
            <a:endParaRPr lang="en-US" sz="2000" dirty="0"/>
          </a:p>
        </p:txBody>
      </p:sp>
      <p:sp>
        <p:nvSpPr>
          <p:cNvPr id="6" name="AutoShape 6"/>
          <p:cNvSpPr/>
          <p:nvPr/>
        </p:nvSpPr>
        <p:spPr>
          <a:xfrm>
            <a:off x="952500" y="2286000"/>
            <a:ext cx="2921000" cy="635000"/>
          </a:xfrm>
          <a:prstGeom prst="roundRect">
            <a:avLst>
              <a:gd name="adj" fmla="val 16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7" name="AutoShape 7"/>
          <p:cNvSpPr/>
          <p:nvPr/>
        </p:nvSpPr>
        <p:spPr>
          <a:xfrm>
            <a:off x="1079500" y="2349500"/>
            <a:ext cx="1143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dirty="0">
                <a:solidFill>
                  <a:srgbClr val="374151"/>
                </a:solidFill>
                <a:latin typeface="Noto Sans SC"/>
                <a:ea typeface="Noto Sans SC"/>
                <a:cs typeface="Noto Sans SC"/>
                <a:sym typeface="Noto Sans SC"/>
              </a:rPr>
              <a:t>完整性校验</a:t>
            </a:r>
            <a:br>
              <a:rPr lang="en-US" sz="1300" b="0" i="0" u="none" strike="noStrike" dirty="0">
                <a:solidFill>
                  <a:srgbClr val="374151"/>
                </a:solidFill>
                <a:latin typeface="Noto Sans SC"/>
                <a:ea typeface="Noto Sans SC"/>
                <a:cs typeface="Noto Sans SC"/>
                <a:sym typeface="Noto Sans SC"/>
              </a:rPr>
            </a:br>
            <a:r>
              <a:rPr lang="en-US" sz="1000" b="0" i="0" u="none" strike="noStrike" dirty="0">
                <a:solidFill>
                  <a:srgbClr val="6B7280"/>
                </a:solidFill>
                <a:latin typeface="Noto Sans SC"/>
                <a:ea typeface="Noto Sans SC"/>
                <a:cs typeface="Noto Sans SC"/>
                <a:sym typeface="Noto Sans SC"/>
              </a:rPr>
              <a:t>启动时执行</a:t>
            </a:r>
            <a:endParaRPr lang="en-US" sz="1100" dirty="0"/>
          </a:p>
        </p:txBody>
      </p:sp>
      <p:sp>
        <p:nvSpPr>
          <p:cNvPr id="8" name="AutoShape 8"/>
          <p:cNvSpPr/>
          <p:nvPr/>
        </p:nvSpPr>
        <p:spPr>
          <a:xfrm>
            <a:off x="2286000" y="2387600"/>
            <a:ext cx="1524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10B981"/>
                </a:solidFill>
                <a:latin typeface="Noto Sans SC"/>
                <a:ea typeface="Noto Sans SC"/>
                <a:cs typeface="Noto Sans SC"/>
                <a:sym typeface="Noto Sans SC"/>
              </a:rPr>
              <a:t>&lt;100ms</a:t>
            </a:r>
            <a:br>
              <a:rPr lang="en-US" sz="1200" b="0" i="0" u="none" strike="noStrike" dirty="0">
                <a:solidFill>
                  <a:srgbClr val="10B981"/>
                </a:solidFill>
                <a:latin typeface="Noto Sans SC"/>
                <a:ea typeface="Noto Sans SC"/>
                <a:cs typeface="Noto Sans SC"/>
                <a:sym typeface="Noto Sans SC"/>
              </a:rPr>
            </a:br>
            <a:r>
              <a:rPr lang="en-US" sz="1000" b="0" i="0" u="none" strike="noStrike" dirty="0">
                <a:solidFill>
                  <a:srgbClr val="6B7280"/>
                </a:solidFill>
                <a:latin typeface="Noto Sans SC"/>
                <a:ea typeface="Noto Sans SC"/>
                <a:cs typeface="Noto Sans SC"/>
                <a:sym typeface="Noto Sans SC"/>
              </a:rPr>
              <a:t>无运行时影响</a:t>
            </a:r>
            <a:endParaRPr lang="en-US" sz="1100" dirty="0"/>
          </a:p>
        </p:txBody>
      </p:sp>
      <p:sp>
        <p:nvSpPr>
          <p:cNvPr id="9" name="AutoShape 9"/>
          <p:cNvSpPr/>
          <p:nvPr/>
        </p:nvSpPr>
        <p:spPr>
          <a:xfrm>
            <a:off x="952500" y="3048000"/>
            <a:ext cx="2921000" cy="635000"/>
          </a:xfrm>
          <a:prstGeom prst="roundRect">
            <a:avLst>
              <a:gd name="adj" fmla="val 16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10" name="AutoShape 10"/>
          <p:cNvSpPr/>
          <p:nvPr/>
        </p:nvSpPr>
        <p:spPr>
          <a:xfrm>
            <a:off x="1079500" y="3111500"/>
            <a:ext cx="1143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dirty="0">
                <a:solidFill>
                  <a:srgbClr val="374151"/>
                </a:solidFill>
                <a:latin typeface="Noto Sans SC"/>
                <a:ea typeface="Noto Sans SC"/>
                <a:cs typeface="Noto Sans SC"/>
                <a:sym typeface="Noto Sans SC"/>
              </a:rPr>
              <a:t>帧输入校验</a:t>
            </a:r>
            <a:br>
              <a:rPr lang="en-US" sz="1300" b="0" i="0" u="none" strike="noStrike" dirty="0">
                <a:solidFill>
                  <a:srgbClr val="374151"/>
                </a:solidFill>
                <a:latin typeface="Noto Sans SC"/>
                <a:ea typeface="Noto Sans SC"/>
                <a:cs typeface="Noto Sans SC"/>
                <a:sym typeface="Noto Sans SC"/>
              </a:rPr>
            </a:br>
            <a:r>
              <a:rPr lang="en-US" sz="1000" b="0" i="0" u="none" strike="noStrike" dirty="0">
                <a:solidFill>
                  <a:srgbClr val="6B7280"/>
                </a:solidFill>
                <a:latin typeface="Noto Sans SC"/>
                <a:ea typeface="Noto Sans SC"/>
                <a:cs typeface="Noto Sans SC"/>
                <a:sym typeface="Noto Sans SC"/>
              </a:rPr>
              <a:t>每帧实时处理</a:t>
            </a:r>
            <a:endParaRPr lang="en-US" sz="1100" dirty="0"/>
          </a:p>
        </p:txBody>
      </p:sp>
      <p:sp>
        <p:nvSpPr>
          <p:cNvPr id="11" name="AutoShape 11"/>
          <p:cNvSpPr/>
          <p:nvPr/>
        </p:nvSpPr>
        <p:spPr>
          <a:xfrm>
            <a:off x="2286000" y="3149600"/>
            <a:ext cx="1524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10B981"/>
                </a:solidFill>
                <a:latin typeface="Noto Sans SC"/>
                <a:ea typeface="Noto Sans SC"/>
                <a:cs typeface="Noto Sans SC"/>
                <a:sym typeface="Noto Sans SC"/>
              </a:rPr>
              <a:t>&lt;0.1ms</a:t>
            </a:r>
            <a:br>
              <a:rPr lang="en-US" sz="1200" b="0" i="0" u="none" strike="noStrike" dirty="0">
                <a:solidFill>
                  <a:srgbClr val="10B981"/>
                </a:solidFill>
                <a:latin typeface="Noto Sans SC"/>
                <a:ea typeface="Noto Sans SC"/>
                <a:cs typeface="Noto Sans SC"/>
                <a:sym typeface="Noto Sans SC"/>
              </a:rPr>
            </a:br>
            <a:r>
              <a:rPr lang="en-US" sz="1000" b="0" i="0" u="none" strike="noStrike" dirty="0">
                <a:solidFill>
                  <a:srgbClr val="6B7280"/>
                </a:solidFill>
                <a:latin typeface="Noto Sans SC"/>
                <a:ea typeface="Noto Sans SC"/>
                <a:cs typeface="Noto Sans SC"/>
                <a:sym typeface="Noto Sans SC"/>
              </a:rPr>
              <a:t>开销可忽略</a:t>
            </a:r>
            <a:endParaRPr lang="en-US" sz="1100" dirty="0"/>
          </a:p>
        </p:txBody>
      </p:sp>
      <p:sp>
        <p:nvSpPr>
          <p:cNvPr id="12" name="AutoShape 12"/>
          <p:cNvSpPr/>
          <p:nvPr/>
        </p:nvSpPr>
        <p:spPr>
          <a:xfrm>
            <a:off x="952500" y="3810000"/>
            <a:ext cx="2921000" cy="635000"/>
          </a:xfrm>
          <a:prstGeom prst="roundRect">
            <a:avLst>
              <a:gd name="adj" fmla="val 16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13" name="AutoShape 13"/>
          <p:cNvSpPr/>
          <p:nvPr/>
        </p:nvSpPr>
        <p:spPr>
          <a:xfrm>
            <a:off x="1079500" y="3873500"/>
            <a:ext cx="1143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dirty="0">
                <a:solidFill>
                  <a:srgbClr val="374151"/>
                </a:solidFill>
                <a:latin typeface="Noto Sans SC"/>
                <a:ea typeface="Noto Sans SC"/>
                <a:cs typeface="Noto Sans SC"/>
                <a:sym typeface="Noto Sans SC"/>
              </a:rPr>
              <a:t>摘要构建</a:t>
            </a:r>
            <a:br>
              <a:rPr lang="en-US" sz="1300" b="0" i="0" u="none" strike="noStrike" dirty="0">
                <a:solidFill>
                  <a:srgbClr val="374151"/>
                </a:solidFill>
                <a:latin typeface="Noto Sans SC"/>
                <a:ea typeface="Noto Sans SC"/>
                <a:cs typeface="Noto Sans SC"/>
                <a:sym typeface="Noto Sans SC"/>
              </a:rPr>
            </a:br>
            <a:r>
              <a:rPr lang="en-US" sz="1000" b="0" i="0" u="none" strike="noStrike" dirty="0">
                <a:solidFill>
                  <a:srgbClr val="6B7280"/>
                </a:solidFill>
                <a:latin typeface="Noto Sans SC"/>
                <a:ea typeface="Noto Sans SC"/>
                <a:cs typeface="Noto Sans SC"/>
                <a:sym typeface="Noto Sans SC"/>
              </a:rPr>
              <a:t>事件触发时</a:t>
            </a:r>
            <a:endParaRPr lang="en-US" sz="1100" dirty="0"/>
          </a:p>
        </p:txBody>
      </p:sp>
      <p:sp>
        <p:nvSpPr>
          <p:cNvPr id="14" name="AutoShape 14"/>
          <p:cNvSpPr/>
          <p:nvPr/>
        </p:nvSpPr>
        <p:spPr>
          <a:xfrm>
            <a:off x="2286000" y="3911600"/>
            <a:ext cx="1524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10B981"/>
                </a:solidFill>
                <a:latin typeface="Noto Sans SC"/>
                <a:ea typeface="Noto Sans SC"/>
                <a:cs typeface="Noto Sans SC"/>
                <a:sym typeface="Noto Sans SC"/>
              </a:rPr>
              <a:t>&lt;1ms</a:t>
            </a:r>
            <a:br>
              <a:rPr lang="en-US" sz="1200" b="0" i="0" u="none" strike="noStrike" dirty="0">
                <a:solidFill>
                  <a:srgbClr val="10B981"/>
                </a:solidFill>
                <a:latin typeface="Noto Sans SC"/>
                <a:ea typeface="Noto Sans SC"/>
                <a:cs typeface="Noto Sans SC"/>
                <a:sym typeface="Noto Sans SC"/>
              </a:rPr>
            </a:br>
            <a:r>
              <a:rPr lang="en-US" sz="1000" b="0" i="0" u="none" strike="noStrike" dirty="0">
                <a:solidFill>
                  <a:srgbClr val="6B7280"/>
                </a:solidFill>
                <a:latin typeface="Noto Sans SC"/>
                <a:ea typeface="Noto Sans SC"/>
                <a:cs typeface="Noto Sans SC"/>
                <a:sym typeface="Noto Sans SC"/>
              </a:rPr>
              <a:t>无明显延迟</a:t>
            </a:r>
            <a:endParaRPr lang="en-US" sz="1100" dirty="0"/>
          </a:p>
        </p:txBody>
      </p:sp>
      <p:sp>
        <p:nvSpPr>
          <p:cNvPr id="15" name="AutoShape 15"/>
          <p:cNvSpPr/>
          <p:nvPr/>
        </p:nvSpPr>
        <p:spPr>
          <a:xfrm>
            <a:off x="952500" y="4572000"/>
            <a:ext cx="2921000" cy="635000"/>
          </a:xfrm>
          <a:prstGeom prst="roundRect">
            <a:avLst>
              <a:gd name="adj" fmla="val 1600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16" name="AutoShape 16"/>
          <p:cNvSpPr/>
          <p:nvPr/>
        </p:nvSpPr>
        <p:spPr>
          <a:xfrm>
            <a:off x="1079500" y="4635500"/>
            <a:ext cx="1143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dirty="0">
                <a:solidFill>
                  <a:srgbClr val="374151"/>
                </a:solidFill>
                <a:latin typeface="Noto Sans SC"/>
                <a:ea typeface="Noto Sans SC"/>
                <a:cs typeface="Noto Sans SC"/>
                <a:sym typeface="Noto Sans SC"/>
              </a:rPr>
              <a:t>ID匿名化</a:t>
            </a:r>
            <a:br>
              <a:rPr lang="en-US" sz="1300" b="0" i="0" u="none" strike="noStrike" dirty="0">
                <a:solidFill>
                  <a:srgbClr val="374151"/>
                </a:solidFill>
                <a:latin typeface="Noto Sans SC"/>
                <a:ea typeface="Noto Sans SC"/>
                <a:cs typeface="Noto Sans SC"/>
                <a:sym typeface="Noto Sans SC"/>
              </a:rPr>
            </a:br>
            <a:r>
              <a:rPr lang="en-US" sz="1000" b="0" i="0" u="none" strike="noStrike" dirty="0">
                <a:solidFill>
                  <a:srgbClr val="6B7280"/>
                </a:solidFill>
                <a:latin typeface="Noto Sans SC"/>
                <a:ea typeface="Noto Sans SC"/>
                <a:cs typeface="Noto Sans SC"/>
                <a:sym typeface="Noto Sans SC"/>
              </a:rPr>
              <a:t>每帧映射</a:t>
            </a:r>
            <a:endParaRPr lang="en-US" sz="1100" dirty="0"/>
          </a:p>
        </p:txBody>
      </p:sp>
      <p:sp>
        <p:nvSpPr>
          <p:cNvPr id="17" name="AutoShape 17"/>
          <p:cNvSpPr/>
          <p:nvPr/>
        </p:nvSpPr>
        <p:spPr>
          <a:xfrm>
            <a:off x="2286000" y="4673600"/>
            <a:ext cx="1524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10B981"/>
                </a:solidFill>
                <a:latin typeface="Noto Sans SC"/>
                <a:ea typeface="Noto Sans SC"/>
                <a:cs typeface="Noto Sans SC"/>
                <a:sym typeface="Noto Sans SC"/>
              </a:rPr>
              <a:t>&lt;0.1ms</a:t>
            </a:r>
            <a:br>
              <a:rPr lang="en-US" sz="1200" b="0" i="0" u="none" strike="noStrike" dirty="0">
                <a:solidFill>
                  <a:srgbClr val="10B981"/>
                </a:solidFill>
                <a:latin typeface="Noto Sans SC"/>
                <a:ea typeface="Noto Sans SC"/>
                <a:cs typeface="Noto Sans SC"/>
                <a:sym typeface="Noto Sans SC"/>
              </a:rPr>
            </a:br>
            <a:r>
              <a:rPr lang="en-US" sz="1000" b="0" i="0" u="none" strike="noStrike" dirty="0">
                <a:solidFill>
                  <a:srgbClr val="6B7280"/>
                </a:solidFill>
                <a:latin typeface="Noto Sans SC"/>
                <a:ea typeface="Noto Sans SC"/>
                <a:cs typeface="Noto Sans SC"/>
                <a:sym typeface="Noto Sans SC"/>
              </a:rPr>
              <a:t>性能无感知</a:t>
            </a:r>
            <a:endParaRPr lang="en-US" sz="1100" dirty="0"/>
          </a:p>
        </p:txBody>
      </p:sp>
      <p:sp>
        <p:nvSpPr>
          <p:cNvPr id="18" name="AutoShape 18"/>
          <p:cNvSpPr/>
          <p:nvPr/>
        </p:nvSpPr>
        <p:spPr>
          <a:xfrm>
            <a:off x="4318000" y="1397000"/>
            <a:ext cx="3302000" cy="4064000"/>
          </a:xfrm>
          <a:prstGeom prst="roundRect">
            <a:avLst>
              <a:gd name="adj" fmla="val 4615"/>
            </a:avLst>
          </a:prstGeom>
          <a:solidFill>
            <a:srgbClr val="FFFFFF">
              <a:alpha val="100000"/>
            </a:srgbClr>
          </a:solidFill>
          <a:ln w="25400" cap="flat" cmpd="sng">
            <a:noFill/>
            <a:prstDash val="solid"/>
            <a:round/>
          </a:ln>
          <a:effectLst>
            <a:outerShdw blurRad="254000" dist="50800" dir="2700000" algn="tl" rotWithShape="0">
              <a:srgbClr val="000000">
                <a:alpha val="9000"/>
              </a:srgbClr>
            </a:outerShdw>
          </a:effectLst>
        </p:spPr>
        <p:txBody>
          <a:bodyPr vert="horz" wrap="square" lIns="63500" tIns="63500" rIns="63500" bIns="63500" rtlCol="0" anchor="ctr"/>
          <a:lstStyle/>
          <a:p>
            <a:pPr algn="ctr">
              <a:defRPr/>
            </a:pPr>
            <a:endParaRPr dirty="0"/>
          </a:p>
        </p:txBody>
      </p:sp>
      <p:sp>
        <p:nvSpPr>
          <p:cNvPr id="19" name="AutoShape 19"/>
          <p:cNvSpPr/>
          <p:nvPr/>
        </p:nvSpPr>
        <p:spPr>
          <a:xfrm>
            <a:off x="4508500" y="1651000"/>
            <a:ext cx="292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0B981"/>
                </a:solidFill>
                <a:latin typeface="Noto Sans SC"/>
                <a:ea typeface="Noto Sans SC"/>
                <a:cs typeface="Noto Sans SC"/>
                <a:sym typeface="Noto Sans SC"/>
              </a:rPr>
              <a:t>核心指标与性能对比</a:t>
            </a:r>
            <a:endParaRPr lang="en-US" sz="2000" dirty="0"/>
          </a:p>
        </p:txBody>
      </p:sp>
      <p:sp>
        <p:nvSpPr>
          <p:cNvPr id="20" name="AutoShape 20"/>
          <p:cNvSpPr/>
          <p:nvPr/>
        </p:nvSpPr>
        <p:spPr>
          <a:xfrm>
            <a:off x="4508500" y="2286000"/>
            <a:ext cx="2921000" cy="762000"/>
          </a:xfrm>
          <a:prstGeom prst="roundRect">
            <a:avLst>
              <a:gd name="adj" fmla="val 13333"/>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21" name="AutoShape 21"/>
          <p:cNvSpPr/>
          <p:nvPr/>
        </p:nvSpPr>
        <p:spPr>
          <a:xfrm>
            <a:off x="4635500" y="2349500"/>
            <a:ext cx="2667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374151"/>
                </a:solidFill>
                <a:latin typeface="Noto Sans SC"/>
                <a:ea typeface="Noto Sans SC"/>
                <a:cs typeface="Noto Sans SC"/>
                <a:sym typeface="Noto Sans SC"/>
              </a:rPr>
              <a:t>平均帧处理延迟</a:t>
            </a:r>
            <a:br>
              <a:rPr lang="en-US" sz="1200" b="0" i="0" u="none" strike="noStrike" dirty="0">
                <a:solidFill>
                  <a:srgbClr val="374151"/>
                </a:solidFill>
                <a:latin typeface="Noto Sans SC"/>
                <a:ea typeface="Noto Sans SC"/>
                <a:cs typeface="Noto Sans SC"/>
                <a:sym typeface="Noto Sans SC"/>
              </a:rPr>
            </a:br>
            <a:r>
              <a:rPr lang="en-US" sz="2000" b="1" i="0" u="none" strike="noStrike" dirty="0">
                <a:solidFill>
                  <a:srgbClr val="10B981"/>
                </a:solidFill>
                <a:latin typeface="Noto Sans SC"/>
                <a:ea typeface="Noto Sans SC"/>
                <a:cs typeface="Noto Sans SC"/>
                <a:sym typeface="Noto Sans SC"/>
              </a:rPr>
              <a:t>35ms</a:t>
            </a:r>
            <a:endParaRPr lang="en-US" sz="1100" dirty="0"/>
          </a:p>
        </p:txBody>
      </p:sp>
      <p:sp>
        <p:nvSpPr>
          <p:cNvPr id="22" name="AutoShape 22"/>
          <p:cNvSpPr/>
          <p:nvPr/>
        </p:nvSpPr>
        <p:spPr>
          <a:xfrm>
            <a:off x="4508500" y="3175000"/>
            <a:ext cx="2921000" cy="762000"/>
          </a:xfrm>
          <a:prstGeom prst="roundRect">
            <a:avLst>
              <a:gd name="adj" fmla="val 13333"/>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23" name="AutoShape 23"/>
          <p:cNvSpPr/>
          <p:nvPr/>
        </p:nvSpPr>
        <p:spPr>
          <a:xfrm>
            <a:off x="4635500" y="3238500"/>
            <a:ext cx="2667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dirty="0">
                <a:solidFill>
                  <a:srgbClr val="374151"/>
                </a:solidFill>
                <a:latin typeface="Noto Sans SC"/>
                <a:ea typeface="Noto Sans SC"/>
                <a:cs typeface="Noto Sans SC"/>
                <a:sym typeface="Noto Sans SC"/>
              </a:rPr>
              <a:t>处理帧率:</a:t>
            </a:r>
            <a:r>
              <a:rPr lang="en-US" sz="1600" b="1" i="0" u="none" strike="noStrike" dirty="0">
                <a:solidFill>
                  <a:srgbClr val="10B981"/>
                </a:solidFill>
                <a:latin typeface="Noto Sans SC"/>
                <a:ea typeface="Noto Sans SC"/>
                <a:cs typeface="Noto Sans SC"/>
                <a:sym typeface="Noto Sans SC"/>
              </a:rPr>
              <a:t>&gt;25 FPS</a:t>
            </a:r>
            <a:endParaRPr lang="en-US" sz="1600" dirty="0"/>
          </a:p>
        </p:txBody>
      </p:sp>
      <p:sp>
        <p:nvSpPr>
          <p:cNvPr id="24" name="AutoShape 24"/>
          <p:cNvSpPr/>
          <p:nvPr/>
        </p:nvSpPr>
        <p:spPr>
          <a:xfrm>
            <a:off x="4508500" y="4064000"/>
            <a:ext cx="2921000" cy="889000"/>
          </a:xfrm>
          <a:prstGeom prst="roundRect">
            <a:avLst>
              <a:gd name="adj" fmla="val 11428"/>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25" name="AutoShape 25"/>
          <p:cNvSpPr/>
          <p:nvPr/>
        </p:nvSpPr>
        <p:spPr>
          <a:xfrm>
            <a:off x="4635500" y="4127500"/>
            <a:ext cx="2667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zh-CN" altLang="en-US" sz="1600" b="0" i="0" u="none" strike="noStrike" dirty="0">
                <a:solidFill>
                  <a:srgbClr val="374151"/>
                </a:solidFill>
                <a:latin typeface="Noto Sans SC"/>
                <a:ea typeface="Noto Sans SC"/>
                <a:cs typeface="Noto Sans SC"/>
                <a:sym typeface="Noto Sans SC"/>
              </a:rPr>
              <a:t>模糊处理低损耗</a:t>
            </a:r>
            <a:br>
              <a:rPr lang="en-US" sz="1100" b="0" i="0" u="none" strike="noStrike" dirty="0">
                <a:solidFill>
                  <a:srgbClr val="374151"/>
                </a:solidFill>
                <a:latin typeface="Noto Sans SC"/>
                <a:ea typeface="Noto Sans SC"/>
                <a:cs typeface="Noto Sans SC"/>
                <a:sym typeface="Noto Sans SC"/>
              </a:rPr>
            </a:br>
            <a:r>
              <a:rPr lang="en-US" sz="2000" b="1" i="0" u="none" strike="noStrike" dirty="0">
                <a:solidFill>
                  <a:srgbClr val="10B981"/>
                </a:solidFill>
                <a:latin typeface="Noto Sans SC"/>
                <a:ea typeface="Noto Sans SC"/>
                <a:cs typeface="Noto Sans SC"/>
                <a:sym typeface="Noto Sans SC"/>
              </a:rPr>
              <a:t>&lt; 3%</a:t>
            </a:r>
            <a:r>
              <a:rPr lang="en-US" sz="1200" b="0" i="0" u="none" strike="noStrike" dirty="0">
                <a:solidFill>
                  <a:srgbClr val="374151"/>
                </a:solidFill>
                <a:latin typeface="Noto Sans SC"/>
                <a:ea typeface="Noto Sans SC"/>
                <a:cs typeface="Noto Sans SC"/>
                <a:sym typeface="Noto Sans SC"/>
              </a:rPr>
              <a:t>性能损耗，完全满足实时要求</a:t>
            </a:r>
            <a:endParaRPr lang="en-US" sz="1200" dirty="0"/>
          </a:p>
        </p:txBody>
      </p:sp>
      <p:sp>
        <p:nvSpPr>
          <p:cNvPr id="26" name="AutoShape 26"/>
          <p:cNvSpPr/>
          <p:nvPr/>
        </p:nvSpPr>
        <p:spPr>
          <a:xfrm>
            <a:off x="7874000" y="1397000"/>
            <a:ext cx="3302000" cy="4064000"/>
          </a:xfrm>
          <a:prstGeom prst="roundRect">
            <a:avLst>
              <a:gd name="adj" fmla="val 4615"/>
            </a:avLst>
          </a:prstGeom>
          <a:solidFill>
            <a:srgbClr val="FFFFFF">
              <a:alpha val="100000"/>
            </a:srgbClr>
          </a:solidFill>
          <a:ln w="25400" cap="flat" cmpd="sng">
            <a:noFill/>
            <a:prstDash val="solid"/>
            <a:round/>
          </a:ln>
          <a:effectLst>
            <a:outerShdw blurRad="254000" dist="50800" dir="2700000" algn="tl" rotWithShape="0">
              <a:srgbClr val="000000">
                <a:alpha val="9000"/>
              </a:srgbClr>
            </a:outerShdw>
          </a:effectLst>
        </p:spPr>
        <p:txBody>
          <a:bodyPr vert="horz" wrap="square" lIns="63500" tIns="63500" rIns="63500" bIns="63500" rtlCol="0" anchor="ctr"/>
          <a:lstStyle/>
          <a:p>
            <a:pPr algn="ctr">
              <a:defRPr/>
            </a:pPr>
            <a:endParaRPr dirty="0"/>
          </a:p>
        </p:txBody>
      </p:sp>
      <p:sp>
        <p:nvSpPr>
          <p:cNvPr id="27" name="AutoShape 27"/>
          <p:cNvSpPr/>
          <p:nvPr/>
        </p:nvSpPr>
        <p:spPr>
          <a:xfrm>
            <a:off x="8064500" y="1651000"/>
            <a:ext cx="2921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0B981"/>
                </a:solidFill>
                <a:latin typeface="Noto Sans SC"/>
                <a:ea typeface="Noto Sans SC"/>
                <a:cs typeface="Noto Sans SC"/>
                <a:sym typeface="Noto Sans SC"/>
              </a:rPr>
              <a:t>准确度保障策略</a:t>
            </a:r>
            <a:endParaRPr lang="en-US" sz="2000" dirty="0"/>
          </a:p>
        </p:txBody>
      </p:sp>
      <p:sp>
        <p:nvSpPr>
          <p:cNvPr id="28" name="AutoShape 28"/>
          <p:cNvSpPr/>
          <p:nvPr/>
        </p:nvSpPr>
        <p:spPr>
          <a:xfrm>
            <a:off x="8064500" y="2286000"/>
            <a:ext cx="2921000" cy="889000"/>
          </a:xfrm>
          <a:prstGeom prst="roundRect">
            <a:avLst>
              <a:gd name="adj" fmla="val 11428"/>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29" name="AutoShape 29"/>
          <p:cNvSpPr/>
          <p:nvPr/>
        </p:nvSpPr>
        <p:spPr>
          <a:xfrm>
            <a:off x="8191500" y="2349500"/>
            <a:ext cx="2667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59669"/>
                </a:solidFill>
                <a:latin typeface="Noto Sans SC"/>
                <a:ea typeface="Noto Sans SC"/>
                <a:cs typeface="Noto Sans SC"/>
                <a:sym typeface="Noto Sans SC"/>
              </a:rPr>
              <a:t>01. 后置模糊处理</a:t>
            </a:r>
            <a:br>
              <a:rPr lang="en-US" sz="1100" b="0" i="0" u="none" strike="noStrike" dirty="0">
                <a:solidFill>
                  <a:srgbClr val="374151"/>
                </a:solidFill>
                <a:latin typeface="Noto Sans SC"/>
                <a:ea typeface="Noto Sans SC"/>
                <a:cs typeface="Noto Sans SC"/>
                <a:sym typeface="Noto Sans SC"/>
              </a:rPr>
            </a:br>
            <a:r>
              <a:rPr lang="en-US" sz="1600" b="0" i="0" u="none" strike="noStrike" dirty="0">
                <a:solidFill>
                  <a:srgbClr val="6B7280"/>
                </a:solidFill>
                <a:latin typeface="Noto Sans SC"/>
                <a:ea typeface="Noto Sans SC"/>
                <a:cs typeface="Noto Sans SC"/>
                <a:sym typeface="Noto Sans SC"/>
              </a:rPr>
              <a:t>人脸模糊在检测完成后执行，不影响原始检测结果精度。</a:t>
            </a:r>
            <a:endParaRPr lang="en-US" sz="1600" dirty="0"/>
          </a:p>
        </p:txBody>
      </p:sp>
      <p:sp>
        <p:nvSpPr>
          <p:cNvPr id="30" name="AutoShape 30"/>
          <p:cNvSpPr/>
          <p:nvPr/>
        </p:nvSpPr>
        <p:spPr>
          <a:xfrm>
            <a:off x="8064500" y="3302000"/>
            <a:ext cx="2921000" cy="889000"/>
          </a:xfrm>
          <a:prstGeom prst="roundRect">
            <a:avLst>
              <a:gd name="adj" fmla="val 11428"/>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1" name="AutoShape 31"/>
          <p:cNvSpPr/>
          <p:nvPr/>
        </p:nvSpPr>
        <p:spPr>
          <a:xfrm>
            <a:off x="8191500" y="3365500"/>
            <a:ext cx="2667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59669"/>
                </a:solidFill>
                <a:latin typeface="Noto Sans SC"/>
                <a:ea typeface="Noto Sans SC"/>
                <a:cs typeface="Noto Sans SC"/>
                <a:sym typeface="Noto Sans SC"/>
              </a:rPr>
              <a:t>02. 模型完整性校验</a:t>
            </a:r>
            <a:br>
              <a:rPr lang="en-US" sz="1100" b="0" i="0" u="none" strike="noStrike" dirty="0">
                <a:solidFill>
                  <a:srgbClr val="374151"/>
                </a:solidFill>
                <a:latin typeface="Noto Sans SC"/>
                <a:ea typeface="Noto Sans SC"/>
                <a:cs typeface="Noto Sans SC"/>
                <a:sym typeface="Noto Sans SC"/>
              </a:rPr>
            </a:br>
            <a:r>
              <a:rPr lang="en-US" sz="1600" b="0" i="0" u="none" strike="noStrike" dirty="0">
                <a:solidFill>
                  <a:srgbClr val="6B7280"/>
                </a:solidFill>
                <a:latin typeface="Noto Sans SC"/>
                <a:ea typeface="Noto Sans SC"/>
                <a:cs typeface="Noto Sans SC"/>
                <a:sym typeface="Noto Sans SC"/>
              </a:rPr>
              <a:t>启动时校验确保模型未被篡改，保证算法输出的稳定性。</a:t>
            </a:r>
            <a:endParaRPr lang="en-US" sz="1600" dirty="0"/>
          </a:p>
        </p:txBody>
      </p:sp>
      <p:sp>
        <p:nvSpPr>
          <p:cNvPr id="32" name="AutoShape 32"/>
          <p:cNvSpPr/>
          <p:nvPr/>
        </p:nvSpPr>
        <p:spPr>
          <a:xfrm>
            <a:off x="8064500" y="4318000"/>
            <a:ext cx="2921000" cy="889000"/>
          </a:xfrm>
          <a:prstGeom prst="roundRect">
            <a:avLst>
              <a:gd name="adj" fmla="val 11428"/>
            </a:avLst>
          </a:prstGeom>
          <a:solidFill>
            <a:srgbClr val="F0FDF4">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3" name="AutoShape 33"/>
          <p:cNvSpPr/>
          <p:nvPr/>
        </p:nvSpPr>
        <p:spPr>
          <a:xfrm>
            <a:off x="8191500" y="4381500"/>
            <a:ext cx="2667000" cy="76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059669"/>
                </a:solidFill>
                <a:latin typeface="Noto Sans SC"/>
                <a:ea typeface="Noto Sans SC"/>
                <a:cs typeface="Noto Sans SC"/>
                <a:sym typeface="Noto Sans SC"/>
              </a:rPr>
              <a:t>03. 无损ID映射</a:t>
            </a:r>
            <a:br>
              <a:rPr lang="en-US" sz="1100" b="0" i="0" u="none" strike="noStrike" dirty="0">
                <a:solidFill>
                  <a:srgbClr val="374151"/>
                </a:solidFill>
                <a:latin typeface="Noto Sans SC"/>
                <a:ea typeface="Noto Sans SC"/>
                <a:cs typeface="Noto Sans SC"/>
                <a:sym typeface="Noto Sans SC"/>
              </a:rPr>
            </a:br>
            <a:r>
              <a:rPr lang="en-US" sz="1600" b="0" i="0" u="none" strike="noStrike" dirty="0">
                <a:solidFill>
                  <a:srgbClr val="6B7280"/>
                </a:solidFill>
                <a:latin typeface="Noto Sans SC"/>
                <a:ea typeface="Noto Sans SC"/>
                <a:cs typeface="Noto Sans SC"/>
                <a:sym typeface="Noto Sans SC"/>
              </a:rPr>
              <a:t>仅做ID匿名化映射，保留轨迹关联逻辑，不影响追踪精度。</a:t>
            </a:r>
            <a:endParaRPr lang="en-US" sz="1600" dirty="0"/>
          </a:p>
        </p:txBody>
      </p:sp>
      <p:sp>
        <p:nvSpPr>
          <p:cNvPr id="34" name="AutoShape 34"/>
          <p:cNvSpPr/>
          <p:nvPr/>
        </p:nvSpPr>
        <p:spPr>
          <a:xfrm>
            <a:off x="762000" y="5715000"/>
            <a:ext cx="10668000" cy="762000"/>
          </a:xfrm>
          <a:prstGeom prst="roundRect">
            <a:avLst>
              <a:gd name="adj" fmla="val 20000"/>
            </a:avLst>
          </a:prstGeom>
          <a:solidFill>
            <a:srgbClr val="10B981">
              <a:alpha val="15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5" name="AutoShape 35"/>
          <p:cNvSpPr/>
          <p:nvPr/>
        </p:nvSpPr>
        <p:spPr>
          <a:xfrm>
            <a:off x="762000" y="58674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dirty="0">
                <a:solidFill>
                  <a:srgbClr val="1F2937"/>
                </a:solidFill>
                <a:latin typeface="Noto Sans SC"/>
                <a:ea typeface="Noto Sans SC"/>
                <a:cs typeface="Noto Sans SC"/>
                <a:sym typeface="Noto Sans SC"/>
              </a:rPr>
              <a:t>总结：隐私保护性能开销 &lt;3%，安全增强与系统效率完美兼得，满足商业落地要求</a:t>
            </a:r>
            <a:endParaRPr lang="en-US" sz="1100" dirty="0"/>
          </a:p>
        </p:txBody>
      </p:sp>
      <p:sp>
        <p:nvSpPr>
          <p:cNvPr id="36" name="AutoShape 3"/>
          <p:cNvSpPr/>
          <p:nvPr/>
        </p:nvSpPr>
        <p:spPr>
          <a:xfrm>
            <a:off x="762000" y="508000"/>
            <a:ext cx="8890000" cy="635000"/>
          </a:xfrm>
          <a:prstGeom prst="roundRect">
            <a:avLst>
              <a:gd name="adj" fmla="val 0"/>
            </a:avLst>
          </a:prstGeom>
          <a:noFill/>
          <a:ln w="25400" cap="flat" cmpd="sng">
            <a:noFill/>
            <a:prstDash val="solid"/>
            <a:round/>
          </a:ln>
        </p:spPr>
        <p:txBody>
          <a:bodyPr vert="horz" wrap="none" lIns="0" tIns="0" rIns="0" bIns="0" rtlCol="0" anchor="ctr" anchorCtr="0"/>
          <a:lstStyle/>
          <a:p>
            <a:pPr indent="0" algn="l">
              <a:lnSpc>
                <a:spcPct val="125000"/>
              </a:lnSpc>
              <a:defRPr/>
            </a:pPr>
            <a:r>
              <a:rPr lang="en-US" sz="3600" b="1" dirty="0">
                <a:solidFill>
                  <a:srgbClr val="333333"/>
                </a:solidFill>
                <a:latin typeface="Noto Sans SC"/>
                <a:ea typeface="Noto Sans SC"/>
                <a:cs typeface="Noto Sans SC"/>
                <a:sym typeface="Noto Sans SC"/>
              </a:rPr>
              <a:t>7</a:t>
            </a:r>
            <a:r>
              <a:rPr lang="en-US" sz="3600" b="1" i="0" u="none" strike="noStrike" dirty="0">
                <a:solidFill>
                  <a:srgbClr val="333333"/>
                </a:solidFill>
                <a:latin typeface="Noto Sans SC"/>
                <a:ea typeface="Noto Sans SC"/>
                <a:cs typeface="Noto Sans SC"/>
                <a:sym typeface="Noto Sans SC"/>
              </a:rPr>
              <a:t>)</a:t>
            </a:r>
            <a:r>
              <a:rPr lang="zh-CN" altLang="en-US" sz="3600" b="1" i="0" u="none" strike="noStrike" dirty="0">
                <a:solidFill>
                  <a:srgbClr val="333333"/>
                </a:solidFill>
                <a:latin typeface="Noto Sans SC"/>
                <a:ea typeface="Noto Sans SC"/>
                <a:cs typeface="Noto Sans SC"/>
                <a:sym typeface="Noto Sans SC"/>
              </a:rPr>
              <a:t>系统性能评估</a:t>
            </a:r>
            <a:endParaRPr lang="en-US" sz="1100" dirty="0"/>
          </a:p>
        </p:txBody>
      </p:sp>
      <p:sp>
        <p:nvSpPr>
          <p:cNvPr id="37"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10"/>
          <p:cNvSpPr/>
          <p:nvPr/>
        </p:nvSpPr>
        <p:spPr>
          <a:xfrm>
            <a:off x="762000" y="1681892"/>
            <a:ext cx="8365524" cy="4230816"/>
          </a:xfrm>
          <a:prstGeom prst="roundRect">
            <a:avLst>
              <a:gd name="adj" fmla="val 3571"/>
            </a:avLst>
          </a:prstGeom>
          <a:solidFill>
            <a:srgbClr val="FFFFFF">
              <a:alpha val="90000"/>
            </a:srgbClr>
          </a:solidFill>
          <a:ln w="25400" cap="flat" cmpd="sng">
            <a:noFill/>
            <a:prstDash val="solid"/>
            <a:round/>
          </a:ln>
          <a:effectLst>
            <a:outerShdw blurRad="190500" dist="63500" dir="2700000" algn="tl" rotWithShape="0">
              <a:srgbClr val="000000">
                <a:alpha val="10000"/>
              </a:srgbClr>
            </a:outerShdw>
          </a:effectLst>
        </p:spPr>
        <p:txBody>
          <a:bodyPr vert="horz" wrap="square" lIns="63500" tIns="63500" rIns="63500" bIns="63500" rtlCol="0" anchor="ctr"/>
          <a:lstStyle/>
          <a:p>
            <a:pPr algn="ctr">
              <a:defRPr/>
            </a:pPr>
            <a:endParaRPr dirty="0"/>
          </a:p>
        </p:txBody>
      </p:sp>
      <p:sp>
        <p:nvSpPr>
          <p:cNvPr id="12" name="AutoShape 12"/>
          <p:cNvSpPr/>
          <p:nvPr/>
        </p:nvSpPr>
        <p:spPr>
          <a:xfrm>
            <a:off x="1651000" y="19304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13" name="AutoShape 13"/>
          <p:cNvSpPr/>
          <p:nvPr/>
        </p:nvSpPr>
        <p:spPr>
          <a:xfrm>
            <a:off x="1016000" y="1963008"/>
            <a:ext cx="7922054" cy="943576"/>
          </a:xfrm>
          <a:prstGeom prst="roundRect">
            <a:avLst>
              <a:gd name="adj" fmla="val 8333"/>
            </a:avLst>
          </a:prstGeom>
          <a:solidFill>
            <a:srgbClr val="E8F5E9">
              <a:alpha val="8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2246184"/>
            <a:ext cx="453424" cy="453424"/>
          </a:xfrm>
          <a:prstGeom prst="rect">
            <a:avLst/>
          </a:prstGeom>
        </p:spPr>
      </p:pic>
      <p:sp>
        <p:nvSpPr>
          <p:cNvPr id="15" name="AutoShape 15"/>
          <p:cNvSpPr/>
          <p:nvPr/>
        </p:nvSpPr>
        <p:spPr>
          <a:xfrm>
            <a:off x="1677257" y="2140808"/>
            <a:ext cx="7414055" cy="6350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en-US" sz="1600" b="1" i="0" u="none" strike="noStrike" dirty="0">
                <a:solidFill>
                  <a:srgbClr val="2E7D32"/>
                </a:solidFill>
                <a:latin typeface="Noto Sans SC"/>
                <a:ea typeface="Noto Sans SC"/>
                <a:cs typeface="Noto Sans SC"/>
                <a:sym typeface="Noto Sans SC"/>
              </a:rPr>
              <a:t>短期改进：</a:t>
            </a:r>
            <a:r>
              <a:rPr lang="zh-CN" altLang="en-US" sz="1600" dirty="0">
                <a:solidFill>
                  <a:srgbClr val="424242"/>
                </a:solidFill>
                <a:latin typeface="Noto Sans SC"/>
                <a:ea typeface="Noto Sans SC"/>
                <a:cs typeface="Noto Sans SC"/>
                <a:sym typeface="Noto Sans SC"/>
              </a:rPr>
              <a:t>移动端</a:t>
            </a:r>
            <a:r>
              <a:rPr lang="en-US" altLang="zh-CN" sz="1600" dirty="0">
                <a:solidFill>
                  <a:srgbClr val="424242"/>
                </a:solidFill>
                <a:latin typeface="Noto Sans SC"/>
                <a:ea typeface="Noto Sans SC"/>
                <a:cs typeface="Noto Sans SC"/>
                <a:sym typeface="Noto Sans SC"/>
              </a:rPr>
              <a:t>APP</a:t>
            </a:r>
            <a:r>
              <a:rPr lang="zh-CN" altLang="en-US" sz="1600" dirty="0">
                <a:solidFill>
                  <a:srgbClr val="424242"/>
                </a:solidFill>
                <a:latin typeface="Noto Sans SC"/>
                <a:ea typeface="Noto Sans SC"/>
                <a:cs typeface="Noto Sans SC"/>
                <a:sym typeface="Noto Sans SC"/>
              </a:rPr>
              <a:t>开发：家属可通过手机实时查看老人状态、接收告警推送</a:t>
            </a:r>
            <a:endParaRPr lang="en-US" sz="1600" dirty="0"/>
          </a:p>
        </p:txBody>
      </p:sp>
      <p:sp>
        <p:nvSpPr>
          <p:cNvPr id="16" name="AutoShape 16"/>
          <p:cNvSpPr/>
          <p:nvPr/>
        </p:nvSpPr>
        <p:spPr>
          <a:xfrm>
            <a:off x="1015999" y="3263900"/>
            <a:ext cx="7922054" cy="976184"/>
          </a:xfrm>
          <a:prstGeom prst="roundRect">
            <a:avLst>
              <a:gd name="adj" fmla="val 8333"/>
            </a:avLst>
          </a:prstGeom>
          <a:solidFill>
            <a:srgbClr val="E3F2FD">
              <a:alpha val="8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5231" y="3540897"/>
            <a:ext cx="403997" cy="403997"/>
          </a:xfrm>
          <a:prstGeom prst="rect">
            <a:avLst/>
          </a:prstGeom>
        </p:spPr>
      </p:pic>
      <p:sp>
        <p:nvSpPr>
          <p:cNvPr id="18" name="AutoShape 18"/>
          <p:cNvSpPr/>
          <p:nvPr/>
        </p:nvSpPr>
        <p:spPr>
          <a:xfrm>
            <a:off x="1658721" y="3418188"/>
            <a:ext cx="7414055" cy="6350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en-US" sz="1600" b="1" i="0" u="none" strike="noStrike" dirty="0" err="1">
                <a:solidFill>
                  <a:srgbClr val="1565C0"/>
                </a:solidFill>
                <a:latin typeface="Noto Sans SC"/>
                <a:ea typeface="Noto Sans SC"/>
                <a:cs typeface="Noto Sans SC"/>
                <a:sym typeface="Noto Sans SC"/>
              </a:rPr>
              <a:t>中期规划：</a:t>
            </a:r>
            <a:r>
              <a:rPr lang="en-US" sz="1600" dirty="0" err="1">
                <a:solidFill>
                  <a:srgbClr val="424242"/>
                </a:solidFill>
                <a:latin typeface="Noto Sans SC"/>
                <a:ea typeface="Noto Sans SC"/>
                <a:sym typeface="Noto Sans SC"/>
              </a:rPr>
              <a:t>扩展</a:t>
            </a:r>
            <a:r>
              <a:rPr lang="zh-CN" altLang="en-US" sz="1600" dirty="0">
                <a:solidFill>
                  <a:srgbClr val="424242"/>
                </a:solidFill>
                <a:latin typeface="Noto Sans SC"/>
                <a:ea typeface="Noto Sans SC"/>
                <a:sym typeface="Noto Sans SC"/>
              </a:rPr>
              <a:t>更多种类</a:t>
            </a:r>
            <a:r>
              <a:rPr lang="en-US" sz="1600" dirty="0">
                <a:solidFill>
                  <a:srgbClr val="424242"/>
                </a:solidFill>
                <a:latin typeface="Noto Sans SC"/>
                <a:ea typeface="Noto Sans SC"/>
                <a:sym typeface="Noto Sans SC"/>
              </a:rPr>
              <a:t>异常行为识别类型，基于更多样本持续迭代优化AI模型。</a:t>
            </a:r>
            <a:endParaRPr lang="en-US" sz="1600" dirty="0">
              <a:solidFill>
                <a:srgbClr val="424242"/>
              </a:solidFill>
              <a:latin typeface="Noto Sans SC"/>
              <a:ea typeface="Noto Sans SC"/>
            </a:endParaRPr>
          </a:p>
        </p:txBody>
      </p:sp>
      <p:sp>
        <p:nvSpPr>
          <p:cNvPr id="19" name="AutoShape 19"/>
          <p:cNvSpPr/>
          <p:nvPr/>
        </p:nvSpPr>
        <p:spPr>
          <a:xfrm>
            <a:off x="1016000" y="4564792"/>
            <a:ext cx="7922054" cy="1086708"/>
          </a:xfrm>
          <a:prstGeom prst="roundRect">
            <a:avLst>
              <a:gd name="adj" fmla="val 8333"/>
            </a:avLst>
          </a:prstGeom>
          <a:solidFill>
            <a:srgbClr val="FFF3E0">
              <a:alpha val="80000"/>
            </a:srgbClr>
          </a:solidFill>
          <a:ln w="25400" cap="flat" cmpd="sng">
            <a:noFill/>
            <a:prstDash val="solid"/>
            <a:round/>
          </a:ln>
        </p:spPr>
        <p:txBody>
          <a:bodyPr vert="horz" wrap="square" lIns="63500" tIns="63500" rIns="63500" bIns="63500" rtlCol="0" anchor="ctr"/>
          <a:lstStyle/>
          <a:p>
            <a:pPr algn="ctr">
              <a:defRPr/>
            </a:pPr>
            <a:endParaRPr dirty="0"/>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6729" y="4885896"/>
            <a:ext cx="381000" cy="381000"/>
          </a:xfrm>
          <a:prstGeom prst="rect">
            <a:avLst/>
          </a:prstGeom>
        </p:spPr>
      </p:pic>
      <p:sp>
        <p:nvSpPr>
          <p:cNvPr id="21" name="AutoShape 21"/>
          <p:cNvSpPr/>
          <p:nvPr/>
        </p:nvSpPr>
        <p:spPr>
          <a:xfrm>
            <a:off x="1651000" y="4758896"/>
            <a:ext cx="7114059" cy="6350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en-US" sz="1600" b="1" i="0" u="none" strike="noStrike" dirty="0">
                <a:solidFill>
                  <a:srgbClr val="E65100"/>
                </a:solidFill>
                <a:latin typeface="Noto Sans SC"/>
                <a:ea typeface="Noto Sans SC"/>
                <a:cs typeface="Noto Sans SC"/>
                <a:sym typeface="Noto Sans SC"/>
              </a:rPr>
              <a:t>长期愿景：</a:t>
            </a:r>
            <a:r>
              <a:rPr lang="en-US" sz="1600" dirty="0">
                <a:solidFill>
                  <a:srgbClr val="424242"/>
                </a:solidFill>
                <a:latin typeface="Noto Sans SC"/>
                <a:ea typeface="Noto Sans SC"/>
                <a:sym typeface="Noto Sans SC"/>
              </a:rPr>
              <a:t>构建全场景AI监护生态，联动医疗机构实现远程医疗，</a:t>
            </a:r>
            <a:r>
              <a:rPr lang="zh-CN" altLang="en-US" sz="1600" dirty="0">
                <a:solidFill>
                  <a:srgbClr val="424242"/>
                </a:solidFill>
                <a:latin typeface="Noto Sans SC"/>
                <a:ea typeface="Noto Sans SC"/>
                <a:sym typeface="Noto Sans SC"/>
              </a:rPr>
              <a:t>支持第三方监护服务商接入，形成区域性独居老人安全守护网络。</a:t>
            </a:r>
            <a:endParaRPr lang="en-US" sz="1600" dirty="0">
              <a:solidFill>
                <a:srgbClr val="424242"/>
              </a:solidFill>
              <a:latin typeface="Noto Sans SC"/>
              <a:ea typeface="Noto Sans SC"/>
            </a:endParaRPr>
          </a:p>
        </p:txBody>
      </p:sp>
      <p:sp>
        <p:nvSpPr>
          <p:cNvPr id="3" name="AutoShape 3"/>
          <p:cNvSpPr/>
          <p:nvPr/>
        </p:nvSpPr>
        <p:spPr>
          <a:xfrm>
            <a:off x="762000" y="5080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dirty="0">
                <a:solidFill>
                  <a:srgbClr val="333333"/>
                </a:solidFill>
                <a:latin typeface="Noto Sans SC"/>
                <a:ea typeface="Noto Sans SC"/>
                <a:cs typeface="Noto Sans SC"/>
                <a:sym typeface="Noto Sans SC"/>
              </a:rPr>
              <a:t>8)总结与展望</a:t>
            </a:r>
            <a:endParaRPr lang="en-US" sz="1100" dirty="0"/>
          </a:p>
        </p:txBody>
      </p:sp>
      <p:sp>
        <p:nvSpPr>
          <p:cNvPr id="4" name="AutoShape 4"/>
          <p:cNvSpPr/>
          <p:nvPr/>
        </p:nvSpPr>
        <p:spPr>
          <a:xfrm>
            <a:off x="762000" y="1206500"/>
            <a:ext cx="762000" cy="50800"/>
          </a:xfrm>
          <a:prstGeom prst="roundRect">
            <a:avLst>
              <a:gd name="adj" fmla="val 400000"/>
            </a:avLst>
          </a:prstGeom>
          <a:solidFill>
            <a:srgbClr val="4CAF50">
              <a:alpha val="10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24" name="AutoShape 25"/>
          <p:cNvSpPr/>
          <p:nvPr/>
        </p:nvSpPr>
        <p:spPr>
          <a:xfrm>
            <a:off x="0" y="6781800"/>
            <a:ext cx="12192000" cy="76200"/>
          </a:xfrm>
          <a:prstGeom prst="roundRect">
            <a:avLst>
              <a:gd name="adj" fmla="val 0"/>
            </a:avLst>
          </a:prstGeom>
          <a:solidFill>
            <a:srgbClr val="16A34A">
              <a:alpha val="100000"/>
            </a:srgbClr>
          </a:solidFill>
          <a:ln w="25400" cap="flat" cmpd="sng">
            <a:noFill/>
            <a:prstDash val="solid"/>
            <a:round/>
          </a:ln>
        </p:spPr>
        <p:txBody>
          <a:bodyPr vert="horz" wrap="square" lIns="63500" tIns="63500" rIns="63500" bIns="63500" rtlCol="0" anchor="ctr"/>
          <a:lstStyle/>
          <a:p>
            <a:pPr algn="ctr">
              <a:defRPr/>
            </a:pP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oundRect">
            <a:avLst>
              <a:gd name="adj" fmla="val 0"/>
            </a:avLst>
          </a:prstGeom>
          <a:noFill/>
          <a:ln w="25400" cap="flat" cmpd="sng">
            <a:noFill/>
            <a:prstDash val="solid"/>
            <a:round/>
          </a:ln>
        </p:spPr>
      </p:pic>
      <p:sp>
        <p:nvSpPr>
          <p:cNvPr id="3" name="AutoShape 3"/>
          <p:cNvSpPr/>
          <p:nvPr/>
        </p:nvSpPr>
        <p:spPr>
          <a:xfrm>
            <a:off x="0" y="3048000"/>
            <a:ext cx="12192000" cy="762000"/>
          </a:xfrm>
          <a:prstGeom prst="roundRect">
            <a:avLst>
              <a:gd name="adj" fmla="val 0"/>
            </a:avLst>
          </a:prstGeom>
          <a:noFill/>
          <a:ln w="25400" cap="flat" cmpd="sng">
            <a:noFill/>
            <a:prstDash val="solid"/>
            <a:round/>
          </a:ln>
        </p:spPr>
        <p:txBody>
          <a:bodyPr vert="horz" wrap="none" lIns="0" tIns="0" rIns="0" bIns="0" rtlCol="0" anchor="ctr" anchorCtr="0"/>
          <a:lstStyle/>
          <a:p>
            <a:pPr indent="0" algn="ctr">
              <a:lnSpc>
                <a:spcPct val="125000"/>
              </a:lnSpc>
              <a:defRPr/>
            </a:pPr>
            <a:r>
              <a:rPr lang="zh-CN" altLang="en-US" sz="4800" b="1" dirty="0">
                <a:solidFill>
                  <a:srgbClr val="333333"/>
                </a:solidFill>
                <a:latin typeface="Noto Sans SC"/>
                <a:ea typeface="Noto Sans SC"/>
                <a:sym typeface="Noto Sans SC"/>
              </a:rPr>
              <a:t>谢谢</a:t>
            </a:r>
            <a:endParaRPr lang="en-US" altLang="zh-CN" sz="4800" b="1" dirty="0">
              <a:solidFill>
                <a:srgbClr val="333333"/>
              </a:solidFill>
              <a:latin typeface="Noto Sans SC"/>
              <a:ea typeface="Noto Sans SC"/>
              <a:sym typeface="Noto Sans SC"/>
            </a:endParaRPr>
          </a:p>
          <a:p>
            <a:pPr indent="0" algn="ctr">
              <a:lnSpc>
                <a:spcPct val="125000"/>
              </a:lnSpc>
              <a:defRPr/>
            </a:pPr>
            <a:r>
              <a:rPr lang="zh-CN" altLang="en-US" sz="4800" b="1" dirty="0">
                <a:solidFill>
                  <a:srgbClr val="333333"/>
                </a:solidFill>
                <a:latin typeface="Noto Sans SC"/>
                <a:ea typeface="Noto Sans SC"/>
                <a:sym typeface="Noto Sans SC"/>
              </a:rPr>
              <a:t>请老师指正</a:t>
            </a:r>
            <a:endParaRPr lang="en-US" sz="48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30,&quot;left&quot;:60,&quot;top&quot;:269.7296850393701,&quot;width&quot;:830}"/>
</p:tagLst>
</file>

<file path=ppt/theme/theme1.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2819</Words>
  <Application>Microsoft Office PowerPoint</Application>
  <PresentationFormat>宽屏</PresentationFormat>
  <Paragraphs>341</Paragraphs>
  <Slides>30</Slides>
  <Notes>30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30</vt:i4>
      </vt:variant>
    </vt:vector>
  </HeadingPairs>
  <TitlesOfParts>
    <vt:vector size="34" baseType="lpstr">
      <vt:lpstr>Noto Sans SC</vt:lpstr>
      <vt:lpstr>Songti SC</vt:lpstr>
      <vt:lpstr>Arial</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冉冉</dc:creator>
  <cp:lastModifiedBy>昊阳 吴</cp:lastModifiedBy>
  <cp:revision>85</cp:revision>
  <dcterms:created xsi:type="dcterms:W3CDTF">2026-04-19T13:18:40Z</dcterms:created>
  <dcterms:modified xsi:type="dcterms:W3CDTF">2026-04-19T13:30:53Z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2052-12.1.25205.25205</vt:lpwstr>
  </property>
  <property fmtid="{D5CDD505-2E9C-101B-9397-08002B2CF9AE}" pid="3" name="ICV">
    <vt:lpwstr>88BFF8BFE596B5ABEBD5E46942511E26_42</vt:lpwstr>
  </property>
</Properties>
</file>